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B28B69-83B9-4011-893D-7A6920768182}">
  <a:tblStyle styleId="{F5B28B69-83B9-4011-893D-7A692076818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Bienvenida (30-60 s). La U2 terminó con un vacío (gap) demostrado; la U3 lo convierte en un problema de investigación y en todo el esqueleto del Capítulo I del TSP: problema, objetivos, hipótesis, variables operacionalizadas, diseño metodológico y la matriz de consistencia que lo integra todo.</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s. Conecta tu experiencia en gestión de proyectos: definir bien al inicio evita retrabajo. La metodología es el diseño de ingeniería de la tesis. Invita a conectar por LinkedIn.</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 min. Recupera el gap de U2 y proyecta: hoy se arma todo el Capítulo I. Deja claro que el vacío es el punto de partida del problema. Esto es material directo de su TSP y sus anexos.</a:t>
            </a:r>
            <a:endParaRPr/>
          </a:p>
        </p:txBody>
      </p:sp>
      <p:sp>
        <p:nvSpPr>
          <p:cNvPr id="47" name="Google Shape;4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 min. El principio 2 es el corazón: la coherencia es lo que el jurado revisa primero. El 3 marca el límite ético: la IA ayuda a redactar y verificar, pero las decisiones metodológicas y su justificación son del investigador.</a:t>
            </a:r>
            <a:endParaRPr/>
          </a:p>
        </p:txBody>
      </p:sp>
      <p:sp>
        <p:nvSpPr>
          <p:cNvPr id="64" name="Google Shape;6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definas metodología aún. Muestra estas 4 líneas de una ‘tesis’ y pide votación. Cada pieza suena razonable por separado. Deja que voten sin corregir.</a:t>
            </a:r>
            <a:endParaRPr/>
          </a:p>
        </p:txBody>
      </p:sp>
      <p:sp>
        <p:nvSpPr>
          <p:cNvPr id="87" name="Google Shape;8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 min. Revela la incoherencia pieza por pieza. Cada parte era plausible, pero juntas no forman una investigación. Introduce la matriz de consistencia como el instrumento que garantiza que todo encaje. Esa es la meta de hoy.</a:t>
            </a:r>
            <a:endParaRPr/>
          </a:p>
        </p:txBody>
      </p:sp>
      <p:sp>
        <p:nvSpPr>
          <p:cNvPr id="111" name="Google Shape;11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min. Da el mapa, 40/60. Señala el producto: la matriz de consistencia integra todo lo que se ve en teoría. Promete: se van con el Capítulo I diseñado.</a:t>
            </a:r>
            <a:endParaRPr/>
          </a:p>
        </p:txBody>
      </p:sp>
      <p:sp>
        <p:nvSpPr>
          <p:cNvPr id="122" name="Google Shape;12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min. La descripción de la realidad problemática es un embudo: contexto general → evidencia (usa datos y las cifras de tu revisión) → tu caso. El vacío de U2 justifica que el problema existe y no está resuelto. Da el ejemplo ferroviario.</a:t>
            </a:r>
            <a:endParaRPr/>
          </a:p>
        </p:txBody>
      </p:sp>
      <p:sp>
        <p:nvSpPr>
          <p:cNvPr id="139" name="Google Shape;13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min. El problema es una PREGUNTA, no una solución (error típico: ‘desarrollar una app’ es solución, no problema). Los específicos desmenuzan el general y anticipan los objetivos específicos. Advierte: si el problema nombra ya la solución, está sesgado.</a:t>
            </a:r>
            <a:endParaRPr/>
          </a:p>
        </p:txBody>
      </p:sp>
      <p:sp>
        <p:nvSpPr>
          <p:cNvPr id="164" name="Google Shape;16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Tres tipos de justificación; una tesis suele tener al menos práctica + teórica. Conecta la teórica con el gap de U2. La importancia = impacto y beneficiarios. Transición a objetivos.</a:t>
            </a:r>
            <a:endParaRPr/>
          </a:p>
        </p:txBody>
      </p:sp>
      <p:sp>
        <p:nvSpPr>
          <p:cNvPr id="181" name="Google Shape;18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3-4 min. Cada objetivo empieza con un verbo medible (taxonomía de Bloom). Un objetivo general que responde al problema general; los específicos responden a los problemas específicos y anticipan la estructura de resultados. Evita verbos no medibles (‘conocer’, ‘entender’).</a:t>
            </a:r>
            <a:endParaRPr/>
          </a:p>
        </p:txBody>
      </p:sp>
      <p:sp>
        <p:nvSpPr>
          <p:cNvPr id="204" name="Google Shape;2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La hipótesis relaciona variables y debe ser contrastable (si no se puede refutar, no es científica). Explica H0/H1 para las correlacionales/explicativas. Aclara: estudios descriptivos o cualitativos pueden no llevar hipótesis (según el nivel). Conecta cada hipótesis con un objetivo.</a:t>
            </a:r>
            <a:endParaRPr/>
          </a:p>
        </p:txBody>
      </p:sp>
      <p:sp>
        <p:nvSpPr>
          <p:cNvPr id="221" name="Google Shape;22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2-3 min. Muestra el mismo enunciado en tres formas (pregunta, acción, afirmación). Este espejo problema-objetivo-hipótesis es la prueba de coherencia más rápida. Si uno cambia, los demás también. Es el núcleo de la matriz de consistencia.</a:t>
            </a:r>
            <a:endParaRPr/>
          </a:p>
        </p:txBody>
      </p:sp>
      <p:sp>
        <p:nvSpPr>
          <p:cNvPr id="236" name="Google Shape;2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Identificar variables es leer la hipótesis: qué actúa sobre qué. La interviniente puede convertirse en criterio de control. Con las variables claras se puede operacionalizar (siguiente).</a:t>
            </a:r>
            <a:endParaRPr/>
          </a:p>
        </p:txBody>
      </p:sp>
      <p:sp>
        <p:nvSpPr>
          <p:cNvPr id="257" name="Google Shape;25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La brecha entre concepto y medida es donde fallan muchas tesis. La operacional debe decir con qué instrumento/indicador y en qué escala. Esto alimenta directamente la tabla de operacionalización.</a:t>
            </a:r>
            <a:endParaRPr/>
          </a:p>
        </p:txBody>
      </p:sp>
      <p:sp>
        <p:nvSpPr>
          <p:cNvPr id="288" name="Google Shape;28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La operacionalización conecta la teoría con la medición. Explica los tipos de escala. Los indicadores anticipan los instrumentos (Bloque E). Es el Anexo B; lo llenan en el LAB 3.</a:t>
            </a:r>
            <a:endParaRPr/>
          </a:p>
        </p:txBody>
      </p:sp>
      <p:sp>
        <p:nvSpPr>
          <p:cNvPr id="305" name="Google Shape;30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El enfoque nace del problema y las variables. En ingeniería suele ser cuantitativo. Determina cómo recolectas y analizas datos. Transición a tipo/nivel/diseño.</a:t>
            </a:r>
            <a:endParaRPr/>
          </a:p>
        </p:txBody>
      </p:sp>
      <p:sp>
        <p:nvSpPr>
          <p:cNvPr id="317" name="Google Shape;31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3-4 min. Tipo (básica/aplicada), nivel (según profundidad de la relación) y diseño (experimental o no; transversal si mides una vez, longitudinal si a lo largo del tiempo). Da el ejemplo. Cada elección debe justificarse con el problema, no elegirse al azar.</a:t>
            </a:r>
            <a:endParaRPr/>
          </a:p>
        </p:txBody>
      </p:sp>
      <p:sp>
        <p:nvSpPr>
          <p:cNvPr id="342" name="Google Shape;34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Población vs muestra vs muestreo con ejemplo de datos ferroviarios. Menciona muestreo probabilístico (aleatorio) vs no probabilístico (por conveniencia) y cuándo usar cada uno. El tamaño debe justificarse.</a:t>
            </a:r>
            <a:endParaRPr/>
          </a:p>
        </p:txBody>
      </p:sp>
      <p:sp>
        <p:nvSpPr>
          <p:cNvPr id="365" name="Google Shape;36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Cada indicador de la operacionalización se recoge con una técnica y su instrumento. Validez (juicio de expertos) y confiabilidad (Alfa de Cronbach, test-retest) son obligatorias para instrumentos de medición. Cierra el diseño metodológico.</a:t>
            </a:r>
            <a:endParaRPr/>
          </a:p>
        </p:txBody>
      </p:sp>
      <p:sp>
        <p:nvSpPr>
          <p:cNvPr id="394" name="Google Shape;39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La matriz de consistencia integra todo lo visto. Cada fila (general + específicas) debe cerrar en horizontal. Es el Anexo A y lo que el jurado revisa primero. La construyen en el LAB 5; es el producto final de la unidad.</a:t>
            </a:r>
            <a:endParaRPr/>
          </a:p>
        </p:txBody>
      </p:sp>
      <p:sp>
        <p:nvSpPr>
          <p:cNvPr id="409" name="Google Shape;40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Cuatro chequeos de coherencia. Presenta la IA como auditor de consistencia (LAB 6): detecta desalineaciones que uno no ve. Pero la decisión metodológica y su justificación son del investigador.</a:t>
            </a:r>
            <a:endParaRPr/>
          </a:p>
        </p:txBody>
      </p:sp>
      <p:sp>
        <p:nvSpPr>
          <p:cNvPr id="437" name="Google Shape;43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La IA acelera la redacción y audita la coherencia, pero no decide la metodología. Recalca: debes poder justificar cada elección ante el jurado y tu asesor. La IA que inventa muestra o datos es fraude.</a:t>
            </a:r>
            <a:endParaRPr/>
          </a:p>
        </p:txBody>
      </p:sp>
      <p:sp>
        <p:nvSpPr>
          <p:cNvPr id="460" name="Google Shape;46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El semáforo aplicado a metodología. AMARILLO domina: usar IA para proponer, pero validar con el asesor y justificar. ROJO: inventar datos o adoptar un diseño que no entiendes es insostenible ante el jurado.</a:t>
            </a:r>
            <a:endParaRPr/>
          </a:p>
        </p:txBody>
      </p:sp>
      <p:sp>
        <p:nvSpPr>
          <p:cNvPr id="477" name="Google Shape;47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2-3 min. Cierre ético del bloque. La IA no diluye la responsabilidad metodológica: la concentra. Reconocer los sesgos (incluidos los del modelo de IA) es parte de la calidad. Tú diseñas y defiendes.</a:t>
            </a:r>
            <a:endParaRPr/>
          </a:p>
        </p:txBody>
      </p:sp>
      <p:sp>
        <p:nvSpPr>
          <p:cNvPr id="498" name="Google Shape;49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30-60 s. Frase-bisagra. Pide su vacío de U2 y su matriz de literatura. A partir de aquí eres facilitador.</a:t>
            </a:r>
            <a:endParaRPr/>
          </a:p>
        </p:txBody>
      </p:sp>
      <p:sp>
        <p:nvSpPr>
          <p:cNvPr id="519" name="Google Shape;51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min. El LAB 5 (matriz) es el corazón e integra los labs 1–4. Cada estación deja evidencia en la hoja de laboratorio. Reloj visible.</a:t>
            </a:r>
            <a:endParaRPr/>
          </a:p>
        </p:txBody>
      </p:sp>
      <p:sp>
        <p:nvSpPr>
          <p:cNvPr id="529" name="Google Shape;52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min. Verifica que el problema sea una pregunta y nazca del vacío, no de una solución. Circula puliendo la formulación. Los específicos anticipan objetivos e hipótesis.</a:t>
            </a:r>
            <a:endParaRPr/>
          </a:p>
        </p:txBody>
      </p:sp>
      <p:sp>
        <p:nvSpPr>
          <p:cNvPr id="573" name="Google Shape;57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min. Insiste en el espejo de coherencia (slide 13). Cada objetivo específico ↔ un problema específico ↔ una hipótesis específica. Revisa verbos medibles.</a:t>
            </a:r>
            <a:endParaRPr/>
          </a:p>
        </p:txBody>
      </p:sp>
      <p:sp>
        <p:nvSpPr>
          <p:cNvPr id="595" name="Google Shape;59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18 min. La operacionalización es donde se decide si la tesis es medible. Verifica que cada indicador tenga escala y sea observable. Anticipa los instrumentos.</a:t>
            </a:r>
            <a:endParaRPr/>
          </a:p>
        </p:txBody>
      </p:sp>
      <p:sp>
        <p:nvSpPr>
          <p:cNvPr id="617" name="Google Shape;61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18 min. Cada decisión metodológica debe justificarse con el problema y las variables, no elegirse por moda. Verifica coherencia entre nivel (correlacional/explicativo) y diseño.</a:t>
            </a:r>
            <a:endParaRPr/>
          </a:p>
        </p:txBody>
      </p:sp>
      <p:sp>
        <p:nvSpPr>
          <p:cNvPr id="639" name="Google Shape;63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 min — corazón. La matriz integra los labs 1–4. Circula verificando que cada fila cierre en horizontal. Es el Anexo A y el primer filtro del jurado.</a:t>
            </a:r>
            <a:endParaRPr/>
          </a:p>
        </p:txBody>
      </p:sp>
      <p:sp>
        <p:nvSpPr>
          <p:cNvPr id="661" name="Google Shape;66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 min. La IA detecta desalineaciones que uno no ve. Pero el estudiante decide: cada cambio debe poder justificarse. Cierra el círculo de coherencia.</a:t>
            </a:r>
            <a:endParaRPr/>
          </a:p>
        </p:txBody>
      </p:sp>
      <p:sp>
        <p:nvSpPr>
          <p:cNvPr id="683" name="Google Shape;68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min. Cierre de viabilidad y ética. Aplica el checklist de la rúbrica. Lo esencial: que puedan defender la coherencia y viabilidad de su diseño. Reconoce el avance en el Capítulo I.</a:t>
            </a:r>
            <a:endParaRPr/>
          </a:p>
        </p:txBody>
      </p:sp>
      <p:sp>
        <p:nvSpPr>
          <p:cNvPr id="705" name="Google Shape;70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Cierre (1-2 min). Refuerza: hoy no escribieron secciones sueltas, diseñaron una investigación coherente. Repite el hilo de oro. Invita a conectar y a entregar el paquete. Adelanta la siguiente unidad (redacción o análisis de datos).</a:t>
            </a:r>
            <a:endParaRPr/>
          </a:p>
        </p:txBody>
      </p:sp>
      <p:sp>
        <p:nvSpPr>
          <p:cNvPr id="727" name="Google Shape;72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A1420"/>
        </a:solidFill>
      </p:bgPr>
    </p:bg>
    <p:spTree>
      <p:nvGrpSpPr>
        <p:cNvPr id="15" name="Shape 15"/>
        <p:cNvGrpSpPr/>
        <p:nvPr/>
      </p:nvGrpSpPr>
      <p:grpSpPr>
        <a:xfrm>
          <a:off x="0" y="0"/>
          <a:ext cx="0" cy="0"/>
          <a:chOff x="0" y="0"/>
          <a:chExt cx="0" cy="0"/>
        </a:xfrm>
      </p:grpSpPr>
      <p:sp>
        <p:nvSpPr>
          <p:cNvPr id="16" name="Google Shape;16;p3"/>
          <p:cNvSpPr/>
          <p:nvPr/>
        </p:nvSpPr>
        <p:spPr>
          <a:xfrm>
            <a:off x="0" y="5989320"/>
            <a:ext cx="12188952" cy="868680"/>
          </a:xfrm>
          <a:prstGeom prst="rect">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uni_fim.png" id="17" name="Google Shape;17;p3"/>
          <p:cNvPicPr preferRelativeResize="0"/>
          <p:nvPr/>
        </p:nvPicPr>
        <p:blipFill rotWithShape="1">
          <a:blip r:embed="rId3">
            <a:alphaModFix/>
          </a:blip>
          <a:srcRect b="0" l="0" r="0" t="0"/>
          <a:stretch/>
        </p:blipFill>
        <p:spPr>
          <a:xfrm>
            <a:off x="10195560" y="411480"/>
            <a:ext cx="1463040" cy="1874520"/>
          </a:xfrm>
          <a:prstGeom prst="rect">
            <a:avLst/>
          </a:prstGeom>
          <a:noFill/>
          <a:ln>
            <a:noFill/>
          </a:ln>
        </p:spPr>
      </p:pic>
      <p:sp>
        <p:nvSpPr>
          <p:cNvPr id="18" name="Google Shape;18;p3"/>
          <p:cNvSpPr/>
          <p:nvPr/>
        </p:nvSpPr>
        <p:spPr>
          <a:xfrm>
            <a:off x="640080" y="685800"/>
            <a:ext cx="8961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C9CE"/>
              </a:buClr>
              <a:buSzPts val="1300"/>
              <a:buFont typeface="Arial"/>
              <a:buNone/>
            </a:pPr>
            <a:r>
              <a:rPr b="1" i="0" lang="en-US" sz="1300" u="none" cap="none" strike="noStrike">
                <a:solidFill>
                  <a:srgbClr val="F0C9CE"/>
                </a:solidFill>
                <a:latin typeface="Arial"/>
                <a:ea typeface="Arial"/>
                <a:cs typeface="Arial"/>
                <a:sym typeface="Arial"/>
              </a:rPr>
              <a:t>UNIVERSIDAD NACIONAL DE INGENIERÍA  ·  FACULTAD DE INGENIERÍA MECÁNICA</a:t>
            </a:r>
            <a:endParaRPr b="0" i="0" sz="1300" u="none" cap="none" strike="noStrike">
              <a:solidFill>
                <a:schemeClr val="dk1"/>
              </a:solidFill>
              <a:latin typeface="Calibri"/>
              <a:ea typeface="Calibri"/>
              <a:cs typeface="Calibri"/>
              <a:sym typeface="Calibri"/>
            </a:endParaRPr>
          </a:p>
        </p:txBody>
      </p:sp>
      <p:sp>
        <p:nvSpPr>
          <p:cNvPr id="19" name="Google Shape;19;p3"/>
          <p:cNvSpPr/>
          <p:nvPr/>
        </p:nvSpPr>
        <p:spPr>
          <a:xfrm>
            <a:off x="640080" y="105156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A9B0"/>
              </a:buClr>
              <a:buSzPts val="1200"/>
              <a:buFont typeface="Arial"/>
              <a:buNone/>
            </a:pPr>
            <a:r>
              <a:rPr b="0" i="0" lang="en-US" sz="1200" u="none" cap="none" strike="noStrike">
                <a:solidFill>
                  <a:srgbClr val="E4A9B0"/>
                </a:solidFill>
                <a:latin typeface="Arial"/>
                <a:ea typeface="Arial"/>
                <a:cs typeface="Arial"/>
                <a:sym typeface="Arial"/>
              </a:rPr>
              <a:t>TITULACIÓN PROFESIONAL 2026</a:t>
            </a:r>
            <a:endParaRPr b="0" i="0" sz="1200" u="none" cap="none" strike="noStrike">
              <a:solidFill>
                <a:schemeClr val="dk1"/>
              </a:solidFill>
              <a:latin typeface="Calibri"/>
              <a:ea typeface="Calibri"/>
              <a:cs typeface="Calibri"/>
              <a:sym typeface="Calibri"/>
            </a:endParaRPr>
          </a:p>
        </p:txBody>
      </p:sp>
      <p:sp>
        <p:nvSpPr>
          <p:cNvPr id="20" name="Google Shape;20;p3"/>
          <p:cNvSpPr/>
          <p:nvPr/>
        </p:nvSpPr>
        <p:spPr>
          <a:xfrm>
            <a:off x="640080" y="2011680"/>
            <a:ext cx="106070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Arial"/>
              <a:buNone/>
            </a:pPr>
            <a:r>
              <a:rPr b="1" i="0" lang="en-US" sz="4200" u="none" cap="none" strike="noStrike">
                <a:solidFill>
                  <a:srgbClr val="FFFFFF"/>
                </a:solidFill>
                <a:latin typeface="Arial"/>
                <a:ea typeface="Arial"/>
                <a:cs typeface="Arial"/>
                <a:sym typeface="Arial"/>
              </a:rPr>
              <a:t>Metodología de la investigación con IA</a:t>
            </a:r>
            <a:endParaRPr b="0" i="0" sz="4200" u="none" cap="none" strike="noStrike">
              <a:solidFill>
                <a:schemeClr val="dk1"/>
              </a:solidFill>
              <a:latin typeface="Calibri"/>
              <a:ea typeface="Calibri"/>
              <a:cs typeface="Calibri"/>
              <a:sym typeface="Calibri"/>
            </a:endParaRPr>
          </a:p>
        </p:txBody>
      </p:sp>
      <p:sp>
        <p:nvSpPr>
          <p:cNvPr id="21" name="Google Shape;21;p3"/>
          <p:cNvSpPr/>
          <p:nvPr/>
        </p:nvSpPr>
        <p:spPr>
          <a:xfrm>
            <a:off x="658368" y="3794760"/>
            <a:ext cx="10515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UNIDAD 3 — </a:t>
            </a:r>
            <a:r>
              <a:rPr b="0" i="0" lang="en-US" sz="2000" u="none" cap="none" strike="noStrike">
                <a:solidFill>
                  <a:srgbClr val="F3D6DA"/>
                </a:solidFill>
                <a:latin typeface="Arial"/>
                <a:ea typeface="Arial"/>
                <a:cs typeface="Arial"/>
                <a:sym typeface="Arial"/>
              </a:rPr>
              <a:t>Del vacío al diseño: problema, objetivos, hipótesis, variables y matriz de consistencia</a:t>
            </a:r>
            <a:endParaRPr b="0" i="0" sz="2000" u="none" cap="none" strike="noStrike">
              <a:solidFill>
                <a:schemeClr val="dk1"/>
              </a:solidFill>
              <a:latin typeface="Calibri"/>
              <a:ea typeface="Calibri"/>
              <a:cs typeface="Calibri"/>
              <a:sym typeface="Calibri"/>
            </a:endParaRPr>
          </a:p>
        </p:txBody>
      </p:sp>
      <p:sp>
        <p:nvSpPr>
          <p:cNvPr id="22" name="Google Shape;22;p3"/>
          <p:cNvSpPr/>
          <p:nvPr/>
        </p:nvSpPr>
        <p:spPr>
          <a:xfrm>
            <a:off x="658368" y="6144768"/>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180 minutos  ·  40% teoría  +  60% laboratorio  ·  Producto final: “Mi Matriz de Consistencia v1”</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4"/>
          <p:cNvSpPr/>
          <p:nvPr/>
        </p:nvSpPr>
        <p:spPr>
          <a:xfrm>
            <a:off x="0" y="0"/>
            <a:ext cx="4297680" cy="6858000"/>
          </a:xfrm>
          <a:prstGeom prst="rect">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502920" y="6400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4D0"/>
              </a:buClr>
              <a:buSzPts val="1300"/>
              <a:buFont typeface="Arial"/>
              <a:buNone/>
            </a:pPr>
            <a:r>
              <a:rPr b="1" i="0" lang="en-US" sz="1300" u="none" cap="none" strike="noStrike">
                <a:solidFill>
                  <a:srgbClr val="9FB4D0"/>
                </a:solidFill>
                <a:latin typeface="Arial"/>
                <a:ea typeface="Arial"/>
                <a:cs typeface="Arial"/>
                <a:sym typeface="Arial"/>
              </a:rPr>
              <a:t>DOCENTE</a:t>
            </a:r>
            <a:endParaRPr b="0" i="0" sz="1300" u="none" cap="none" strike="noStrike">
              <a:solidFill>
                <a:schemeClr val="dk1"/>
              </a:solidFill>
              <a:latin typeface="Calibri"/>
              <a:ea typeface="Calibri"/>
              <a:cs typeface="Calibri"/>
              <a:sym typeface="Calibri"/>
            </a:endParaRPr>
          </a:p>
        </p:txBody>
      </p:sp>
      <p:sp>
        <p:nvSpPr>
          <p:cNvPr id="30" name="Google Shape;30;p4"/>
          <p:cNvSpPr/>
          <p:nvPr/>
        </p:nvSpPr>
        <p:spPr>
          <a:xfrm>
            <a:off x="457200" y="960120"/>
            <a:ext cx="3657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Corina Lazo Arroyo</a:t>
            </a:r>
            <a:endParaRPr b="0" i="0" sz="2800" u="none" cap="none" strike="noStrike">
              <a:solidFill>
                <a:schemeClr val="dk1"/>
              </a:solidFill>
              <a:latin typeface="Calibri"/>
              <a:ea typeface="Calibri"/>
              <a:cs typeface="Calibri"/>
              <a:sym typeface="Calibri"/>
            </a:endParaRPr>
          </a:p>
        </p:txBody>
      </p:sp>
      <p:sp>
        <p:nvSpPr>
          <p:cNvPr id="31" name="Google Shape;31;p4"/>
          <p:cNvSpPr/>
          <p:nvPr/>
        </p:nvSpPr>
        <p:spPr>
          <a:xfrm>
            <a:off x="502920" y="2057400"/>
            <a:ext cx="3566160" cy="14630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DCE6F2"/>
              </a:buClr>
              <a:buSzPts val="1350"/>
              <a:buFont typeface="Arial"/>
              <a:buNone/>
            </a:pPr>
            <a:r>
              <a:rPr b="1" i="0" lang="en-US" sz="1350" u="none" cap="none" strike="noStrike">
                <a:solidFill>
                  <a:srgbClr val="DCE6F2"/>
                </a:solidFill>
                <a:latin typeface="Arial"/>
                <a:ea typeface="Arial"/>
                <a:cs typeface="Arial"/>
                <a:sym typeface="Arial"/>
              </a:rPr>
              <a:t>Ing. Mecatrónica — UNI</a:t>
            </a:r>
            <a:br>
              <a:rPr b="1" i="0" lang="en-US" sz="1350" u="none" cap="none" strike="noStrike">
                <a:solidFill>
                  <a:srgbClr val="DCE6F2"/>
                </a:solidFill>
                <a:latin typeface="Arial"/>
                <a:ea typeface="Arial"/>
                <a:cs typeface="Arial"/>
                <a:sym typeface="Arial"/>
              </a:rPr>
            </a:br>
            <a:r>
              <a:rPr b="0" i="0" lang="en-US" sz="1350" u="none" cap="none" strike="noStrike">
                <a:solidFill>
                  <a:srgbClr val="DCE6F2"/>
                </a:solidFill>
                <a:latin typeface="Arial"/>
                <a:ea typeface="Arial"/>
                <a:cs typeface="Arial"/>
                <a:sym typeface="Arial"/>
              </a:rPr>
              <a:t>Doctoranda en Ciencia de Datos — UNSA</a:t>
            </a:r>
            <a:br>
              <a:rPr b="0" i="0" lang="en-US" sz="1350" u="none" cap="none" strike="noStrike">
                <a:solidFill>
                  <a:srgbClr val="DCE6F2"/>
                </a:solidFill>
                <a:latin typeface="Arial"/>
                <a:ea typeface="Arial"/>
                <a:cs typeface="Arial"/>
                <a:sym typeface="Arial"/>
              </a:rPr>
            </a:br>
            <a:r>
              <a:rPr b="0" i="0" lang="en-US" sz="1350" u="none" cap="none" strike="noStrike">
                <a:solidFill>
                  <a:srgbClr val="DCE6F2"/>
                </a:solidFill>
                <a:latin typeface="Arial"/>
                <a:ea typeface="Arial"/>
                <a:cs typeface="Arial"/>
                <a:sym typeface="Arial"/>
              </a:rPr>
              <a:t>MSc. Gerencia de Proyectos — ESAN</a:t>
            </a:r>
            <a:endParaRPr b="0" i="0" sz="1350" u="none" cap="none" strike="noStrike">
              <a:solidFill>
                <a:schemeClr val="dk1"/>
              </a:solidFill>
              <a:latin typeface="Calibri"/>
              <a:ea typeface="Calibri"/>
              <a:cs typeface="Calibri"/>
              <a:sym typeface="Calibri"/>
            </a:endParaRPr>
          </a:p>
        </p:txBody>
      </p:sp>
      <p:pic>
        <p:nvPicPr>
          <p:cNvPr descr="img/qr_linkedin.png" id="32" name="Google Shape;32;p4"/>
          <p:cNvPicPr preferRelativeResize="0"/>
          <p:nvPr/>
        </p:nvPicPr>
        <p:blipFill rotWithShape="1">
          <a:blip r:embed="rId3">
            <a:alphaModFix/>
          </a:blip>
          <a:srcRect b="0" l="0" r="0" t="0"/>
          <a:stretch/>
        </p:blipFill>
        <p:spPr>
          <a:xfrm>
            <a:off x="1051560" y="3977640"/>
            <a:ext cx="1737360" cy="1737360"/>
          </a:xfrm>
          <a:prstGeom prst="rect">
            <a:avLst/>
          </a:prstGeom>
          <a:noFill/>
          <a:ln>
            <a:noFill/>
          </a:ln>
        </p:spPr>
      </p:pic>
      <p:sp>
        <p:nvSpPr>
          <p:cNvPr id="33" name="Google Shape;33;p4"/>
          <p:cNvSpPr/>
          <p:nvPr/>
        </p:nvSpPr>
        <p:spPr>
          <a:xfrm>
            <a:off x="502920" y="5760720"/>
            <a:ext cx="3566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FD0E6"/>
              </a:buClr>
              <a:buSzPts val="1200"/>
              <a:buFont typeface="Arial"/>
              <a:buNone/>
            </a:pPr>
            <a:r>
              <a:rPr b="0" i="1" lang="en-US" sz="1200" u="none" cap="none" strike="noStrike">
                <a:solidFill>
                  <a:srgbClr val="BFD0E6"/>
                </a:solidFill>
                <a:latin typeface="Arial"/>
                <a:ea typeface="Arial"/>
                <a:cs typeface="Arial"/>
                <a:sym typeface="Arial"/>
              </a:rPr>
              <a:t>Escanéame → LinkedIn</a:t>
            </a:r>
            <a:endParaRPr b="0" i="0" sz="1200" u="none" cap="none" strike="noStrike">
              <a:solidFill>
                <a:schemeClr val="dk1"/>
              </a:solidFill>
              <a:latin typeface="Calibri"/>
              <a:ea typeface="Calibri"/>
              <a:cs typeface="Calibri"/>
              <a:sym typeface="Calibri"/>
            </a:endParaRPr>
          </a:p>
        </p:txBody>
      </p:sp>
      <p:sp>
        <p:nvSpPr>
          <p:cNvPr id="34" name="Google Shape;34;p4"/>
          <p:cNvSpPr/>
          <p:nvPr/>
        </p:nvSpPr>
        <p:spPr>
          <a:xfrm>
            <a:off x="4709160" y="822960"/>
            <a:ext cx="69494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2300"/>
              <a:buFont typeface="Arial"/>
              <a:buNone/>
            </a:pPr>
            <a:r>
              <a:rPr b="1" i="0" lang="en-US" sz="2300" u="none" cap="none" strike="noStrike">
                <a:solidFill>
                  <a:srgbClr val="7A1420"/>
                </a:solidFill>
                <a:latin typeface="Arial"/>
                <a:ea typeface="Arial"/>
                <a:cs typeface="Arial"/>
                <a:sym typeface="Arial"/>
              </a:rPr>
              <a:t>Un buen diseño ahorra media tesis</a:t>
            </a:r>
            <a:endParaRPr b="0" i="0" sz="2300" u="none" cap="none" strike="noStrike">
              <a:solidFill>
                <a:schemeClr val="dk1"/>
              </a:solidFill>
              <a:latin typeface="Calibri"/>
              <a:ea typeface="Calibri"/>
              <a:cs typeface="Calibri"/>
              <a:sym typeface="Calibri"/>
            </a:endParaRPr>
          </a:p>
        </p:txBody>
      </p:sp>
      <p:sp>
        <p:nvSpPr>
          <p:cNvPr id="35" name="Google Shape;35;p4"/>
          <p:cNvSpPr/>
          <p:nvPr/>
        </p:nvSpPr>
        <p:spPr>
          <a:xfrm>
            <a:off x="4709160" y="1737360"/>
            <a:ext cx="6903720" cy="15544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En gestión de proyectos y en ingeniería, lo que no se define bien al inicio se paga carísimo al final. La metodología es el ‘diseño de ingeniería’ de tu tesis: si problema, objetivos e hipótesis no encajan, ningún resultado los salvará. Hoy lo armamos con coherencia — y con IA como copiloto, no como piloto.</a:t>
            </a:r>
            <a:endParaRPr b="0" i="0" sz="1400" u="none" cap="none" strike="noStrike">
              <a:solidFill>
                <a:schemeClr val="dk1"/>
              </a:solidFill>
              <a:latin typeface="Calibri"/>
              <a:ea typeface="Calibri"/>
              <a:cs typeface="Calibri"/>
              <a:sym typeface="Calibri"/>
            </a:endParaRPr>
          </a:p>
        </p:txBody>
      </p:sp>
      <p:sp>
        <p:nvSpPr>
          <p:cNvPr id="36" name="Google Shape;36;p4"/>
          <p:cNvSpPr/>
          <p:nvPr/>
        </p:nvSpPr>
        <p:spPr>
          <a:xfrm>
            <a:off x="4709160" y="3429000"/>
            <a:ext cx="6903720" cy="822960"/>
          </a:xfrm>
          <a:prstGeom prst="roundRect">
            <a:avLst>
              <a:gd fmla="val 10000"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4983480" y="3429000"/>
            <a:ext cx="6400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1300"/>
              <a:buFont typeface="Arial"/>
              <a:buNone/>
            </a:pPr>
            <a:r>
              <a:rPr b="1" i="0" lang="en-US" sz="1300" u="none" cap="none" strike="noStrike">
                <a:solidFill>
                  <a:srgbClr val="13294B"/>
                </a:solidFill>
                <a:latin typeface="Arial"/>
                <a:ea typeface="Arial"/>
                <a:cs typeface="Arial"/>
                <a:sym typeface="Arial"/>
              </a:rPr>
              <a:t>LinkedIn  </a:t>
            </a:r>
            <a:r>
              <a:rPr b="0" i="0" lang="en-US" sz="1400" u="none" cap="none" strike="noStrike">
                <a:solidFill>
                  <a:srgbClr val="1F2733"/>
                </a:solidFill>
                <a:latin typeface="Arial"/>
                <a:ea typeface="Arial"/>
                <a:cs typeface="Arial"/>
                <a:sym typeface="Arial"/>
              </a:rPr>
              <a:t>linkedin.com/in/corina-lazo-arroyo</a:t>
            </a:r>
            <a:endParaRPr b="0" i="0" sz="1300" u="none" cap="none" strike="noStrike">
              <a:solidFill>
                <a:schemeClr val="dk1"/>
              </a:solidFill>
              <a:latin typeface="Calibri"/>
              <a:ea typeface="Calibri"/>
              <a:cs typeface="Calibri"/>
              <a:sym typeface="Calibri"/>
            </a:endParaRPr>
          </a:p>
        </p:txBody>
      </p:sp>
      <p:sp>
        <p:nvSpPr>
          <p:cNvPr id="38" name="Google Shape;38;p4"/>
          <p:cNvSpPr/>
          <p:nvPr/>
        </p:nvSpPr>
        <p:spPr>
          <a:xfrm>
            <a:off x="4709160" y="4343400"/>
            <a:ext cx="6903720" cy="822960"/>
          </a:xfrm>
          <a:prstGeom prst="roundRect">
            <a:avLst>
              <a:gd fmla="val 10000"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4983480" y="4343400"/>
            <a:ext cx="6400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1300"/>
              <a:buFont typeface="Arial"/>
              <a:buNone/>
            </a:pPr>
            <a:r>
              <a:rPr b="1" i="0" lang="en-US" sz="1300" u="none" cap="none" strike="noStrike">
                <a:solidFill>
                  <a:srgbClr val="13294B"/>
                </a:solidFill>
                <a:latin typeface="Arial"/>
                <a:ea typeface="Arial"/>
                <a:cs typeface="Arial"/>
                <a:sym typeface="Arial"/>
              </a:rPr>
              <a:t>GitHub  </a:t>
            </a:r>
            <a:r>
              <a:rPr b="0" i="0" lang="en-US" sz="1400" u="none" cap="none" strike="noStrike">
                <a:solidFill>
                  <a:srgbClr val="1F2733"/>
                </a:solidFill>
                <a:latin typeface="Arial"/>
                <a:ea typeface="Arial"/>
                <a:cs typeface="Arial"/>
                <a:sym typeface="Arial"/>
              </a:rPr>
              <a:t>github.com/920052859</a:t>
            </a:r>
            <a:endParaRPr b="0" i="0" sz="1300" u="none" cap="none" strike="noStrike">
              <a:solidFill>
                <a:schemeClr val="dk1"/>
              </a:solidFill>
              <a:latin typeface="Calibri"/>
              <a:ea typeface="Calibri"/>
              <a:cs typeface="Calibri"/>
              <a:sym typeface="Calibri"/>
            </a:endParaRPr>
          </a:p>
        </p:txBody>
      </p:sp>
      <p:sp>
        <p:nvSpPr>
          <p:cNvPr id="40" name="Google Shape;40;p4"/>
          <p:cNvSpPr/>
          <p:nvPr/>
        </p:nvSpPr>
        <p:spPr>
          <a:xfrm>
            <a:off x="4709160" y="5257800"/>
            <a:ext cx="6903720" cy="868680"/>
          </a:xfrm>
          <a:prstGeom prst="roundRect">
            <a:avLst>
              <a:gd fmla="val 9474" name="adj"/>
            </a:avLst>
          </a:prstGeom>
          <a:solidFill>
            <a:srgbClr val="F3E1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4983480" y="5257800"/>
            <a:ext cx="64008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1" lang="en-US" sz="1500" u="none" cap="none" strike="noStrike">
                <a:solidFill>
                  <a:srgbClr val="7A1420"/>
                </a:solidFill>
                <a:latin typeface="Arial"/>
                <a:ea typeface="Arial"/>
                <a:cs typeface="Arial"/>
                <a:sym typeface="Arial"/>
              </a:rPr>
              <a:t>“Si tu matriz de consistencia cierra, tu tesis está encaminada.”</a:t>
            </a:r>
            <a:endParaRPr b="0" i="0" sz="1500" u="none" cap="none" strike="noStrike">
              <a:solidFill>
                <a:schemeClr val="dk1"/>
              </a:solidFill>
              <a:latin typeface="Calibri"/>
              <a:ea typeface="Calibri"/>
              <a:cs typeface="Calibri"/>
              <a:sym typeface="Calibri"/>
            </a:endParaRPr>
          </a:p>
        </p:txBody>
      </p:sp>
      <p:sp>
        <p:nvSpPr>
          <p:cNvPr id="42" name="Google Shape;42;p4"/>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43" name="Google Shape;43;p4"/>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 name="Shape 48"/>
        <p:cNvGrpSpPr/>
        <p:nvPr/>
      </p:nvGrpSpPr>
      <p:grpSpPr>
        <a:xfrm>
          <a:off x="0" y="0"/>
          <a:ext cx="0" cy="0"/>
          <a:chOff x="0" y="0"/>
          <a:chExt cx="0" cy="0"/>
        </a:xfrm>
      </p:grpSpPr>
      <p:sp>
        <p:nvSpPr>
          <p:cNvPr id="49" name="Google Shape;49;p5"/>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RETOMAMOS</a:t>
            </a:r>
            <a:endParaRPr b="0" i="0" sz="1200" u="none" cap="none" strike="noStrike">
              <a:solidFill>
                <a:schemeClr val="dk1"/>
              </a:solidFill>
              <a:latin typeface="Calibri"/>
              <a:ea typeface="Calibri"/>
              <a:cs typeface="Calibri"/>
              <a:sym typeface="Calibri"/>
            </a:endParaRPr>
          </a:p>
        </p:txBody>
      </p:sp>
      <p:sp>
        <p:nvSpPr>
          <p:cNvPr id="50" name="Google Shape;50;p5"/>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Del vacío al diseño de tu investigación</a:t>
            </a:r>
            <a:endParaRPr b="0" i="0" sz="3000" u="none" cap="none" strike="noStrike">
              <a:solidFill>
                <a:schemeClr val="dk1"/>
              </a:solidFill>
              <a:latin typeface="Calibri"/>
              <a:ea typeface="Calibri"/>
              <a:cs typeface="Calibri"/>
              <a:sym typeface="Calibri"/>
            </a:endParaRPr>
          </a:p>
        </p:txBody>
      </p:sp>
      <p:sp>
        <p:nvSpPr>
          <p:cNvPr id="51" name="Google Shape;51;p5"/>
          <p:cNvSpPr/>
          <p:nvPr/>
        </p:nvSpPr>
        <p:spPr>
          <a:xfrm>
            <a:off x="548640" y="1783080"/>
            <a:ext cx="5394960" cy="4023360"/>
          </a:xfrm>
          <a:prstGeom prst="roundRect">
            <a:avLst>
              <a:gd fmla="val 2045"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822960" y="201168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1600"/>
              <a:buFont typeface="Arial"/>
              <a:buNone/>
            </a:pPr>
            <a:r>
              <a:rPr b="1" i="0" lang="en-US" sz="1600" u="none" cap="none" strike="noStrike">
                <a:solidFill>
                  <a:srgbClr val="13294B"/>
                </a:solidFill>
                <a:latin typeface="Arial"/>
                <a:ea typeface="Arial"/>
                <a:cs typeface="Arial"/>
                <a:sym typeface="Arial"/>
              </a:rPr>
              <a:t>Ya tienes (Unidad 2)</a:t>
            </a:r>
            <a:endParaRPr b="0" i="0" sz="1600" u="none" cap="none" strike="noStrike">
              <a:solidFill>
                <a:schemeClr val="dk1"/>
              </a:solidFill>
              <a:latin typeface="Calibri"/>
              <a:ea typeface="Calibri"/>
              <a:cs typeface="Calibri"/>
              <a:sym typeface="Calibri"/>
            </a:endParaRPr>
          </a:p>
        </p:txBody>
      </p:sp>
      <p:sp>
        <p:nvSpPr>
          <p:cNvPr id="53" name="Google Shape;53;p5"/>
          <p:cNvSpPr/>
          <p:nvPr/>
        </p:nvSpPr>
        <p:spPr>
          <a:xfrm>
            <a:off x="822960" y="2468880"/>
            <a:ext cx="4892040" cy="310896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Una revisión de literatura con PRISMA</a:t>
            </a:r>
            <a:br>
              <a:rPr b="0" i="0" lang="en-US" sz="1450" u="none" cap="none" strike="noStrike">
                <a:solidFill>
                  <a:srgbClr val="1F2733"/>
                </a:solidFill>
                <a:latin typeface="Arial"/>
                <a:ea typeface="Arial"/>
                <a:cs typeface="Arial"/>
                <a:sym typeface="Arial"/>
              </a:rPr>
            </a:br>
            <a:r>
              <a:rPr b="0" i="0" lang="en-US" sz="1450" u="none" cap="none" strike="noStrike">
                <a:solidFill>
                  <a:srgbClr val="1F2733"/>
                </a:solidFill>
                <a:latin typeface="Arial"/>
                <a:ea typeface="Arial"/>
                <a:cs typeface="Arial"/>
                <a:sym typeface="Arial"/>
              </a:rPr>
              <a:t>Una matriz de literatura (estado del arte)</a:t>
            </a:r>
            <a:br>
              <a:rPr b="0" i="0" lang="en-US" sz="1450" u="none" cap="none" strike="noStrike">
                <a:solidFill>
                  <a:srgbClr val="1F2733"/>
                </a:solidFill>
                <a:latin typeface="Arial"/>
                <a:ea typeface="Arial"/>
                <a:cs typeface="Arial"/>
                <a:sym typeface="Arial"/>
              </a:rPr>
            </a:br>
            <a:r>
              <a:rPr b="0" i="0" lang="en-US" sz="1450" u="none" cap="none" strike="noStrike">
                <a:solidFill>
                  <a:srgbClr val="1F2733"/>
                </a:solidFill>
                <a:latin typeface="Arial"/>
                <a:ea typeface="Arial"/>
                <a:cs typeface="Arial"/>
                <a:sym typeface="Arial"/>
              </a:rPr>
              <a:t>El vacío (gap) demostrado con evidencia</a:t>
            </a:r>
            <a:br>
              <a:rPr b="0" i="0" lang="en-US" sz="1450" u="none" cap="none" strike="noStrike">
                <a:solidFill>
                  <a:srgbClr val="1F2733"/>
                </a:solidFill>
                <a:latin typeface="Arial"/>
                <a:ea typeface="Arial"/>
                <a:cs typeface="Arial"/>
                <a:sym typeface="Arial"/>
              </a:rPr>
            </a:br>
            <a:r>
              <a:rPr b="0" i="0" lang="en-US" sz="1450" u="none" cap="none" strike="noStrike">
                <a:solidFill>
                  <a:srgbClr val="1F2733"/>
                </a:solidFill>
                <a:latin typeface="Arial"/>
                <a:ea typeface="Arial"/>
                <a:cs typeface="Arial"/>
                <a:sym typeface="Arial"/>
              </a:rPr>
              <a:t>La justificación inicial de tu tema</a:t>
            </a:r>
            <a:endParaRPr b="0" i="0" sz="1450" u="none" cap="none" strike="noStrike">
              <a:solidFill>
                <a:schemeClr val="dk1"/>
              </a:solidFill>
              <a:latin typeface="Calibri"/>
              <a:ea typeface="Calibri"/>
              <a:cs typeface="Calibri"/>
              <a:sym typeface="Calibri"/>
            </a:endParaRPr>
          </a:p>
        </p:txBody>
      </p:sp>
      <p:sp>
        <p:nvSpPr>
          <p:cNvPr id="54" name="Google Shape;54;p5"/>
          <p:cNvSpPr/>
          <p:nvPr/>
        </p:nvSpPr>
        <p:spPr>
          <a:xfrm>
            <a:off x="6126480" y="1783080"/>
            <a:ext cx="5394960" cy="4023360"/>
          </a:xfrm>
          <a:prstGeom prst="roundRect">
            <a:avLst>
              <a:gd fmla="val 2045" name="adj"/>
            </a:avLst>
          </a:prstGeom>
          <a:solidFill>
            <a:srgbClr val="F3E1E4"/>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6400800" y="201168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600"/>
              <a:buFont typeface="Arial"/>
              <a:buNone/>
            </a:pPr>
            <a:r>
              <a:rPr b="1" i="0" lang="en-US" sz="1600" u="none" cap="none" strike="noStrike">
                <a:solidFill>
                  <a:srgbClr val="7A1420"/>
                </a:solidFill>
                <a:latin typeface="Arial"/>
                <a:ea typeface="Arial"/>
                <a:cs typeface="Arial"/>
                <a:sym typeface="Arial"/>
              </a:rPr>
              <a:t>Hoy construyes (Unidad 3)</a:t>
            </a:r>
            <a:endParaRPr b="0" i="0" sz="1600" u="none" cap="none" strike="noStrike">
              <a:solidFill>
                <a:schemeClr val="dk1"/>
              </a:solidFill>
              <a:latin typeface="Calibri"/>
              <a:ea typeface="Calibri"/>
              <a:cs typeface="Calibri"/>
              <a:sym typeface="Calibri"/>
            </a:endParaRPr>
          </a:p>
        </p:txBody>
      </p:sp>
      <p:sp>
        <p:nvSpPr>
          <p:cNvPr id="56" name="Google Shape;56;p5"/>
          <p:cNvSpPr/>
          <p:nvPr/>
        </p:nvSpPr>
        <p:spPr>
          <a:xfrm>
            <a:off x="6400800" y="2468880"/>
            <a:ext cx="4892040" cy="310896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El problema de investigación (general y específicos)</a:t>
            </a:r>
            <a:br>
              <a:rPr b="0" i="0" lang="en-US" sz="1450" u="none" cap="none" strike="noStrike">
                <a:solidFill>
                  <a:srgbClr val="1F2733"/>
                </a:solidFill>
                <a:latin typeface="Arial"/>
                <a:ea typeface="Arial"/>
                <a:cs typeface="Arial"/>
                <a:sym typeface="Arial"/>
              </a:rPr>
            </a:br>
            <a:r>
              <a:rPr b="0" i="0" lang="en-US" sz="1450" u="none" cap="none" strike="noStrike">
                <a:solidFill>
                  <a:srgbClr val="1F2733"/>
                </a:solidFill>
                <a:latin typeface="Arial"/>
                <a:ea typeface="Arial"/>
                <a:cs typeface="Arial"/>
                <a:sym typeface="Arial"/>
              </a:rPr>
              <a:t>Objetivos e hipótesis alineados</a:t>
            </a:r>
            <a:br>
              <a:rPr b="0" i="0" lang="en-US" sz="1450" u="none" cap="none" strike="noStrike">
                <a:solidFill>
                  <a:srgbClr val="1F2733"/>
                </a:solidFill>
                <a:latin typeface="Arial"/>
                <a:ea typeface="Arial"/>
                <a:cs typeface="Arial"/>
                <a:sym typeface="Arial"/>
              </a:rPr>
            </a:br>
            <a:r>
              <a:rPr b="0" i="0" lang="en-US" sz="1450" u="none" cap="none" strike="noStrike">
                <a:solidFill>
                  <a:srgbClr val="1F2733"/>
                </a:solidFill>
                <a:latin typeface="Arial"/>
                <a:ea typeface="Arial"/>
                <a:cs typeface="Arial"/>
                <a:sym typeface="Arial"/>
              </a:rPr>
              <a:t>Variables operacionalizadas</a:t>
            </a:r>
            <a:br>
              <a:rPr b="0" i="0" lang="en-US" sz="1450" u="none" cap="none" strike="noStrike">
                <a:solidFill>
                  <a:srgbClr val="1F2733"/>
                </a:solidFill>
                <a:latin typeface="Arial"/>
                <a:ea typeface="Arial"/>
                <a:cs typeface="Arial"/>
                <a:sym typeface="Arial"/>
              </a:rPr>
            </a:br>
            <a:r>
              <a:rPr b="0" i="0" lang="en-US" sz="1450" u="none" cap="none" strike="noStrike">
                <a:solidFill>
                  <a:srgbClr val="1F2733"/>
                </a:solidFill>
                <a:latin typeface="Arial"/>
                <a:ea typeface="Arial"/>
                <a:cs typeface="Arial"/>
                <a:sym typeface="Arial"/>
              </a:rPr>
              <a:t>El diseño metodológico y la matriz de consistencia</a:t>
            </a:r>
            <a:endParaRPr b="0" i="0" sz="1450" u="none" cap="none" strike="noStrike">
              <a:solidFill>
                <a:schemeClr val="dk1"/>
              </a:solidFill>
              <a:latin typeface="Calibri"/>
              <a:ea typeface="Calibri"/>
              <a:cs typeface="Calibri"/>
              <a:sym typeface="Calibri"/>
            </a:endParaRPr>
          </a:p>
        </p:txBody>
      </p:sp>
      <p:sp>
        <p:nvSpPr>
          <p:cNvPr id="57" name="Google Shape;57;p5"/>
          <p:cNvSpPr/>
          <p:nvPr/>
        </p:nvSpPr>
        <p:spPr>
          <a:xfrm>
            <a:off x="548640" y="5897880"/>
            <a:ext cx="10972800" cy="640080"/>
          </a:xfrm>
          <a:prstGeom prst="roundRect">
            <a:avLst>
              <a:gd fmla="val 12857"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822960" y="5897880"/>
            <a:ext cx="10424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4D0"/>
              </a:buClr>
              <a:buSzPts val="1400"/>
              <a:buFont typeface="Arial"/>
              <a:buNone/>
            </a:pPr>
            <a:r>
              <a:rPr b="1" i="0" lang="en-US" sz="1400" u="none" cap="none" strike="noStrike">
                <a:solidFill>
                  <a:srgbClr val="9FB4D0"/>
                </a:solidFill>
                <a:latin typeface="Arial"/>
                <a:ea typeface="Arial"/>
                <a:cs typeface="Arial"/>
                <a:sym typeface="Arial"/>
              </a:rPr>
              <a:t>Destino en tu TSP:  </a:t>
            </a:r>
            <a:r>
              <a:rPr b="1" i="0" lang="en-US" sz="1400" u="none" cap="none" strike="noStrike">
                <a:solidFill>
                  <a:srgbClr val="FFFFFF"/>
                </a:solidFill>
                <a:latin typeface="Arial"/>
                <a:ea typeface="Arial"/>
                <a:cs typeface="Arial"/>
                <a:sym typeface="Arial"/>
              </a:rPr>
              <a:t>Capítulo I completo (planteamiento y diseño metodológico) + Anexos A (consistencia) y B (operacionalización).</a:t>
            </a:r>
            <a:endParaRPr b="0" i="0" sz="1400" u="none" cap="none" strike="noStrike">
              <a:solidFill>
                <a:schemeClr val="dk1"/>
              </a:solidFill>
              <a:latin typeface="Calibri"/>
              <a:ea typeface="Calibri"/>
              <a:cs typeface="Calibri"/>
              <a:sym typeface="Calibri"/>
            </a:endParaRPr>
          </a:p>
        </p:txBody>
      </p:sp>
      <p:sp>
        <p:nvSpPr>
          <p:cNvPr id="59" name="Google Shape;59;p5"/>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60" name="Google Shape;60;p5"/>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94B"/>
        </a:solidFill>
      </p:bgPr>
    </p:bg>
    <p:spTree>
      <p:nvGrpSpPr>
        <p:cNvPr id="65" name="Shape 65"/>
        <p:cNvGrpSpPr/>
        <p:nvPr/>
      </p:nvGrpSpPr>
      <p:grpSpPr>
        <a:xfrm>
          <a:off x="0" y="0"/>
          <a:ext cx="0" cy="0"/>
          <a:chOff x="0" y="0"/>
          <a:chExt cx="0" cy="0"/>
        </a:xfrm>
      </p:grpSpPr>
      <p:sp>
        <p:nvSpPr>
          <p:cNvPr id="66" name="Google Shape;66;p6"/>
          <p:cNvSpPr/>
          <p:nvPr/>
        </p:nvSpPr>
        <p:spPr>
          <a:xfrm>
            <a:off x="548640" y="50292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4D0"/>
              </a:buClr>
              <a:buSzPts val="1300"/>
              <a:buFont typeface="Arial"/>
              <a:buNone/>
            </a:pPr>
            <a:r>
              <a:rPr b="1" i="0" lang="en-US" sz="1300" u="none" cap="none" strike="noStrike">
                <a:solidFill>
                  <a:srgbClr val="9FB4D0"/>
                </a:solidFill>
                <a:latin typeface="Arial"/>
                <a:ea typeface="Arial"/>
                <a:cs typeface="Arial"/>
                <a:sym typeface="Arial"/>
              </a:rPr>
              <a:t>CÓMO TRABAJAREMOS HOY</a:t>
            </a:r>
            <a:endParaRPr b="0" i="0" sz="1300" u="none" cap="none" strike="noStrike">
              <a:solidFill>
                <a:schemeClr val="dk1"/>
              </a:solidFill>
              <a:latin typeface="Calibri"/>
              <a:ea typeface="Calibri"/>
              <a:cs typeface="Calibri"/>
              <a:sym typeface="Calibri"/>
            </a:endParaRPr>
          </a:p>
        </p:txBody>
      </p:sp>
      <p:sp>
        <p:nvSpPr>
          <p:cNvPr id="67" name="Google Shape;67;p6"/>
          <p:cNvSpPr/>
          <p:nvPr/>
        </p:nvSpPr>
        <p:spPr>
          <a:xfrm>
            <a:off x="530352" y="82296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Tres principios del diseño</a:t>
            </a:r>
            <a:endParaRPr b="0" i="0" sz="3200" u="none" cap="none" strike="noStrike">
              <a:solidFill>
                <a:schemeClr val="dk1"/>
              </a:solidFill>
              <a:latin typeface="Calibri"/>
              <a:ea typeface="Calibri"/>
              <a:cs typeface="Calibri"/>
              <a:sym typeface="Calibri"/>
            </a:endParaRPr>
          </a:p>
        </p:txBody>
      </p:sp>
      <p:sp>
        <p:nvSpPr>
          <p:cNvPr id="68" name="Google Shape;68;p6"/>
          <p:cNvSpPr/>
          <p:nvPr/>
        </p:nvSpPr>
        <p:spPr>
          <a:xfrm>
            <a:off x="548640" y="1920240"/>
            <a:ext cx="3566160" cy="2651760"/>
          </a:xfrm>
          <a:prstGeom prst="roundRect">
            <a:avLst>
              <a:gd fmla="val 3103" name="adj"/>
            </a:avLst>
          </a:prstGeom>
          <a:solidFill>
            <a:srgbClr val="FFFFFF"/>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822960" y="2194560"/>
            <a:ext cx="777240" cy="777240"/>
          </a:xfrm>
          <a:prstGeom prst="roundRect">
            <a:avLst>
              <a:gd fmla="val 14118" name="adj"/>
            </a:avLst>
          </a:prstGeom>
          <a:solidFill>
            <a:srgbClr val="7A14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822960" y="219456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1</a:t>
            </a:r>
            <a:endParaRPr b="0" i="0" sz="3400" u="none" cap="none" strike="noStrike">
              <a:solidFill>
                <a:schemeClr val="dk1"/>
              </a:solidFill>
              <a:latin typeface="Calibri"/>
              <a:ea typeface="Calibri"/>
              <a:cs typeface="Calibri"/>
              <a:sym typeface="Calibri"/>
            </a:endParaRPr>
          </a:p>
        </p:txBody>
      </p:sp>
      <p:sp>
        <p:nvSpPr>
          <p:cNvPr id="71" name="Google Shape;71;p6"/>
          <p:cNvSpPr/>
          <p:nvPr/>
        </p:nvSpPr>
        <p:spPr>
          <a:xfrm>
            <a:off x="822960" y="3154680"/>
            <a:ext cx="3063240" cy="137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3294B"/>
              </a:buClr>
              <a:buSzPts val="1600"/>
              <a:buFont typeface="Arial"/>
              <a:buNone/>
            </a:pPr>
            <a:r>
              <a:rPr b="1" i="0" lang="en-US" sz="1600" u="none" cap="none" strike="noStrike">
                <a:solidFill>
                  <a:srgbClr val="13294B"/>
                </a:solidFill>
                <a:latin typeface="Arial"/>
                <a:ea typeface="Arial"/>
                <a:cs typeface="Arial"/>
                <a:sym typeface="Arial"/>
              </a:rPr>
              <a:t>Del vacío nace el problema de investigación.</a:t>
            </a:r>
            <a:endParaRPr b="0" i="0" sz="1600" u="none" cap="none" strike="noStrike">
              <a:solidFill>
                <a:schemeClr val="dk1"/>
              </a:solidFill>
              <a:latin typeface="Calibri"/>
              <a:ea typeface="Calibri"/>
              <a:cs typeface="Calibri"/>
              <a:sym typeface="Calibri"/>
            </a:endParaRPr>
          </a:p>
        </p:txBody>
      </p:sp>
      <p:sp>
        <p:nvSpPr>
          <p:cNvPr id="72" name="Google Shape;72;p6"/>
          <p:cNvSpPr/>
          <p:nvPr/>
        </p:nvSpPr>
        <p:spPr>
          <a:xfrm>
            <a:off x="4315968" y="1920240"/>
            <a:ext cx="3566160" cy="2651760"/>
          </a:xfrm>
          <a:prstGeom prst="roundRect">
            <a:avLst>
              <a:gd fmla="val 3103" name="adj"/>
            </a:avLst>
          </a:prstGeom>
          <a:solidFill>
            <a:srgbClr val="FFFFFF"/>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4590288" y="2194560"/>
            <a:ext cx="777240" cy="777240"/>
          </a:xfrm>
          <a:prstGeom prst="roundRect">
            <a:avLst>
              <a:gd fmla="val 14118" name="adj"/>
            </a:avLst>
          </a:prstGeom>
          <a:solidFill>
            <a:srgbClr val="9B2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4590288" y="219456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2</a:t>
            </a:r>
            <a:endParaRPr b="0" i="0" sz="3400" u="none" cap="none" strike="noStrike">
              <a:solidFill>
                <a:schemeClr val="dk1"/>
              </a:solidFill>
              <a:latin typeface="Calibri"/>
              <a:ea typeface="Calibri"/>
              <a:cs typeface="Calibri"/>
              <a:sym typeface="Calibri"/>
            </a:endParaRPr>
          </a:p>
        </p:txBody>
      </p:sp>
      <p:sp>
        <p:nvSpPr>
          <p:cNvPr id="75" name="Google Shape;75;p6"/>
          <p:cNvSpPr/>
          <p:nvPr/>
        </p:nvSpPr>
        <p:spPr>
          <a:xfrm>
            <a:off x="4590288" y="3154680"/>
            <a:ext cx="3063240" cy="137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3294B"/>
              </a:buClr>
              <a:buSzPts val="1600"/>
              <a:buFont typeface="Arial"/>
              <a:buNone/>
            </a:pPr>
            <a:r>
              <a:rPr b="1" i="0" lang="en-US" sz="1600" u="none" cap="none" strike="noStrike">
                <a:solidFill>
                  <a:srgbClr val="13294B"/>
                </a:solidFill>
                <a:latin typeface="Arial"/>
                <a:ea typeface="Arial"/>
                <a:cs typeface="Arial"/>
                <a:sym typeface="Arial"/>
              </a:rPr>
              <a:t>Coherencia total: problema → objetivos → hipótesis → variables → método.</a:t>
            </a:r>
            <a:endParaRPr b="0" i="0" sz="1600" u="none" cap="none" strike="noStrike">
              <a:solidFill>
                <a:schemeClr val="dk1"/>
              </a:solidFill>
              <a:latin typeface="Calibri"/>
              <a:ea typeface="Calibri"/>
              <a:cs typeface="Calibri"/>
              <a:sym typeface="Calibri"/>
            </a:endParaRPr>
          </a:p>
        </p:txBody>
      </p:sp>
      <p:sp>
        <p:nvSpPr>
          <p:cNvPr id="76" name="Google Shape;76;p6"/>
          <p:cNvSpPr/>
          <p:nvPr/>
        </p:nvSpPr>
        <p:spPr>
          <a:xfrm>
            <a:off x="8083296" y="1920240"/>
            <a:ext cx="3566160" cy="2651760"/>
          </a:xfrm>
          <a:prstGeom prst="roundRect">
            <a:avLst>
              <a:gd fmla="val 3103" name="adj"/>
            </a:avLst>
          </a:prstGeom>
          <a:solidFill>
            <a:srgbClr val="FFFFFF"/>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8357616" y="2194560"/>
            <a:ext cx="777240" cy="777240"/>
          </a:xfrm>
          <a:prstGeom prst="roundRect">
            <a:avLst>
              <a:gd fmla="val 14118" name="adj"/>
            </a:avLst>
          </a:prstGeom>
          <a:solidFill>
            <a:srgbClr val="1F40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8357616" y="219456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3</a:t>
            </a:r>
            <a:endParaRPr b="0" i="0" sz="3400" u="none" cap="none" strike="noStrike">
              <a:solidFill>
                <a:schemeClr val="dk1"/>
              </a:solidFill>
              <a:latin typeface="Calibri"/>
              <a:ea typeface="Calibri"/>
              <a:cs typeface="Calibri"/>
              <a:sym typeface="Calibri"/>
            </a:endParaRPr>
          </a:p>
        </p:txBody>
      </p:sp>
      <p:sp>
        <p:nvSpPr>
          <p:cNvPr id="79" name="Google Shape;79;p6"/>
          <p:cNvSpPr/>
          <p:nvPr/>
        </p:nvSpPr>
        <p:spPr>
          <a:xfrm>
            <a:off x="8357616" y="3154680"/>
            <a:ext cx="3063240" cy="137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3294B"/>
              </a:buClr>
              <a:buSzPts val="1600"/>
              <a:buFont typeface="Arial"/>
              <a:buNone/>
            </a:pPr>
            <a:r>
              <a:rPr b="1" i="0" lang="en-US" sz="1600" u="none" cap="none" strike="noStrike">
                <a:solidFill>
                  <a:srgbClr val="13294B"/>
                </a:solidFill>
                <a:latin typeface="Arial"/>
                <a:ea typeface="Arial"/>
                <a:cs typeface="Arial"/>
                <a:sym typeface="Arial"/>
              </a:rPr>
              <a:t>La IA propone diseños; el investigador los justifica.</a:t>
            </a:r>
            <a:endParaRPr b="0" i="0" sz="1600" u="none" cap="none" strike="noStrike">
              <a:solidFill>
                <a:schemeClr val="dk1"/>
              </a:solidFill>
              <a:latin typeface="Calibri"/>
              <a:ea typeface="Calibri"/>
              <a:cs typeface="Calibri"/>
              <a:sym typeface="Calibri"/>
            </a:endParaRPr>
          </a:p>
        </p:txBody>
      </p:sp>
      <p:sp>
        <p:nvSpPr>
          <p:cNvPr id="80" name="Google Shape;80;p6"/>
          <p:cNvSpPr/>
          <p:nvPr/>
        </p:nvSpPr>
        <p:spPr>
          <a:xfrm>
            <a:off x="548640" y="4892040"/>
            <a:ext cx="10917936" cy="1234440"/>
          </a:xfrm>
          <a:prstGeom prst="roundRect">
            <a:avLst>
              <a:gd fmla="val 6667" name="adj"/>
            </a:avLst>
          </a:prstGeom>
          <a:solidFill>
            <a:srgbClr val="7A14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914400" y="4892040"/>
            <a:ext cx="1014984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D6DA"/>
              </a:buClr>
              <a:buSzPts val="2100"/>
              <a:buFont typeface="Arial"/>
              <a:buNone/>
            </a:pPr>
            <a:r>
              <a:rPr b="1" i="0" lang="en-US" sz="2100" u="none" cap="none" strike="noStrike">
                <a:solidFill>
                  <a:srgbClr val="F3D6DA"/>
                </a:solidFill>
                <a:latin typeface="Arial"/>
                <a:ea typeface="Arial"/>
                <a:cs typeface="Arial"/>
                <a:sym typeface="Arial"/>
              </a:rPr>
              <a:t>Objetivo de hoy:  </a:t>
            </a:r>
            <a:r>
              <a:rPr b="0" i="0" lang="en-US" sz="2100" u="none" cap="none" strike="noStrike">
                <a:solidFill>
                  <a:srgbClr val="FFFFFF"/>
                </a:solidFill>
                <a:latin typeface="Arial"/>
                <a:ea typeface="Arial"/>
                <a:cs typeface="Arial"/>
                <a:sym typeface="Arial"/>
              </a:rPr>
              <a:t>no escribes secciones sueltas — </a:t>
            </a:r>
            <a:r>
              <a:rPr b="1" i="0" lang="en-US" sz="2100" u="none" cap="none" strike="noStrike">
                <a:solidFill>
                  <a:srgbClr val="FFFFFF"/>
                </a:solidFill>
                <a:latin typeface="Arial"/>
                <a:ea typeface="Arial"/>
                <a:cs typeface="Arial"/>
                <a:sym typeface="Arial"/>
              </a:rPr>
              <a:t>diseñas una investigación coherente.</a:t>
            </a:r>
            <a:endParaRPr b="0" i="0" sz="2100" u="none" cap="none" strike="noStrike">
              <a:solidFill>
                <a:schemeClr val="dk1"/>
              </a:solidFill>
              <a:latin typeface="Calibri"/>
              <a:ea typeface="Calibri"/>
              <a:cs typeface="Calibri"/>
              <a:sym typeface="Calibri"/>
            </a:endParaRPr>
          </a:p>
        </p:txBody>
      </p:sp>
      <p:sp>
        <p:nvSpPr>
          <p:cNvPr id="82" name="Google Shape;82;p6"/>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83" name="Google Shape;83;p6"/>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7"/>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A · IMPACTO</a:t>
            </a:r>
            <a:endParaRPr b="0" i="0" sz="1200" u="none" cap="none" strike="noStrike">
              <a:solidFill>
                <a:schemeClr val="dk1"/>
              </a:solidFill>
              <a:latin typeface="Calibri"/>
              <a:ea typeface="Calibri"/>
              <a:cs typeface="Calibri"/>
              <a:sym typeface="Calibri"/>
            </a:endParaRPr>
          </a:p>
        </p:txBody>
      </p:sp>
      <p:sp>
        <p:nvSpPr>
          <p:cNvPr id="90" name="Google Shape;90;p7"/>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¿Aprobarías esta tesis?</a:t>
            </a:r>
            <a:endParaRPr b="0" i="0" sz="3000" u="none" cap="none" strike="noStrike">
              <a:solidFill>
                <a:schemeClr val="dk1"/>
              </a:solidFill>
              <a:latin typeface="Calibri"/>
              <a:ea typeface="Calibri"/>
              <a:cs typeface="Calibri"/>
              <a:sym typeface="Calibri"/>
            </a:endParaRPr>
          </a:p>
        </p:txBody>
      </p:sp>
      <p:sp>
        <p:nvSpPr>
          <p:cNvPr id="91" name="Google Shape;91;p7"/>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0–8 min</a:t>
            </a:r>
            <a:endParaRPr b="0" i="0" sz="1200" u="none" cap="none" strike="noStrike">
              <a:solidFill>
                <a:schemeClr val="dk1"/>
              </a:solidFill>
              <a:latin typeface="Calibri"/>
              <a:ea typeface="Calibri"/>
              <a:cs typeface="Calibri"/>
              <a:sym typeface="Calibri"/>
            </a:endParaRPr>
          </a:p>
        </p:txBody>
      </p:sp>
      <p:sp>
        <p:nvSpPr>
          <p:cNvPr id="93" name="Google Shape;93;p7"/>
          <p:cNvSpPr/>
          <p:nvPr/>
        </p:nvSpPr>
        <p:spPr>
          <a:xfrm>
            <a:off x="548640" y="1783080"/>
            <a:ext cx="10972800" cy="914400"/>
          </a:xfrm>
          <a:prstGeom prst="roundRect">
            <a:avLst>
              <a:gd fmla="val 9000"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822960" y="1783080"/>
            <a:ext cx="29260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Problema</a:t>
            </a:r>
            <a:endParaRPr b="0" i="0" sz="1500" u="none" cap="none" strike="noStrike">
              <a:solidFill>
                <a:schemeClr val="dk1"/>
              </a:solidFill>
              <a:latin typeface="Calibri"/>
              <a:ea typeface="Calibri"/>
              <a:cs typeface="Calibri"/>
              <a:sym typeface="Calibri"/>
            </a:endParaRPr>
          </a:p>
        </p:txBody>
      </p:sp>
      <p:sp>
        <p:nvSpPr>
          <p:cNvPr id="95" name="Google Shape;95;p7"/>
          <p:cNvSpPr/>
          <p:nvPr/>
        </p:nvSpPr>
        <p:spPr>
          <a:xfrm>
            <a:off x="3840480" y="1783080"/>
            <a:ext cx="74980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¿Cómo mejorar el mantenimiento ferroviario?</a:t>
            </a:r>
            <a:endParaRPr b="0" i="0" sz="1500" u="none" cap="none" strike="noStrike">
              <a:solidFill>
                <a:schemeClr val="dk1"/>
              </a:solidFill>
              <a:latin typeface="Calibri"/>
              <a:ea typeface="Calibri"/>
              <a:cs typeface="Calibri"/>
              <a:sym typeface="Calibri"/>
            </a:endParaRPr>
          </a:p>
        </p:txBody>
      </p:sp>
      <p:sp>
        <p:nvSpPr>
          <p:cNvPr id="96" name="Google Shape;96;p7"/>
          <p:cNvSpPr/>
          <p:nvPr/>
        </p:nvSpPr>
        <p:spPr>
          <a:xfrm>
            <a:off x="548640" y="2788920"/>
            <a:ext cx="10972800" cy="914400"/>
          </a:xfrm>
          <a:prstGeom prst="roundRect">
            <a:avLst>
              <a:gd fmla="val 9000"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822960" y="2788920"/>
            <a:ext cx="29260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Objetivo general</a:t>
            </a:r>
            <a:endParaRPr b="0" i="0" sz="1500" u="none" cap="none" strike="noStrike">
              <a:solidFill>
                <a:schemeClr val="dk1"/>
              </a:solidFill>
              <a:latin typeface="Calibri"/>
              <a:ea typeface="Calibri"/>
              <a:cs typeface="Calibri"/>
              <a:sym typeface="Calibri"/>
            </a:endParaRPr>
          </a:p>
        </p:txBody>
      </p:sp>
      <p:sp>
        <p:nvSpPr>
          <p:cNvPr id="98" name="Google Shape;98;p7"/>
          <p:cNvSpPr/>
          <p:nvPr/>
        </p:nvSpPr>
        <p:spPr>
          <a:xfrm>
            <a:off x="3840480" y="2788920"/>
            <a:ext cx="74980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Desarrollar una app móvil para reportar fallas.</a:t>
            </a:r>
            <a:endParaRPr b="0" i="0" sz="1500" u="none" cap="none" strike="noStrike">
              <a:solidFill>
                <a:schemeClr val="dk1"/>
              </a:solidFill>
              <a:latin typeface="Calibri"/>
              <a:ea typeface="Calibri"/>
              <a:cs typeface="Calibri"/>
              <a:sym typeface="Calibri"/>
            </a:endParaRPr>
          </a:p>
        </p:txBody>
      </p:sp>
      <p:sp>
        <p:nvSpPr>
          <p:cNvPr id="99" name="Google Shape;99;p7"/>
          <p:cNvSpPr/>
          <p:nvPr/>
        </p:nvSpPr>
        <p:spPr>
          <a:xfrm>
            <a:off x="548640" y="3794760"/>
            <a:ext cx="10972800" cy="914400"/>
          </a:xfrm>
          <a:prstGeom prst="roundRect">
            <a:avLst>
              <a:gd fmla="val 9000"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822960" y="3794760"/>
            <a:ext cx="29260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Hipótesis</a:t>
            </a:r>
            <a:endParaRPr b="0" i="0" sz="1500" u="none" cap="none" strike="noStrike">
              <a:solidFill>
                <a:schemeClr val="dk1"/>
              </a:solidFill>
              <a:latin typeface="Calibri"/>
              <a:ea typeface="Calibri"/>
              <a:cs typeface="Calibri"/>
              <a:sym typeface="Calibri"/>
            </a:endParaRPr>
          </a:p>
        </p:txBody>
      </p:sp>
      <p:sp>
        <p:nvSpPr>
          <p:cNvPr id="101" name="Google Shape;101;p7"/>
          <p:cNvSpPr/>
          <p:nvPr/>
        </p:nvSpPr>
        <p:spPr>
          <a:xfrm>
            <a:off x="3840480" y="3794760"/>
            <a:ext cx="74980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El clima afecta la satisfacción del usuario.</a:t>
            </a:r>
            <a:endParaRPr b="0" i="0" sz="1500" u="none" cap="none" strike="noStrike">
              <a:solidFill>
                <a:schemeClr val="dk1"/>
              </a:solidFill>
              <a:latin typeface="Calibri"/>
              <a:ea typeface="Calibri"/>
              <a:cs typeface="Calibri"/>
              <a:sym typeface="Calibri"/>
            </a:endParaRPr>
          </a:p>
        </p:txBody>
      </p:sp>
      <p:sp>
        <p:nvSpPr>
          <p:cNvPr id="102" name="Google Shape;102;p7"/>
          <p:cNvSpPr/>
          <p:nvPr/>
        </p:nvSpPr>
        <p:spPr>
          <a:xfrm>
            <a:off x="548640" y="4800600"/>
            <a:ext cx="10972800" cy="914400"/>
          </a:xfrm>
          <a:prstGeom prst="roundRect">
            <a:avLst>
              <a:gd fmla="val 9000"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822960" y="4800600"/>
            <a:ext cx="29260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Variable principal</a:t>
            </a:r>
            <a:endParaRPr b="0" i="0" sz="1500" u="none" cap="none" strike="noStrike">
              <a:solidFill>
                <a:schemeClr val="dk1"/>
              </a:solidFill>
              <a:latin typeface="Calibri"/>
              <a:ea typeface="Calibri"/>
              <a:cs typeface="Calibri"/>
              <a:sym typeface="Calibri"/>
            </a:endParaRPr>
          </a:p>
        </p:txBody>
      </p:sp>
      <p:sp>
        <p:nvSpPr>
          <p:cNvPr id="104" name="Google Shape;104;p7"/>
          <p:cNvSpPr/>
          <p:nvPr/>
        </p:nvSpPr>
        <p:spPr>
          <a:xfrm>
            <a:off x="3840480" y="4800600"/>
            <a:ext cx="74980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Número de estaciones de la línea.</a:t>
            </a:r>
            <a:endParaRPr b="0" i="0" sz="1500" u="none" cap="none" strike="noStrike">
              <a:solidFill>
                <a:schemeClr val="dk1"/>
              </a:solidFill>
              <a:latin typeface="Calibri"/>
              <a:ea typeface="Calibri"/>
              <a:cs typeface="Calibri"/>
              <a:sym typeface="Calibri"/>
            </a:endParaRPr>
          </a:p>
        </p:txBody>
      </p:sp>
      <p:sp>
        <p:nvSpPr>
          <p:cNvPr id="105" name="Google Shape;105;p7"/>
          <p:cNvSpPr/>
          <p:nvPr/>
        </p:nvSpPr>
        <p:spPr>
          <a:xfrm>
            <a:off x="548640" y="5806440"/>
            <a:ext cx="10972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900"/>
              <a:buFont typeface="Arial"/>
              <a:buNone/>
            </a:pPr>
            <a:r>
              <a:rPr b="1" i="0" lang="en-US" sz="1900" u="none" cap="none" strike="noStrike">
                <a:solidFill>
                  <a:srgbClr val="13294B"/>
                </a:solidFill>
                <a:latin typeface="Arial"/>
                <a:ea typeface="Arial"/>
                <a:cs typeface="Arial"/>
                <a:sym typeface="Arial"/>
              </a:rPr>
              <a:t>Vota:   ✋ la aprobaría        ✋ no la aprobaría</a:t>
            </a:r>
            <a:endParaRPr b="0" i="0" sz="1900" u="none" cap="none" strike="noStrike">
              <a:solidFill>
                <a:schemeClr val="dk1"/>
              </a:solidFill>
              <a:latin typeface="Calibri"/>
              <a:ea typeface="Calibri"/>
              <a:cs typeface="Calibri"/>
              <a:sym typeface="Calibri"/>
            </a:endParaRPr>
          </a:p>
        </p:txBody>
      </p:sp>
      <p:sp>
        <p:nvSpPr>
          <p:cNvPr id="106" name="Google Shape;106;p7"/>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107" name="Google Shape;107;p7"/>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A1420"/>
        </a:solidFill>
      </p:bgPr>
    </p:bg>
    <p:spTree>
      <p:nvGrpSpPr>
        <p:cNvPr id="112" name="Shape 112"/>
        <p:cNvGrpSpPr/>
        <p:nvPr/>
      </p:nvGrpSpPr>
      <p:grpSpPr>
        <a:xfrm>
          <a:off x="0" y="0"/>
          <a:ext cx="0" cy="0"/>
          <a:chOff x="0" y="0"/>
          <a:chExt cx="0" cy="0"/>
        </a:xfrm>
      </p:grpSpPr>
      <p:sp>
        <p:nvSpPr>
          <p:cNvPr id="113" name="Google Shape;113;p8"/>
          <p:cNvSpPr/>
          <p:nvPr/>
        </p:nvSpPr>
        <p:spPr>
          <a:xfrm>
            <a:off x="640080" y="1280160"/>
            <a:ext cx="10972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Nada encaja con nada</a:t>
            </a:r>
            <a:endParaRPr b="0" i="0" sz="4400" u="none" cap="none" strike="noStrike">
              <a:solidFill>
                <a:schemeClr val="dk1"/>
              </a:solidFill>
              <a:latin typeface="Calibri"/>
              <a:ea typeface="Calibri"/>
              <a:cs typeface="Calibri"/>
              <a:sym typeface="Calibri"/>
            </a:endParaRPr>
          </a:p>
        </p:txBody>
      </p:sp>
      <p:sp>
        <p:nvSpPr>
          <p:cNvPr id="114" name="Google Shape;114;p8"/>
          <p:cNvSpPr/>
          <p:nvPr/>
        </p:nvSpPr>
        <p:spPr>
          <a:xfrm>
            <a:off x="658368" y="2514600"/>
            <a:ext cx="10789920" cy="10058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6DDE1"/>
              </a:buClr>
              <a:buSzPts val="2200"/>
              <a:buFont typeface="Arial"/>
              <a:buNone/>
            </a:pPr>
            <a:r>
              <a:rPr b="0" i="0" lang="en-US" sz="2200" u="none" cap="none" strike="noStrike">
                <a:solidFill>
                  <a:srgbClr val="F6DDE1"/>
                </a:solidFill>
                <a:latin typeface="Arial"/>
                <a:ea typeface="Arial"/>
                <a:cs typeface="Arial"/>
                <a:sym typeface="Arial"/>
              </a:rPr>
              <a:t>El objetivo no responde al problema. La hipótesis habla de otra cosa. La variable no mide lo que el problema pregunta.</a:t>
            </a:r>
            <a:endParaRPr b="0" i="0" sz="2200" u="none" cap="none" strike="noStrike">
              <a:solidFill>
                <a:schemeClr val="dk1"/>
              </a:solidFill>
              <a:latin typeface="Calibri"/>
              <a:ea typeface="Calibri"/>
              <a:cs typeface="Calibri"/>
              <a:sym typeface="Calibri"/>
            </a:endParaRPr>
          </a:p>
        </p:txBody>
      </p:sp>
      <p:sp>
        <p:nvSpPr>
          <p:cNvPr id="115" name="Google Shape;115;p8"/>
          <p:cNvSpPr/>
          <p:nvPr/>
        </p:nvSpPr>
        <p:spPr>
          <a:xfrm>
            <a:off x="640080" y="3749040"/>
            <a:ext cx="10881360" cy="1737360"/>
          </a:xfrm>
          <a:prstGeom prst="roundRect">
            <a:avLst>
              <a:gd fmla="val 4737"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1005840" y="3749040"/>
            <a:ext cx="10149840" cy="1737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FB4D0"/>
              </a:buClr>
              <a:buSzPts val="2200"/>
              <a:buFont typeface="Arial"/>
              <a:buNone/>
            </a:pPr>
            <a:r>
              <a:rPr b="1" i="0" lang="en-US" sz="2200" u="none" cap="none" strike="noStrike">
                <a:solidFill>
                  <a:srgbClr val="9FB4D0"/>
                </a:solidFill>
                <a:latin typeface="Arial"/>
                <a:ea typeface="Arial"/>
                <a:cs typeface="Arial"/>
                <a:sym typeface="Arial"/>
              </a:rPr>
              <a:t>El jurado no lee las secciones por separado: </a:t>
            </a:r>
            <a:r>
              <a:rPr b="0" i="0" lang="en-US" sz="2200" u="none" cap="none" strike="noStrike">
                <a:solidFill>
                  <a:srgbClr val="FFFFFF"/>
                </a:solidFill>
                <a:latin typeface="Arial"/>
                <a:ea typeface="Arial"/>
                <a:cs typeface="Arial"/>
                <a:sym typeface="Arial"/>
              </a:rPr>
              <a:t>lee la coherencia entre ellas. Ese hilo se llama </a:t>
            </a:r>
            <a:r>
              <a:rPr b="1" i="0" lang="en-US" sz="2200" u="none" cap="none" strike="noStrike">
                <a:solidFill>
                  <a:srgbClr val="FFFFFF"/>
                </a:solidFill>
                <a:latin typeface="Arial"/>
                <a:ea typeface="Arial"/>
                <a:cs typeface="Arial"/>
                <a:sym typeface="Arial"/>
              </a:rPr>
              <a:t>matriz de consistencia.</a:t>
            </a:r>
            <a:endParaRPr b="0" i="0" sz="2200" u="none" cap="none" strike="noStrike">
              <a:solidFill>
                <a:schemeClr val="dk1"/>
              </a:solidFill>
              <a:latin typeface="Calibri"/>
              <a:ea typeface="Calibri"/>
              <a:cs typeface="Calibri"/>
              <a:sym typeface="Calibri"/>
            </a:endParaRPr>
          </a:p>
        </p:txBody>
      </p:sp>
      <p:sp>
        <p:nvSpPr>
          <p:cNvPr id="117" name="Google Shape;117;p8"/>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118" name="Google Shape;118;p8"/>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9"/>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RUTA DE LA SESIÓN</a:t>
            </a:r>
            <a:endParaRPr b="0" i="0" sz="1200" u="none" cap="none" strike="noStrike">
              <a:solidFill>
                <a:schemeClr val="dk1"/>
              </a:solidFill>
              <a:latin typeface="Calibri"/>
              <a:ea typeface="Calibri"/>
              <a:cs typeface="Calibri"/>
              <a:sym typeface="Calibri"/>
            </a:endParaRPr>
          </a:p>
        </p:txBody>
      </p:sp>
      <p:sp>
        <p:nvSpPr>
          <p:cNvPr id="125" name="Google Shape;125;p9"/>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El mapa de hoy — 180 minutos</a:t>
            </a:r>
            <a:endParaRPr b="0" i="0" sz="3000" u="none" cap="none" strike="noStrike">
              <a:solidFill>
                <a:schemeClr val="dk1"/>
              </a:solidFill>
              <a:latin typeface="Calibri"/>
              <a:ea typeface="Calibri"/>
              <a:cs typeface="Calibri"/>
              <a:sym typeface="Calibri"/>
            </a:endParaRPr>
          </a:p>
        </p:txBody>
      </p:sp>
      <p:sp>
        <p:nvSpPr>
          <p:cNvPr id="126" name="Google Shape;126;p9"/>
          <p:cNvSpPr/>
          <p:nvPr/>
        </p:nvSpPr>
        <p:spPr>
          <a:xfrm>
            <a:off x="548640" y="1691640"/>
            <a:ext cx="5394960" cy="3977640"/>
          </a:xfrm>
          <a:prstGeom prst="roundRect">
            <a:avLst>
              <a:gd fmla="val 2069"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9"/>
          <p:cNvSpPr/>
          <p:nvPr/>
        </p:nvSpPr>
        <p:spPr>
          <a:xfrm>
            <a:off x="822960" y="1920240"/>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1600"/>
              <a:buFont typeface="Arial"/>
              <a:buNone/>
            </a:pPr>
            <a:r>
              <a:rPr b="1" i="0" lang="en-US" sz="1600" u="none" cap="none" strike="noStrike">
                <a:solidFill>
                  <a:srgbClr val="13294B"/>
                </a:solidFill>
                <a:latin typeface="Arial"/>
                <a:ea typeface="Arial"/>
                <a:cs typeface="Arial"/>
                <a:sym typeface="Arial"/>
              </a:rPr>
              <a:t>TEORÍA · 72 min (40%)</a:t>
            </a:r>
            <a:endParaRPr b="0" i="0" sz="1600" u="none" cap="none" strike="noStrike">
              <a:solidFill>
                <a:schemeClr val="dk1"/>
              </a:solidFill>
              <a:latin typeface="Calibri"/>
              <a:ea typeface="Calibri"/>
              <a:cs typeface="Calibri"/>
              <a:sym typeface="Calibri"/>
            </a:endParaRPr>
          </a:p>
        </p:txBody>
      </p:sp>
      <p:sp>
        <p:nvSpPr>
          <p:cNvPr id="128" name="Google Shape;128;p9"/>
          <p:cNvSpPr/>
          <p:nvPr/>
        </p:nvSpPr>
        <p:spPr>
          <a:xfrm>
            <a:off x="822960" y="2377440"/>
            <a:ext cx="4892040" cy="3200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F2733"/>
              </a:buClr>
              <a:buSzPts val="1350"/>
              <a:buFont typeface="Arial"/>
              <a:buNone/>
            </a:pPr>
            <a:r>
              <a:rPr b="0" i="0" lang="en-US" sz="1350" u="none" cap="none" strike="noStrike">
                <a:solidFill>
                  <a:srgbClr val="1F2733"/>
                </a:solidFill>
                <a:latin typeface="Arial"/>
                <a:ea typeface="Arial"/>
                <a:cs typeface="Arial"/>
                <a:sym typeface="Arial"/>
              </a:rPr>
              <a:t>A · ¿Aprobarías esta tesis? (coherencia)</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B · Del vacío al problema y la justificación</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C · Objetivos e hipótesis</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D · Variables y operacionalización</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E · Enfoque, tipo, nivel y diseño</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F · La matriz de consistencia</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G · IA con integridad en metodología</a:t>
            </a:r>
            <a:endParaRPr b="0" i="0" sz="1350" u="none" cap="none" strike="noStrike">
              <a:solidFill>
                <a:schemeClr val="dk1"/>
              </a:solidFill>
              <a:latin typeface="Calibri"/>
              <a:ea typeface="Calibri"/>
              <a:cs typeface="Calibri"/>
              <a:sym typeface="Calibri"/>
            </a:endParaRPr>
          </a:p>
        </p:txBody>
      </p:sp>
      <p:sp>
        <p:nvSpPr>
          <p:cNvPr id="129" name="Google Shape;129;p9"/>
          <p:cNvSpPr/>
          <p:nvPr/>
        </p:nvSpPr>
        <p:spPr>
          <a:xfrm>
            <a:off x="6126480" y="1691640"/>
            <a:ext cx="5394960" cy="3977640"/>
          </a:xfrm>
          <a:prstGeom prst="roundRect">
            <a:avLst>
              <a:gd fmla="val 2069" name="adj"/>
            </a:avLst>
          </a:prstGeom>
          <a:solidFill>
            <a:srgbClr val="F3E1E4"/>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a:off x="6400800" y="1920240"/>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600"/>
              <a:buFont typeface="Arial"/>
              <a:buNone/>
            </a:pPr>
            <a:r>
              <a:rPr b="1" i="0" lang="en-US" sz="1600" u="none" cap="none" strike="noStrike">
                <a:solidFill>
                  <a:srgbClr val="7A1420"/>
                </a:solidFill>
                <a:latin typeface="Arial"/>
                <a:ea typeface="Arial"/>
                <a:cs typeface="Arial"/>
                <a:sym typeface="Arial"/>
              </a:rPr>
              <a:t>LABORATORIO · 108 min (60%)</a:t>
            </a:r>
            <a:endParaRPr b="0" i="0" sz="1600" u="none" cap="none" strike="noStrike">
              <a:solidFill>
                <a:schemeClr val="dk1"/>
              </a:solidFill>
              <a:latin typeface="Calibri"/>
              <a:ea typeface="Calibri"/>
              <a:cs typeface="Calibri"/>
              <a:sym typeface="Calibri"/>
            </a:endParaRPr>
          </a:p>
        </p:txBody>
      </p:sp>
      <p:sp>
        <p:nvSpPr>
          <p:cNvPr id="131" name="Google Shape;131;p9"/>
          <p:cNvSpPr/>
          <p:nvPr/>
        </p:nvSpPr>
        <p:spPr>
          <a:xfrm>
            <a:off x="6400800" y="2377440"/>
            <a:ext cx="4892040" cy="3200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F2733"/>
              </a:buClr>
              <a:buSzPts val="1350"/>
              <a:buFont typeface="Arial"/>
              <a:buNone/>
            </a:pPr>
            <a:r>
              <a:rPr b="0" i="0" lang="en-US" sz="1350" u="none" cap="none" strike="noStrike">
                <a:solidFill>
                  <a:srgbClr val="1F2733"/>
                </a:solidFill>
                <a:latin typeface="Arial"/>
                <a:ea typeface="Arial"/>
                <a:cs typeface="Arial"/>
                <a:sym typeface="Arial"/>
              </a:rPr>
              <a:t>1 · Del vacío al problema</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2 · Objetivos e hipótesis</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3 · Variables y operacionalización</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4 · Diseño metodológico</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5 · Matriz de consistencia v1</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6 · Auditoría de coherencia con IA</a:t>
            </a:r>
            <a:br>
              <a:rPr b="0" i="0" lang="en-US" sz="1350" u="none" cap="none" strike="noStrike">
                <a:solidFill>
                  <a:srgbClr val="1F2733"/>
                </a:solidFill>
                <a:latin typeface="Arial"/>
                <a:ea typeface="Arial"/>
                <a:cs typeface="Arial"/>
                <a:sym typeface="Arial"/>
              </a:rPr>
            </a:br>
            <a:r>
              <a:rPr b="0" i="0" lang="en-US" sz="1350" u="none" cap="none" strike="noStrike">
                <a:solidFill>
                  <a:srgbClr val="1F2733"/>
                </a:solidFill>
                <a:latin typeface="Arial"/>
                <a:ea typeface="Arial"/>
                <a:cs typeface="Arial"/>
                <a:sym typeface="Arial"/>
              </a:rPr>
              <a:t>7 · Viabilidad, ética y evaluación</a:t>
            </a:r>
            <a:endParaRPr b="0" i="0" sz="1350" u="none" cap="none" strike="noStrike">
              <a:solidFill>
                <a:schemeClr val="dk1"/>
              </a:solidFill>
              <a:latin typeface="Calibri"/>
              <a:ea typeface="Calibri"/>
              <a:cs typeface="Calibri"/>
              <a:sym typeface="Calibri"/>
            </a:endParaRPr>
          </a:p>
        </p:txBody>
      </p:sp>
      <p:sp>
        <p:nvSpPr>
          <p:cNvPr id="132" name="Google Shape;132;p9"/>
          <p:cNvSpPr/>
          <p:nvPr/>
        </p:nvSpPr>
        <p:spPr>
          <a:xfrm>
            <a:off x="548640" y="5806440"/>
            <a:ext cx="10972800" cy="685800"/>
          </a:xfrm>
          <a:prstGeom prst="roundRect">
            <a:avLst>
              <a:gd fmla="val 12000"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p:nvPr/>
        </p:nvSpPr>
        <p:spPr>
          <a:xfrm>
            <a:off x="822960" y="5806440"/>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4D0"/>
              </a:buClr>
              <a:buSzPts val="1400"/>
              <a:buFont typeface="Arial"/>
              <a:buNone/>
            </a:pPr>
            <a:r>
              <a:rPr b="1" i="0" lang="en-US" sz="1400" u="none" cap="none" strike="noStrike">
                <a:solidFill>
                  <a:srgbClr val="9FB4D0"/>
                </a:solidFill>
                <a:latin typeface="Arial"/>
                <a:ea typeface="Arial"/>
                <a:cs typeface="Arial"/>
                <a:sym typeface="Arial"/>
              </a:rPr>
              <a:t>Producto final:  </a:t>
            </a:r>
            <a:r>
              <a:rPr b="1" i="0" lang="en-US" sz="1400" u="none" cap="none" strike="noStrike">
                <a:solidFill>
                  <a:srgbClr val="FFFFFF"/>
                </a:solidFill>
                <a:latin typeface="Arial"/>
                <a:ea typeface="Arial"/>
                <a:cs typeface="Arial"/>
                <a:sym typeface="Arial"/>
              </a:rPr>
              <a:t>“Mi Matriz de Consistencia v1” — el esqueleto coherente de tu Capítulo I, listo para desarrollar.</a:t>
            </a:r>
            <a:endParaRPr b="0" i="0" sz="1400" u="none" cap="none" strike="noStrike">
              <a:solidFill>
                <a:schemeClr val="dk1"/>
              </a:solidFill>
              <a:latin typeface="Calibri"/>
              <a:ea typeface="Calibri"/>
              <a:cs typeface="Calibri"/>
              <a:sym typeface="Calibri"/>
            </a:endParaRPr>
          </a:p>
        </p:txBody>
      </p:sp>
      <p:sp>
        <p:nvSpPr>
          <p:cNvPr id="134" name="Google Shape;134;p9"/>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135" name="Google Shape;135;p9"/>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10"/>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B · EL PROBLEMA</a:t>
            </a:r>
            <a:endParaRPr b="0" i="0" sz="1200" u="none" cap="none" strike="noStrike">
              <a:solidFill>
                <a:schemeClr val="dk1"/>
              </a:solidFill>
              <a:latin typeface="Calibri"/>
              <a:ea typeface="Calibri"/>
              <a:cs typeface="Calibri"/>
              <a:sym typeface="Calibri"/>
            </a:endParaRPr>
          </a:p>
        </p:txBody>
      </p:sp>
      <p:sp>
        <p:nvSpPr>
          <p:cNvPr id="142" name="Google Shape;142;p10"/>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Del vacío al problema</a:t>
            </a:r>
            <a:endParaRPr b="0" i="0" sz="3000" u="none" cap="none" strike="noStrike">
              <a:solidFill>
                <a:schemeClr val="dk1"/>
              </a:solidFill>
              <a:latin typeface="Calibri"/>
              <a:ea typeface="Calibri"/>
              <a:cs typeface="Calibri"/>
              <a:sym typeface="Calibri"/>
            </a:endParaRPr>
          </a:p>
        </p:txBody>
      </p:sp>
      <p:sp>
        <p:nvSpPr>
          <p:cNvPr id="143" name="Google Shape;143;p10"/>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8–25 min</a:t>
            </a:r>
            <a:endParaRPr b="0" i="0" sz="1200" u="none" cap="none" strike="noStrike">
              <a:solidFill>
                <a:schemeClr val="dk1"/>
              </a:solidFill>
              <a:latin typeface="Calibri"/>
              <a:ea typeface="Calibri"/>
              <a:cs typeface="Calibri"/>
              <a:sym typeface="Calibri"/>
            </a:endParaRPr>
          </a:p>
        </p:txBody>
      </p:sp>
      <p:sp>
        <p:nvSpPr>
          <p:cNvPr id="145" name="Google Shape;145;p10"/>
          <p:cNvSpPr/>
          <p:nvPr/>
        </p:nvSpPr>
        <p:spPr>
          <a:xfrm>
            <a:off x="822960" y="2011680"/>
            <a:ext cx="3200400" cy="1737360"/>
          </a:xfrm>
          <a:prstGeom prst="roundRect">
            <a:avLst>
              <a:gd fmla="val 4737"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
          <p:cNvSpPr/>
          <p:nvPr/>
        </p:nvSpPr>
        <p:spPr>
          <a:xfrm>
            <a:off x="1005840" y="2286000"/>
            <a:ext cx="2834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1800"/>
              <a:buFont typeface="Arial"/>
              <a:buNone/>
            </a:pPr>
            <a:r>
              <a:rPr b="1" i="0" lang="en-US" sz="1800" u="none" cap="none" strike="noStrike">
                <a:solidFill>
                  <a:srgbClr val="13294B"/>
                </a:solidFill>
                <a:latin typeface="Arial"/>
                <a:ea typeface="Arial"/>
                <a:cs typeface="Arial"/>
                <a:sym typeface="Arial"/>
              </a:rPr>
              <a:t>Vacío (U2)</a:t>
            </a:r>
            <a:endParaRPr b="0" i="0" sz="1800" u="none" cap="none" strike="noStrike">
              <a:solidFill>
                <a:schemeClr val="dk1"/>
              </a:solidFill>
              <a:latin typeface="Calibri"/>
              <a:ea typeface="Calibri"/>
              <a:cs typeface="Calibri"/>
              <a:sym typeface="Calibri"/>
            </a:endParaRPr>
          </a:p>
        </p:txBody>
      </p:sp>
      <p:sp>
        <p:nvSpPr>
          <p:cNvPr id="147" name="Google Shape;147;p10"/>
          <p:cNvSpPr/>
          <p:nvPr/>
        </p:nvSpPr>
        <p:spPr>
          <a:xfrm>
            <a:off x="1005840" y="2880360"/>
            <a:ext cx="2834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Lo que la literatura no resolvió</a:t>
            </a:r>
            <a:endParaRPr b="0" i="0" sz="1400" u="none" cap="none" strike="noStrike">
              <a:solidFill>
                <a:schemeClr val="dk1"/>
              </a:solidFill>
              <a:latin typeface="Calibri"/>
              <a:ea typeface="Calibri"/>
              <a:cs typeface="Calibri"/>
              <a:sym typeface="Calibri"/>
            </a:endParaRPr>
          </a:p>
        </p:txBody>
      </p:sp>
      <p:sp>
        <p:nvSpPr>
          <p:cNvPr id="148" name="Google Shape;148;p10"/>
          <p:cNvSpPr/>
          <p:nvPr/>
        </p:nvSpPr>
        <p:spPr>
          <a:xfrm>
            <a:off x="3977640" y="2606040"/>
            <a:ext cx="5029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420"/>
              </a:buClr>
              <a:buSzPts val="3000"/>
              <a:buFont typeface="Arial"/>
              <a:buNone/>
            </a:pPr>
            <a:r>
              <a:rPr b="1" i="0" lang="en-US" sz="3000" u="none" cap="none" strike="noStrike">
                <a:solidFill>
                  <a:srgbClr val="7A1420"/>
                </a:solidFill>
                <a:latin typeface="Arial"/>
                <a:ea typeface="Arial"/>
                <a:cs typeface="Arial"/>
                <a:sym typeface="Arial"/>
              </a:rPr>
              <a:t>→</a:t>
            </a:r>
            <a:endParaRPr b="0" i="0" sz="3000" u="none" cap="none" strike="noStrike">
              <a:solidFill>
                <a:schemeClr val="dk1"/>
              </a:solidFill>
              <a:latin typeface="Calibri"/>
              <a:ea typeface="Calibri"/>
              <a:cs typeface="Calibri"/>
              <a:sym typeface="Calibri"/>
            </a:endParaRPr>
          </a:p>
        </p:txBody>
      </p:sp>
      <p:sp>
        <p:nvSpPr>
          <p:cNvPr id="149" name="Google Shape;149;p10"/>
          <p:cNvSpPr/>
          <p:nvPr/>
        </p:nvSpPr>
        <p:spPr>
          <a:xfrm>
            <a:off x="4526280" y="2011680"/>
            <a:ext cx="3200400" cy="1737360"/>
          </a:xfrm>
          <a:prstGeom prst="roundRect">
            <a:avLst>
              <a:gd fmla="val 4737"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0"/>
          <p:cNvSpPr/>
          <p:nvPr/>
        </p:nvSpPr>
        <p:spPr>
          <a:xfrm>
            <a:off x="4709160" y="2286000"/>
            <a:ext cx="2834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1800"/>
              <a:buFont typeface="Arial"/>
              <a:buNone/>
            </a:pPr>
            <a:r>
              <a:rPr b="1" i="0" lang="en-US" sz="1800" u="none" cap="none" strike="noStrike">
                <a:solidFill>
                  <a:srgbClr val="13294B"/>
                </a:solidFill>
                <a:latin typeface="Arial"/>
                <a:ea typeface="Arial"/>
                <a:cs typeface="Arial"/>
                <a:sym typeface="Arial"/>
              </a:rPr>
              <a:t>Realidad problemática</a:t>
            </a:r>
            <a:endParaRPr b="0" i="0" sz="1800" u="none" cap="none" strike="noStrike">
              <a:solidFill>
                <a:schemeClr val="dk1"/>
              </a:solidFill>
              <a:latin typeface="Calibri"/>
              <a:ea typeface="Calibri"/>
              <a:cs typeface="Calibri"/>
              <a:sym typeface="Calibri"/>
            </a:endParaRPr>
          </a:p>
        </p:txBody>
      </p:sp>
      <p:sp>
        <p:nvSpPr>
          <p:cNvPr id="151" name="Google Shape;151;p10"/>
          <p:cNvSpPr/>
          <p:nvPr/>
        </p:nvSpPr>
        <p:spPr>
          <a:xfrm>
            <a:off x="4709160" y="2880360"/>
            <a:ext cx="2834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El problema en tu contexto real</a:t>
            </a:r>
            <a:endParaRPr b="0" i="0" sz="1400" u="none" cap="none" strike="noStrike">
              <a:solidFill>
                <a:schemeClr val="dk1"/>
              </a:solidFill>
              <a:latin typeface="Calibri"/>
              <a:ea typeface="Calibri"/>
              <a:cs typeface="Calibri"/>
              <a:sym typeface="Calibri"/>
            </a:endParaRPr>
          </a:p>
        </p:txBody>
      </p:sp>
      <p:sp>
        <p:nvSpPr>
          <p:cNvPr id="152" name="Google Shape;152;p10"/>
          <p:cNvSpPr/>
          <p:nvPr/>
        </p:nvSpPr>
        <p:spPr>
          <a:xfrm>
            <a:off x="7680960" y="2606040"/>
            <a:ext cx="5029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420"/>
              </a:buClr>
              <a:buSzPts val="3000"/>
              <a:buFont typeface="Arial"/>
              <a:buNone/>
            </a:pPr>
            <a:r>
              <a:rPr b="1" i="0" lang="en-US" sz="3000" u="none" cap="none" strike="noStrike">
                <a:solidFill>
                  <a:srgbClr val="7A1420"/>
                </a:solidFill>
                <a:latin typeface="Arial"/>
                <a:ea typeface="Arial"/>
                <a:cs typeface="Arial"/>
                <a:sym typeface="Arial"/>
              </a:rPr>
              <a:t>→</a:t>
            </a:r>
            <a:endParaRPr b="0" i="0" sz="3000" u="none" cap="none" strike="noStrike">
              <a:solidFill>
                <a:schemeClr val="dk1"/>
              </a:solidFill>
              <a:latin typeface="Calibri"/>
              <a:ea typeface="Calibri"/>
              <a:cs typeface="Calibri"/>
              <a:sym typeface="Calibri"/>
            </a:endParaRPr>
          </a:p>
        </p:txBody>
      </p:sp>
      <p:sp>
        <p:nvSpPr>
          <p:cNvPr id="153" name="Google Shape;153;p10"/>
          <p:cNvSpPr/>
          <p:nvPr/>
        </p:nvSpPr>
        <p:spPr>
          <a:xfrm>
            <a:off x="8229600" y="2011680"/>
            <a:ext cx="3200400" cy="1737360"/>
          </a:xfrm>
          <a:prstGeom prst="roundRect">
            <a:avLst>
              <a:gd fmla="val 4737" name="adj"/>
            </a:avLst>
          </a:prstGeom>
          <a:solidFill>
            <a:srgbClr val="F3E1E4"/>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
          <p:cNvSpPr/>
          <p:nvPr/>
        </p:nvSpPr>
        <p:spPr>
          <a:xfrm>
            <a:off x="8412480" y="2286000"/>
            <a:ext cx="2834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800"/>
              <a:buFont typeface="Arial"/>
              <a:buNone/>
            </a:pPr>
            <a:r>
              <a:rPr b="1" i="0" lang="en-US" sz="1800" u="none" cap="none" strike="noStrike">
                <a:solidFill>
                  <a:srgbClr val="7A1420"/>
                </a:solidFill>
                <a:latin typeface="Arial"/>
                <a:ea typeface="Arial"/>
                <a:cs typeface="Arial"/>
                <a:sym typeface="Arial"/>
              </a:rPr>
              <a:t>Problema</a:t>
            </a:r>
            <a:endParaRPr b="0" i="0" sz="1800" u="none" cap="none" strike="noStrike">
              <a:solidFill>
                <a:schemeClr val="dk1"/>
              </a:solidFill>
              <a:latin typeface="Calibri"/>
              <a:ea typeface="Calibri"/>
              <a:cs typeface="Calibri"/>
              <a:sym typeface="Calibri"/>
            </a:endParaRPr>
          </a:p>
        </p:txBody>
      </p:sp>
      <p:sp>
        <p:nvSpPr>
          <p:cNvPr id="155" name="Google Shape;155;p10"/>
          <p:cNvSpPr/>
          <p:nvPr/>
        </p:nvSpPr>
        <p:spPr>
          <a:xfrm>
            <a:off x="8412480" y="2880360"/>
            <a:ext cx="2834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Pregunta de investigación</a:t>
            </a:r>
            <a:endParaRPr b="0" i="0" sz="1400" u="none" cap="none" strike="noStrike">
              <a:solidFill>
                <a:schemeClr val="dk1"/>
              </a:solidFill>
              <a:latin typeface="Calibri"/>
              <a:ea typeface="Calibri"/>
              <a:cs typeface="Calibri"/>
              <a:sym typeface="Calibri"/>
            </a:endParaRPr>
          </a:p>
        </p:txBody>
      </p:sp>
      <p:sp>
        <p:nvSpPr>
          <p:cNvPr id="156" name="Google Shape;156;p10"/>
          <p:cNvSpPr/>
          <p:nvPr/>
        </p:nvSpPr>
        <p:spPr>
          <a:xfrm>
            <a:off x="548640" y="4160520"/>
            <a:ext cx="10972800" cy="1920240"/>
          </a:xfrm>
          <a:prstGeom prst="roundRect">
            <a:avLst>
              <a:gd fmla="val 4286"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0"/>
          <p:cNvSpPr/>
          <p:nvPr/>
        </p:nvSpPr>
        <p:spPr>
          <a:xfrm>
            <a:off x="868680" y="434340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600"/>
              <a:buFont typeface="Arial"/>
              <a:buNone/>
            </a:pPr>
            <a:r>
              <a:rPr b="1" i="0" lang="en-US" sz="1600" u="none" cap="none" strike="noStrike">
                <a:solidFill>
                  <a:srgbClr val="7A1420"/>
                </a:solidFill>
                <a:latin typeface="Arial"/>
                <a:ea typeface="Arial"/>
                <a:cs typeface="Arial"/>
                <a:sym typeface="Arial"/>
              </a:rPr>
              <a:t>Describir la realidad problemática</a:t>
            </a:r>
            <a:endParaRPr b="0" i="0" sz="1600" u="none" cap="none" strike="noStrike">
              <a:solidFill>
                <a:schemeClr val="dk1"/>
              </a:solidFill>
              <a:latin typeface="Calibri"/>
              <a:ea typeface="Calibri"/>
              <a:cs typeface="Calibri"/>
              <a:sym typeface="Calibri"/>
            </a:endParaRPr>
          </a:p>
        </p:txBody>
      </p:sp>
      <p:sp>
        <p:nvSpPr>
          <p:cNvPr id="158" name="Google Shape;158;p10"/>
          <p:cNvSpPr/>
          <p:nvPr/>
        </p:nvSpPr>
        <p:spPr>
          <a:xfrm>
            <a:off x="868680" y="4754880"/>
            <a:ext cx="10149840" cy="12801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Va de lo general a lo específico: contexto → evidencia del problema (datos, cifras) → tu caso concreto.</a:t>
            </a:r>
            <a:br>
              <a:rPr b="0" i="0" lang="en-US" sz="1450" u="none" cap="none" strike="noStrike">
                <a:solidFill>
                  <a:srgbClr val="1F2733"/>
                </a:solidFill>
                <a:latin typeface="Arial"/>
                <a:ea typeface="Arial"/>
                <a:cs typeface="Arial"/>
                <a:sym typeface="Arial"/>
              </a:rPr>
            </a:br>
            <a:r>
              <a:rPr b="0" i="0" lang="en-US" sz="1450" u="none" cap="none" strike="noStrike">
                <a:solidFill>
                  <a:srgbClr val="1F2733"/>
                </a:solidFill>
                <a:latin typeface="Arial"/>
                <a:ea typeface="Arial"/>
                <a:cs typeface="Arial"/>
                <a:sym typeface="Arial"/>
              </a:rPr>
              <a:t>Ejemplo: “Las fallas no planificadas en sistemas ferroviarios generan sobrecostos y riesgos… los métodos tradicionales anticipan poco… en la Línea X no existe un modelo predictivo validado.”</a:t>
            </a:r>
            <a:endParaRPr b="0" i="0" sz="1450" u="none" cap="none" strike="noStrike">
              <a:solidFill>
                <a:schemeClr val="dk1"/>
              </a:solidFill>
              <a:latin typeface="Calibri"/>
              <a:ea typeface="Calibri"/>
              <a:cs typeface="Calibri"/>
              <a:sym typeface="Calibri"/>
            </a:endParaRPr>
          </a:p>
        </p:txBody>
      </p:sp>
      <p:sp>
        <p:nvSpPr>
          <p:cNvPr id="159" name="Google Shape;159;p10"/>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160" name="Google Shape;160;p10"/>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11"/>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B · EL PROBLEMA</a:t>
            </a:r>
            <a:endParaRPr b="0" i="0" sz="1200" u="none" cap="none" strike="noStrike">
              <a:solidFill>
                <a:schemeClr val="dk1"/>
              </a:solidFill>
              <a:latin typeface="Calibri"/>
              <a:ea typeface="Calibri"/>
              <a:cs typeface="Calibri"/>
              <a:sym typeface="Calibri"/>
            </a:endParaRPr>
          </a:p>
        </p:txBody>
      </p:sp>
      <p:sp>
        <p:nvSpPr>
          <p:cNvPr id="167" name="Google Shape;167;p11"/>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Formula tu problema</a:t>
            </a:r>
            <a:endParaRPr b="0" i="0" sz="3000" u="none" cap="none" strike="noStrike">
              <a:solidFill>
                <a:schemeClr val="dk1"/>
              </a:solidFill>
              <a:latin typeface="Calibri"/>
              <a:ea typeface="Calibri"/>
              <a:cs typeface="Calibri"/>
              <a:sym typeface="Calibri"/>
            </a:endParaRPr>
          </a:p>
        </p:txBody>
      </p:sp>
      <p:sp>
        <p:nvSpPr>
          <p:cNvPr id="168" name="Google Shape;168;p11"/>
          <p:cNvSpPr/>
          <p:nvPr/>
        </p:nvSpPr>
        <p:spPr>
          <a:xfrm>
            <a:off x="548640" y="1783080"/>
            <a:ext cx="6766560" cy="4114800"/>
          </a:xfrm>
          <a:prstGeom prst="roundRect">
            <a:avLst>
              <a:gd fmla="val 2000"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
          <p:cNvSpPr/>
          <p:nvPr/>
        </p:nvSpPr>
        <p:spPr>
          <a:xfrm>
            <a:off x="822960" y="196596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Problema general</a:t>
            </a:r>
            <a:endParaRPr b="0" i="0" sz="1500" u="none" cap="none" strike="noStrike">
              <a:solidFill>
                <a:schemeClr val="dk1"/>
              </a:solidFill>
              <a:latin typeface="Calibri"/>
              <a:ea typeface="Calibri"/>
              <a:cs typeface="Calibri"/>
              <a:sym typeface="Calibri"/>
            </a:endParaRPr>
          </a:p>
        </p:txBody>
      </p:sp>
      <p:sp>
        <p:nvSpPr>
          <p:cNvPr id="170" name="Google Shape;170;p11"/>
          <p:cNvSpPr/>
          <p:nvPr/>
        </p:nvSpPr>
        <p:spPr>
          <a:xfrm>
            <a:off x="822960" y="2331720"/>
            <a:ext cx="6309360" cy="10972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500"/>
              <a:buFont typeface="Arial"/>
              <a:buNone/>
            </a:pPr>
            <a:r>
              <a:rPr b="0" i="1" lang="en-US" sz="1500" u="none" cap="none" strike="noStrike">
                <a:solidFill>
                  <a:srgbClr val="1F2733"/>
                </a:solidFill>
                <a:latin typeface="Arial"/>
                <a:ea typeface="Arial"/>
                <a:cs typeface="Arial"/>
                <a:sym typeface="Arial"/>
              </a:rPr>
              <a:t>“¿En qué medida un modelo de deep learning mejora la predicción de fallas en sistemas ferroviarios frente a métodos tradicionales?”</a:t>
            </a:r>
            <a:endParaRPr b="0" i="0" sz="1500" u="none" cap="none" strike="noStrike">
              <a:solidFill>
                <a:schemeClr val="dk1"/>
              </a:solidFill>
              <a:latin typeface="Calibri"/>
              <a:ea typeface="Calibri"/>
              <a:cs typeface="Calibri"/>
              <a:sym typeface="Calibri"/>
            </a:endParaRPr>
          </a:p>
        </p:txBody>
      </p:sp>
      <p:sp>
        <p:nvSpPr>
          <p:cNvPr id="171" name="Google Shape;171;p11"/>
          <p:cNvSpPr/>
          <p:nvPr/>
        </p:nvSpPr>
        <p:spPr>
          <a:xfrm>
            <a:off x="822960" y="352044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Problemas específicos</a:t>
            </a:r>
            <a:endParaRPr b="0" i="0" sz="1500" u="none" cap="none" strike="noStrike">
              <a:solidFill>
                <a:schemeClr val="dk1"/>
              </a:solidFill>
              <a:latin typeface="Calibri"/>
              <a:ea typeface="Calibri"/>
              <a:cs typeface="Calibri"/>
              <a:sym typeface="Calibri"/>
            </a:endParaRPr>
          </a:p>
        </p:txBody>
      </p:sp>
      <p:sp>
        <p:nvSpPr>
          <p:cNvPr id="172" name="Google Shape;172;p11"/>
          <p:cNvSpPr/>
          <p:nvPr/>
        </p:nvSpPr>
        <p:spPr>
          <a:xfrm>
            <a:off x="822960" y="3886200"/>
            <a:ext cx="6309360" cy="1828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¿Qué variables predicen mejor las fallas?</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¿Qué precisión alcanza el modelo?</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¿Cuánta anticipación ofrece frente al método actual?</a:t>
            </a:r>
            <a:endParaRPr b="0" i="0" sz="1400" u="none" cap="none" strike="noStrike">
              <a:solidFill>
                <a:schemeClr val="dk1"/>
              </a:solidFill>
              <a:latin typeface="Calibri"/>
              <a:ea typeface="Calibri"/>
              <a:cs typeface="Calibri"/>
              <a:sym typeface="Calibri"/>
            </a:endParaRPr>
          </a:p>
        </p:txBody>
      </p:sp>
      <p:sp>
        <p:nvSpPr>
          <p:cNvPr id="173" name="Google Shape;173;p11"/>
          <p:cNvSpPr/>
          <p:nvPr/>
        </p:nvSpPr>
        <p:spPr>
          <a:xfrm>
            <a:off x="7498080" y="1783080"/>
            <a:ext cx="4023360" cy="4114800"/>
          </a:xfrm>
          <a:prstGeom prst="roundRect">
            <a:avLst>
              <a:gd fmla="val 2045" name="adj"/>
            </a:avLst>
          </a:prstGeom>
          <a:solidFill>
            <a:srgbClr val="F3E1E4"/>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p:nvPr/>
        </p:nvSpPr>
        <p:spPr>
          <a:xfrm>
            <a:off x="7772400" y="196596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Un buen problema…</a:t>
            </a:r>
            <a:endParaRPr b="0" i="0" sz="1500" u="none" cap="none" strike="noStrike">
              <a:solidFill>
                <a:schemeClr val="dk1"/>
              </a:solidFill>
              <a:latin typeface="Calibri"/>
              <a:ea typeface="Calibri"/>
              <a:cs typeface="Calibri"/>
              <a:sym typeface="Calibri"/>
            </a:endParaRPr>
          </a:p>
        </p:txBody>
      </p:sp>
      <p:sp>
        <p:nvSpPr>
          <p:cNvPr id="175" name="Google Shape;175;p11"/>
          <p:cNvSpPr/>
          <p:nvPr/>
        </p:nvSpPr>
        <p:spPr>
          <a:xfrm>
            <a:off x="7772400" y="2377440"/>
            <a:ext cx="3520440" cy="329184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Es una pregunta clara</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Relaciona variables</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Es acotado y factible</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Es medible / observable</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Nace del vacío, no de una solución</a:t>
            </a:r>
            <a:endParaRPr b="0" i="0" sz="1400" u="none" cap="none" strike="noStrike">
              <a:solidFill>
                <a:schemeClr val="dk1"/>
              </a:solidFill>
              <a:latin typeface="Calibri"/>
              <a:ea typeface="Calibri"/>
              <a:cs typeface="Calibri"/>
              <a:sym typeface="Calibri"/>
            </a:endParaRPr>
          </a:p>
        </p:txBody>
      </p:sp>
      <p:sp>
        <p:nvSpPr>
          <p:cNvPr id="176" name="Google Shape;176;p11"/>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177" name="Google Shape;177;p11"/>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12"/>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B · JUSTIFICACIÓN</a:t>
            </a:r>
            <a:endParaRPr b="0" i="0" sz="1200" u="none" cap="none" strike="noStrike">
              <a:solidFill>
                <a:schemeClr val="dk1"/>
              </a:solidFill>
              <a:latin typeface="Calibri"/>
              <a:ea typeface="Calibri"/>
              <a:cs typeface="Calibri"/>
              <a:sym typeface="Calibri"/>
            </a:endParaRPr>
          </a:p>
        </p:txBody>
      </p:sp>
      <p:sp>
        <p:nvSpPr>
          <p:cNvPr id="184" name="Google Shape;184;p12"/>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Por qué vale la pena</a:t>
            </a:r>
            <a:endParaRPr b="0" i="0" sz="3000" u="none" cap="none" strike="noStrike">
              <a:solidFill>
                <a:schemeClr val="dk1"/>
              </a:solidFill>
              <a:latin typeface="Calibri"/>
              <a:ea typeface="Calibri"/>
              <a:cs typeface="Calibri"/>
              <a:sym typeface="Calibri"/>
            </a:endParaRPr>
          </a:p>
        </p:txBody>
      </p:sp>
      <p:sp>
        <p:nvSpPr>
          <p:cNvPr id="185" name="Google Shape;185;p12"/>
          <p:cNvSpPr/>
          <p:nvPr/>
        </p:nvSpPr>
        <p:spPr>
          <a:xfrm>
            <a:off x="548640" y="1920240"/>
            <a:ext cx="3566160" cy="3108960"/>
          </a:xfrm>
          <a:prstGeom prst="roundRect">
            <a:avLst>
              <a:gd fmla="val 2647"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2"/>
          <p:cNvSpPr/>
          <p:nvPr/>
        </p:nvSpPr>
        <p:spPr>
          <a:xfrm>
            <a:off x="822960" y="2194560"/>
            <a:ext cx="3017520" cy="548640"/>
          </a:xfrm>
          <a:prstGeom prst="roundRect">
            <a:avLst>
              <a:gd fmla="val 13333"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2"/>
          <p:cNvSpPr/>
          <p:nvPr/>
        </p:nvSpPr>
        <p:spPr>
          <a:xfrm>
            <a:off x="822960" y="2194560"/>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Teórica</a:t>
            </a:r>
            <a:endParaRPr b="0" i="0" sz="1700" u="none" cap="none" strike="noStrike">
              <a:solidFill>
                <a:schemeClr val="dk1"/>
              </a:solidFill>
              <a:latin typeface="Calibri"/>
              <a:ea typeface="Calibri"/>
              <a:cs typeface="Calibri"/>
              <a:sym typeface="Calibri"/>
            </a:endParaRPr>
          </a:p>
        </p:txBody>
      </p:sp>
      <p:sp>
        <p:nvSpPr>
          <p:cNvPr id="188" name="Google Shape;188;p12"/>
          <p:cNvSpPr/>
          <p:nvPr/>
        </p:nvSpPr>
        <p:spPr>
          <a:xfrm>
            <a:off x="822960" y="2926080"/>
            <a:ext cx="3017520" cy="19202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Aporta al conocimiento: llena el vacío del estado del arte</a:t>
            </a:r>
            <a:endParaRPr b="0" i="0" sz="1500" u="none" cap="none" strike="noStrike">
              <a:solidFill>
                <a:schemeClr val="dk1"/>
              </a:solidFill>
              <a:latin typeface="Calibri"/>
              <a:ea typeface="Calibri"/>
              <a:cs typeface="Calibri"/>
              <a:sym typeface="Calibri"/>
            </a:endParaRPr>
          </a:p>
        </p:txBody>
      </p:sp>
      <p:sp>
        <p:nvSpPr>
          <p:cNvPr id="189" name="Google Shape;189;p12"/>
          <p:cNvSpPr/>
          <p:nvPr/>
        </p:nvSpPr>
        <p:spPr>
          <a:xfrm>
            <a:off x="4251960" y="1920240"/>
            <a:ext cx="3566160" cy="3108960"/>
          </a:xfrm>
          <a:prstGeom prst="roundRect">
            <a:avLst>
              <a:gd fmla="val 2647"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2"/>
          <p:cNvSpPr/>
          <p:nvPr/>
        </p:nvSpPr>
        <p:spPr>
          <a:xfrm>
            <a:off x="4526280" y="2194560"/>
            <a:ext cx="3017520" cy="548640"/>
          </a:xfrm>
          <a:prstGeom prst="roundRect">
            <a:avLst>
              <a:gd fmla="val 13333" name="adj"/>
            </a:avLst>
          </a:prstGeom>
          <a:solidFill>
            <a:srgbClr val="7A14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2"/>
          <p:cNvSpPr/>
          <p:nvPr/>
        </p:nvSpPr>
        <p:spPr>
          <a:xfrm>
            <a:off x="4526280" y="2194560"/>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Práctica</a:t>
            </a:r>
            <a:endParaRPr b="0" i="0" sz="1700" u="none" cap="none" strike="noStrike">
              <a:solidFill>
                <a:schemeClr val="dk1"/>
              </a:solidFill>
              <a:latin typeface="Calibri"/>
              <a:ea typeface="Calibri"/>
              <a:cs typeface="Calibri"/>
              <a:sym typeface="Calibri"/>
            </a:endParaRPr>
          </a:p>
        </p:txBody>
      </p:sp>
      <p:sp>
        <p:nvSpPr>
          <p:cNvPr id="192" name="Google Shape;192;p12"/>
          <p:cNvSpPr/>
          <p:nvPr/>
        </p:nvSpPr>
        <p:spPr>
          <a:xfrm>
            <a:off x="4526280" y="2926080"/>
            <a:ext cx="3017520" cy="19202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Resuelve un problema real: reduce costos, riesgos o tiempos</a:t>
            </a:r>
            <a:endParaRPr b="0" i="0" sz="1500" u="none" cap="none" strike="noStrike">
              <a:solidFill>
                <a:schemeClr val="dk1"/>
              </a:solidFill>
              <a:latin typeface="Calibri"/>
              <a:ea typeface="Calibri"/>
              <a:cs typeface="Calibri"/>
              <a:sym typeface="Calibri"/>
            </a:endParaRPr>
          </a:p>
        </p:txBody>
      </p:sp>
      <p:sp>
        <p:nvSpPr>
          <p:cNvPr id="193" name="Google Shape;193;p12"/>
          <p:cNvSpPr/>
          <p:nvPr/>
        </p:nvSpPr>
        <p:spPr>
          <a:xfrm>
            <a:off x="7955280" y="1920240"/>
            <a:ext cx="3566160" cy="3108960"/>
          </a:xfrm>
          <a:prstGeom prst="roundRect">
            <a:avLst>
              <a:gd fmla="val 2647"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2"/>
          <p:cNvSpPr/>
          <p:nvPr/>
        </p:nvSpPr>
        <p:spPr>
          <a:xfrm>
            <a:off x="8229600" y="2194560"/>
            <a:ext cx="3017520" cy="548640"/>
          </a:xfrm>
          <a:prstGeom prst="roundRect">
            <a:avLst>
              <a:gd fmla="val 13333" name="adj"/>
            </a:avLst>
          </a:prstGeom>
          <a:solidFill>
            <a:srgbClr val="9B2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2"/>
          <p:cNvSpPr/>
          <p:nvPr/>
        </p:nvSpPr>
        <p:spPr>
          <a:xfrm>
            <a:off x="8229600" y="2194560"/>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Metodológica</a:t>
            </a:r>
            <a:endParaRPr b="0" i="0" sz="1700" u="none" cap="none" strike="noStrike">
              <a:solidFill>
                <a:schemeClr val="dk1"/>
              </a:solidFill>
              <a:latin typeface="Calibri"/>
              <a:ea typeface="Calibri"/>
              <a:cs typeface="Calibri"/>
              <a:sym typeface="Calibri"/>
            </a:endParaRPr>
          </a:p>
        </p:txBody>
      </p:sp>
      <p:sp>
        <p:nvSpPr>
          <p:cNvPr id="196" name="Google Shape;196;p12"/>
          <p:cNvSpPr/>
          <p:nvPr/>
        </p:nvSpPr>
        <p:spPr>
          <a:xfrm>
            <a:off x="8229600" y="2926080"/>
            <a:ext cx="3017520" cy="19202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Propone o valida un método/instrumento reutilizable</a:t>
            </a:r>
            <a:endParaRPr b="0" i="0" sz="1500" u="none" cap="none" strike="noStrike">
              <a:solidFill>
                <a:schemeClr val="dk1"/>
              </a:solidFill>
              <a:latin typeface="Calibri"/>
              <a:ea typeface="Calibri"/>
              <a:cs typeface="Calibri"/>
              <a:sym typeface="Calibri"/>
            </a:endParaRPr>
          </a:p>
        </p:txBody>
      </p:sp>
      <p:sp>
        <p:nvSpPr>
          <p:cNvPr id="197" name="Google Shape;197;p12"/>
          <p:cNvSpPr/>
          <p:nvPr/>
        </p:nvSpPr>
        <p:spPr>
          <a:xfrm>
            <a:off x="548640" y="5257800"/>
            <a:ext cx="10972800" cy="822960"/>
          </a:xfrm>
          <a:prstGeom prst="roundRect">
            <a:avLst>
              <a:gd fmla="val 10000"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2"/>
          <p:cNvSpPr/>
          <p:nvPr/>
        </p:nvSpPr>
        <p:spPr>
          <a:xfrm>
            <a:off x="914400" y="5257800"/>
            <a:ext cx="10241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La importancia responde: ¿a quién beneficia y qué cambia si tu tesis funciona?</a:t>
            </a:r>
            <a:endParaRPr b="0" i="0" sz="1600" u="none" cap="none" strike="noStrike">
              <a:solidFill>
                <a:schemeClr val="dk1"/>
              </a:solidFill>
              <a:latin typeface="Calibri"/>
              <a:ea typeface="Calibri"/>
              <a:cs typeface="Calibri"/>
              <a:sym typeface="Calibri"/>
            </a:endParaRPr>
          </a:p>
        </p:txBody>
      </p:sp>
      <p:sp>
        <p:nvSpPr>
          <p:cNvPr id="199" name="Google Shape;199;p12"/>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200" name="Google Shape;200;p12"/>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3"/>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C · OBJETIVOS</a:t>
            </a:r>
            <a:endParaRPr b="0" i="0" sz="1200" u="none" cap="none" strike="noStrike">
              <a:solidFill>
                <a:schemeClr val="dk1"/>
              </a:solidFill>
              <a:latin typeface="Calibri"/>
              <a:ea typeface="Calibri"/>
              <a:cs typeface="Calibri"/>
              <a:sym typeface="Calibri"/>
            </a:endParaRPr>
          </a:p>
        </p:txBody>
      </p:sp>
      <p:sp>
        <p:nvSpPr>
          <p:cNvPr id="207" name="Google Shape;207;p13"/>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Objetivos: qué vas a lograr</a:t>
            </a:r>
            <a:endParaRPr b="0" i="0" sz="3000" u="none" cap="none" strike="noStrike">
              <a:solidFill>
                <a:schemeClr val="dk1"/>
              </a:solidFill>
              <a:latin typeface="Calibri"/>
              <a:ea typeface="Calibri"/>
              <a:cs typeface="Calibri"/>
              <a:sym typeface="Calibri"/>
            </a:endParaRPr>
          </a:p>
        </p:txBody>
      </p:sp>
      <p:sp>
        <p:nvSpPr>
          <p:cNvPr id="208" name="Google Shape;208;p13"/>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3"/>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25–35 min</a:t>
            </a:r>
            <a:endParaRPr b="0" i="0" sz="1200" u="none" cap="none" strike="noStrike">
              <a:solidFill>
                <a:schemeClr val="dk1"/>
              </a:solidFill>
              <a:latin typeface="Calibri"/>
              <a:ea typeface="Calibri"/>
              <a:cs typeface="Calibri"/>
              <a:sym typeface="Calibri"/>
            </a:endParaRPr>
          </a:p>
        </p:txBody>
      </p:sp>
      <p:sp>
        <p:nvSpPr>
          <p:cNvPr id="210" name="Google Shape;210;p13"/>
          <p:cNvSpPr/>
          <p:nvPr/>
        </p:nvSpPr>
        <p:spPr>
          <a:xfrm>
            <a:off x="548640" y="1783080"/>
            <a:ext cx="6766560" cy="4114800"/>
          </a:xfrm>
          <a:prstGeom prst="roundRect">
            <a:avLst>
              <a:gd fmla="val 2000"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3"/>
          <p:cNvSpPr/>
          <p:nvPr/>
        </p:nvSpPr>
        <p:spPr>
          <a:xfrm>
            <a:off x="822960" y="196596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General (1) y específicos (2–4)</a:t>
            </a:r>
            <a:endParaRPr b="0" i="0" sz="1500" u="none" cap="none" strike="noStrike">
              <a:solidFill>
                <a:schemeClr val="dk1"/>
              </a:solidFill>
              <a:latin typeface="Calibri"/>
              <a:ea typeface="Calibri"/>
              <a:cs typeface="Calibri"/>
              <a:sym typeface="Calibri"/>
            </a:endParaRPr>
          </a:p>
        </p:txBody>
      </p:sp>
      <p:sp>
        <p:nvSpPr>
          <p:cNvPr id="212" name="Google Shape;212;p13"/>
          <p:cNvSpPr/>
          <p:nvPr/>
        </p:nvSpPr>
        <p:spPr>
          <a:xfrm>
            <a:off x="822960" y="2377440"/>
            <a:ext cx="6309360" cy="32918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F2733"/>
              </a:buClr>
              <a:buSzPts val="1400"/>
              <a:buFont typeface="Arial"/>
              <a:buNone/>
            </a:pPr>
            <a:r>
              <a:rPr b="1" i="0" lang="en-US" sz="1400" u="none" cap="none" strike="noStrike">
                <a:solidFill>
                  <a:srgbClr val="1F2733"/>
                </a:solidFill>
                <a:latin typeface="Arial"/>
                <a:ea typeface="Arial"/>
                <a:cs typeface="Arial"/>
                <a:sym typeface="Arial"/>
              </a:rPr>
              <a:t>GEN: Determinar en qué medida un modelo de deep learning mejora la predicción de fallas ferroviarias.</a:t>
            </a:r>
            <a:br>
              <a:rPr b="1"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E1: Identificar las variables predictoras de falla.</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E2: Evaluar la precisión del modelo.</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E3: Comparar la anticipación frente al método actual.</a:t>
            </a:r>
            <a:endParaRPr b="0" i="0" sz="1400" u="none" cap="none" strike="noStrike">
              <a:solidFill>
                <a:schemeClr val="dk1"/>
              </a:solidFill>
              <a:latin typeface="Calibri"/>
              <a:ea typeface="Calibri"/>
              <a:cs typeface="Calibri"/>
              <a:sym typeface="Calibri"/>
            </a:endParaRPr>
          </a:p>
        </p:txBody>
      </p:sp>
      <p:sp>
        <p:nvSpPr>
          <p:cNvPr id="213" name="Google Shape;213;p13"/>
          <p:cNvSpPr/>
          <p:nvPr/>
        </p:nvSpPr>
        <p:spPr>
          <a:xfrm>
            <a:off x="7498080" y="1783080"/>
            <a:ext cx="4023360" cy="4114800"/>
          </a:xfrm>
          <a:prstGeom prst="roundRect">
            <a:avLst>
              <a:gd fmla="val 2045" name="adj"/>
            </a:avLst>
          </a:prstGeom>
          <a:solidFill>
            <a:srgbClr val="F3E1E4"/>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3"/>
          <p:cNvSpPr/>
          <p:nvPr/>
        </p:nvSpPr>
        <p:spPr>
          <a:xfrm>
            <a:off x="7772400" y="196596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Verbos medibles</a:t>
            </a:r>
            <a:endParaRPr b="0" i="0" sz="1500" u="none" cap="none" strike="noStrike">
              <a:solidFill>
                <a:schemeClr val="dk1"/>
              </a:solidFill>
              <a:latin typeface="Calibri"/>
              <a:ea typeface="Calibri"/>
              <a:cs typeface="Calibri"/>
              <a:sym typeface="Calibri"/>
            </a:endParaRPr>
          </a:p>
        </p:txBody>
      </p:sp>
      <p:sp>
        <p:nvSpPr>
          <p:cNvPr id="215" name="Google Shape;215;p13"/>
          <p:cNvSpPr/>
          <p:nvPr/>
        </p:nvSpPr>
        <p:spPr>
          <a:xfrm>
            <a:off x="7772400" y="2377440"/>
            <a:ext cx="3520440" cy="32918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determinar, identificar,</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evaluar, comparar,</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analizar, diseñar,</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establecer, medir</a:t>
            </a:r>
            <a:br>
              <a:rPr b="0" i="0" lang="en-US" sz="1400" u="none" cap="none" strike="noStrike">
                <a:solidFill>
                  <a:srgbClr val="1F2733"/>
                </a:solidFill>
                <a:latin typeface="Arial"/>
                <a:ea typeface="Arial"/>
                <a:cs typeface="Arial"/>
                <a:sym typeface="Arial"/>
              </a:rPr>
            </a:br>
            <a:br>
              <a:rPr b="0" i="0" lang="en-US" sz="1400" u="none" cap="none" strike="noStrike">
                <a:solidFill>
                  <a:srgbClr val="1F2733"/>
                </a:solidFill>
                <a:latin typeface="Arial"/>
                <a:ea typeface="Arial"/>
                <a:cs typeface="Arial"/>
                <a:sym typeface="Arial"/>
              </a:rPr>
            </a:br>
            <a:r>
              <a:rPr b="0" i="1" lang="en-US" sz="1400" u="none" cap="none" strike="noStrike">
                <a:solidFill>
                  <a:srgbClr val="6B7280"/>
                </a:solidFill>
                <a:latin typeface="Arial"/>
                <a:ea typeface="Arial"/>
                <a:cs typeface="Arial"/>
                <a:sym typeface="Arial"/>
              </a:rPr>
              <a:t>Evita: conocer, entender, saber (no se miden).</a:t>
            </a:r>
            <a:endParaRPr b="0" i="0" sz="1400" u="none" cap="none" strike="noStrike">
              <a:solidFill>
                <a:schemeClr val="dk1"/>
              </a:solidFill>
              <a:latin typeface="Calibri"/>
              <a:ea typeface="Calibri"/>
              <a:cs typeface="Calibri"/>
              <a:sym typeface="Calibri"/>
            </a:endParaRPr>
          </a:p>
        </p:txBody>
      </p:sp>
      <p:sp>
        <p:nvSpPr>
          <p:cNvPr id="216" name="Google Shape;216;p13"/>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217" name="Google Shape;217;p13"/>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14"/>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C · HIPÓTESIS</a:t>
            </a:r>
            <a:endParaRPr b="0" i="0" sz="1200" u="none" cap="none" strike="noStrike">
              <a:solidFill>
                <a:schemeClr val="dk1"/>
              </a:solidFill>
              <a:latin typeface="Calibri"/>
              <a:ea typeface="Calibri"/>
              <a:cs typeface="Calibri"/>
              <a:sym typeface="Calibri"/>
            </a:endParaRPr>
          </a:p>
        </p:txBody>
      </p:sp>
      <p:sp>
        <p:nvSpPr>
          <p:cNvPr id="224" name="Google Shape;224;p14"/>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Hipótesis: tu respuesta a comprobar</a:t>
            </a:r>
            <a:endParaRPr b="0" i="0" sz="3000" u="none" cap="none" strike="noStrike">
              <a:solidFill>
                <a:schemeClr val="dk1"/>
              </a:solidFill>
              <a:latin typeface="Calibri"/>
              <a:ea typeface="Calibri"/>
              <a:cs typeface="Calibri"/>
              <a:sym typeface="Calibri"/>
            </a:endParaRPr>
          </a:p>
        </p:txBody>
      </p:sp>
      <p:sp>
        <p:nvSpPr>
          <p:cNvPr id="225" name="Google Shape;225;p14"/>
          <p:cNvSpPr/>
          <p:nvPr/>
        </p:nvSpPr>
        <p:spPr>
          <a:xfrm>
            <a:off x="548640" y="1783080"/>
            <a:ext cx="6766560" cy="4114800"/>
          </a:xfrm>
          <a:prstGeom prst="roundRect">
            <a:avLst>
              <a:gd fmla="val 2000"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
          <p:cNvSpPr/>
          <p:nvPr/>
        </p:nvSpPr>
        <p:spPr>
          <a:xfrm>
            <a:off x="822960" y="196596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General y específicas</a:t>
            </a:r>
            <a:endParaRPr b="0" i="0" sz="1500" u="none" cap="none" strike="noStrike">
              <a:solidFill>
                <a:schemeClr val="dk1"/>
              </a:solidFill>
              <a:latin typeface="Calibri"/>
              <a:ea typeface="Calibri"/>
              <a:cs typeface="Calibri"/>
              <a:sym typeface="Calibri"/>
            </a:endParaRPr>
          </a:p>
        </p:txBody>
      </p:sp>
      <p:sp>
        <p:nvSpPr>
          <p:cNvPr id="227" name="Google Shape;227;p14"/>
          <p:cNvSpPr/>
          <p:nvPr/>
        </p:nvSpPr>
        <p:spPr>
          <a:xfrm>
            <a:off x="822960" y="2377440"/>
            <a:ext cx="6309360" cy="32918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F2733"/>
              </a:buClr>
              <a:buSzPts val="1450"/>
              <a:buFont typeface="Arial"/>
              <a:buNone/>
            </a:pPr>
            <a:r>
              <a:rPr b="1" i="0" lang="en-US" sz="1450" u="none" cap="none" strike="noStrike">
                <a:solidFill>
                  <a:srgbClr val="1F2733"/>
                </a:solidFill>
                <a:latin typeface="Arial"/>
                <a:ea typeface="Arial"/>
                <a:cs typeface="Arial"/>
                <a:sym typeface="Arial"/>
              </a:rPr>
              <a:t>HG: El modelo de deep learning mejora significativamente la predicción de fallas frente a métodos tradicionales.</a:t>
            </a:r>
            <a:br>
              <a:rPr b="1" i="0" lang="en-US" sz="1450" u="none" cap="none" strike="noStrike">
                <a:solidFill>
                  <a:srgbClr val="1F2733"/>
                </a:solidFill>
                <a:latin typeface="Arial"/>
                <a:ea typeface="Arial"/>
                <a:cs typeface="Arial"/>
                <a:sym typeface="Arial"/>
              </a:rPr>
            </a:br>
            <a:r>
              <a:rPr b="0" i="1" lang="en-US" sz="1450" u="none" cap="none" strike="noStrike">
                <a:solidFill>
                  <a:srgbClr val="1F2733"/>
                </a:solidFill>
                <a:latin typeface="Arial"/>
                <a:ea typeface="Arial"/>
                <a:cs typeface="Arial"/>
                <a:sym typeface="Arial"/>
              </a:rPr>
              <a:t>H0 (nula): No hay diferencia significativa.</a:t>
            </a:r>
            <a:br>
              <a:rPr b="0" i="1" lang="en-US" sz="1450" u="none" cap="none" strike="noStrike">
                <a:solidFill>
                  <a:srgbClr val="1F2733"/>
                </a:solidFill>
                <a:latin typeface="Arial"/>
                <a:ea typeface="Arial"/>
                <a:cs typeface="Arial"/>
                <a:sym typeface="Arial"/>
              </a:rPr>
            </a:br>
            <a:r>
              <a:rPr b="0" i="1" lang="en-US" sz="1450" u="none" cap="none" strike="noStrike">
                <a:solidFill>
                  <a:srgbClr val="1F2733"/>
                </a:solidFill>
                <a:latin typeface="Arial"/>
                <a:ea typeface="Arial"/>
                <a:cs typeface="Arial"/>
                <a:sym typeface="Arial"/>
              </a:rPr>
              <a:t>H1 (alterna): Sí hay diferencia significativa.</a:t>
            </a:r>
            <a:endParaRPr b="0" i="0" sz="1450" u="none" cap="none" strike="noStrike">
              <a:solidFill>
                <a:schemeClr val="dk1"/>
              </a:solidFill>
              <a:latin typeface="Calibri"/>
              <a:ea typeface="Calibri"/>
              <a:cs typeface="Calibri"/>
              <a:sym typeface="Calibri"/>
            </a:endParaRPr>
          </a:p>
        </p:txBody>
      </p:sp>
      <p:sp>
        <p:nvSpPr>
          <p:cNvPr id="228" name="Google Shape;228;p14"/>
          <p:cNvSpPr/>
          <p:nvPr/>
        </p:nvSpPr>
        <p:spPr>
          <a:xfrm>
            <a:off x="7498080" y="1783080"/>
            <a:ext cx="4023360" cy="4114800"/>
          </a:xfrm>
          <a:prstGeom prst="roundRect">
            <a:avLst>
              <a:gd fmla="val 2045" name="adj"/>
            </a:avLst>
          </a:prstGeom>
          <a:solidFill>
            <a:srgbClr val="F3E1E4"/>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
          <p:cNvSpPr/>
          <p:nvPr/>
        </p:nvSpPr>
        <p:spPr>
          <a:xfrm>
            <a:off x="7772400" y="196596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Una hipótesis debe…</a:t>
            </a:r>
            <a:endParaRPr b="0" i="0" sz="1500" u="none" cap="none" strike="noStrike">
              <a:solidFill>
                <a:schemeClr val="dk1"/>
              </a:solidFill>
              <a:latin typeface="Calibri"/>
              <a:ea typeface="Calibri"/>
              <a:cs typeface="Calibri"/>
              <a:sym typeface="Calibri"/>
            </a:endParaRPr>
          </a:p>
        </p:txBody>
      </p:sp>
      <p:sp>
        <p:nvSpPr>
          <p:cNvPr id="230" name="Google Shape;230;p14"/>
          <p:cNvSpPr/>
          <p:nvPr/>
        </p:nvSpPr>
        <p:spPr>
          <a:xfrm>
            <a:off x="7772400" y="2377440"/>
            <a:ext cx="3520440" cy="32918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Relacionar variables</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Ser contrastable (medible)</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Poder ser refutada</a:t>
            </a:r>
            <a:br>
              <a:rPr b="0" i="0" lang="en-US" sz="1400" u="none" cap="none" strike="noStrike">
                <a:solidFill>
                  <a:srgbClr val="1F2733"/>
                </a:solidFill>
                <a:latin typeface="Arial"/>
                <a:ea typeface="Arial"/>
                <a:cs typeface="Arial"/>
                <a:sym typeface="Arial"/>
              </a:rPr>
            </a:br>
            <a:r>
              <a:rPr b="0" i="0" lang="en-US" sz="1400" u="none" cap="none" strike="noStrike">
                <a:solidFill>
                  <a:srgbClr val="1F2733"/>
                </a:solidFill>
                <a:latin typeface="Arial"/>
                <a:ea typeface="Arial"/>
                <a:cs typeface="Arial"/>
                <a:sym typeface="Arial"/>
              </a:rPr>
              <a:t>Responder al problema</a:t>
            </a:r>
            <a:br>
              <a:rPr b="0" i="0" lang="en-US" sz="1400" u="none" cap="none" strike="noStrike">
                <a:solidFill>
                  <a:srgbClr val="1F2733"/>
                </a:solidFill>
                <a:latin typeface="Arial"/>
                <a:ea typeface="Arial"/>
                <a:cs typeface="Arial"/>
                <a:sym typeface="Arial"/>
              </a:rPr>
            </a:br>
            <a:br>
              <a:rPr b="0" i="0" lang="en-US" sz="1400" u="none" cap="none" strike="noStrike">
                <a:solidFill>
                  <a:srgbClr val="1F2733"/>
                </a:solidFill>
                <a:latin typeface="Arial"/>
                <a:ea typeface="Arial"/>
                <a:cs typeface="Arial"/>
                <a:sym typeface="Arial"/>
              </a:rPr>
            </a:br>
            <a:r>
              <a:rPr b="0" i="1" lang="en-US" sz="1400" u="none" cap="none" strike="noStrike">
                <a:solidFill>
                  <a:srgbClr val="6B7280"/>
                </a:solidFill>
                <a:latin typeface="Arial"/>
                <a:ea typeface="Arial"/>
                <a:cs typeface="Arial"/>
                <a:sym typeface="Arial"/>
              </a:rPr>
              <a:t>No toda tesis lleva hipótesis: las descriptivas y cualitativas pueden no requerirla.</a:t>
            </a:r>
            <a:endParaRPr b="0" i="0" sz="1400" u="none" cap="none" strike="noStrike">
              <a:solidFill>
                <a:schemeClr val="dk1"/>
              </a:solidFill>
              <a:latin typeface="Calibri"/>
              <a:ea typeface="Calibri"/>
              <a:cs typeface="Calibri"/>
              <a:sym typeface="Calibri"/>
            </a:endParaRPr>
          </a:p>
        </p:txBody>
      </p:sp>
      <p:sp>
        <p:nvSpPr>
          <p:cNvPr id="231" name="Google Shape;231;p14"/>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232" name="Google Shape;232;p14"/>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94B"/>
        </a:solidFill>
      </p:bgPr>
    </p:bg>
    <p:spTree>
      <p:nvGrpSpPr>
        <p:cNvPr id="237" name="Shape 237"/>
        <p:cNvGrpSpPr/>
        <p:nvPr/>
      </p:nvGrpSpPr>
      <p:grpSpPr>
        <a:xfrm>
          <a:off x="0" y="0"/>
          <a:ext cx="0" cy="0"/>
          <a:chOff x="0" y="0"/>
          <a:chExt cx="0" cy="0"/>
        </a:xfrm>
      </p:grpSpPr>
      <p:sp>
        <p:nvSpPr>
          <p:cNvPr id="238" name="Google Shape;238;p15"/>
          <p:cNvSpPr/>
          <p:nvPr/>
        </p:nvSpPr>
        <p:spPr>
          <a:xfrm>
            <a:off x="548640" y="50292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4D0"/>
              </a:buClr>
              <a:buSzPts val="1200"/>
              <a:buFont typeface="Arial"/>
              <a:buNone/>
            </a:pPr>
            <a:r>
              <a:rPr b="1" i="0" lang="en-US" sz="1200" u="none" cap="none" strike="noStrike">
                <a:solidFill>
                  <a:srgbClr val="9FB4D0"/>
                </a:solidFill>
                <a:latin typeface="Arial"/>
                <a:ea typeface="Arial"/>
                <a:cs typeface="Arial"/>
                <a:sym typeface="Arial"/>
              </a:rPr>
              <a:t>BLOQUE C · COHERENCIA</a:t>
            </a:r>
            <a:endParaRPr b="0" i="0" sz="1200" u="none" cap="none" strike="noStrike">
              <a:solidFill>
                <a:schemeClr val="dk1"/>
              </a:solidFill>
              <a:latin typeface="Calibri"/>
              <a:ea typeface="Calibri"/>
              <a:cs typeface="Calibri"/>
              <a:sym typeface="Calibri"/>
            </a:endParaRPr>
          </a:p>
        </p:txBody>
      </p:sp>
      <p:sp>
        <p:nvSpPr>
          <p:cNvPr id="239" name="Google Shape;239;p15"/>
          <p:cNvSpPr/>
          <p:nvPr/>
        </p:nvSpPr>
        <p:spPr>
          <a:xfrm>
            <a:off x="530352" y="82296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Cada pieza responde a la anterior</a:t>
            </a:r>
            <a:endParaRPr b="0" i="0" sz="3000" u="none" cap="none" strike="noStrike">
              <a:solidFill>
                <a:schemeClr val="dk1"/>
              </a:solidFill>
              <a:latin typeface="Calibri"/>
              <a:ea typeface="Calibri"/>
              <a:cs typeface="Calibri"/>
              <a:sym typeface="Calibri"/>
            </a:endParaRPr>
          </a:p>
        </p:txBody>
      </p:sp>
      <p:sp>
        <p:nvSpPr>
          <p:cNvPr id="240" name="Google Shape;240;p15"/>
          <p:cNvSpPr/>
          <p:nvPr/>
        </p:nvSpPr>
        <p:spPr>
          <a:xfrm>
            <a:off x="640080" y="2011680"/>
            <a:ext cx="10881360" cy="1051560"/>
          </a:xfrm>
          <a:prstGeom prst="roundRect">
            <a:avLst>
              <a:gd fmla="val 782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5"/>
          <p:cNvSpPr/>
          <p:nvPr/>
        </p:nvSpPr>
        <p:spPr>
          <a:xfrm>
            <a:off x="868680" y="2011680"/>
            <a:ext cx="23774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Problema</a:t>
            </a:r>
            <a:endParaRPr b="0" i="0" sz="1700" u="none" cap="none" strike="noStrike">
              <a:solidFill>
                <a:schemeClr val="dk1"/>
              </a:solidFill>
              <a:latin typeface="Calibri"/>
              <a:ea typeface="Calibri"/>
              <a:cs typeface="Calibri"/>
              <a:sym typeface="Calibri"/>
            </a:endParaRPr>
          </a:p>
        </p:txBody>
      </p:sp>
      <p:sp>
        <p:nvSpPr>
          <p:cNvPr id="242" name="Google Shape;242;p15"/>
          <p:cNvSpPr/>
          <p:nvPr/>
        </p:nvSpPr>
        <p:spPr>
          <a:xfrm>
            <a:off x="3291840" y="2011680"/>
            <a:ext cx="804672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¿En qué medida el modelo mejora la predicción?</a:t>
            </a:r>
            <a:endParaRPr b="0" i="0" sz="1500" u="none" cap="none" strike="noStrike">
              <a:solidFill>
                <a:schemeClr val="dk1"/>
              </a:solidFill>
              <a:latin typeface="Calibri"/>
              <a:ea typeface="Calibri"/>
              <a:cs typeface="Calibri"/>
              <a:sym typeface="Calibri"/>
            </a:endParaRPr>
          </a:p>
        </p:txBody>
      </p:sp>
      <p:sp>
        <p:nvSpPr>
          <p:cNvPr id="243" name="Google Shape;243;p15"/>
          <p:cNvSpPr/>
          <p:nvPr/>
        </p:nvSpPr>
        <p:spPr>
          <a:xfrm>
            <a:off x="1737360" y="2999232"/>
            <a:ext cx="548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C9CE"/>
              </a:buClr>
              <a:buSzPts val="2000"/>
              <a:buFont typeface="Arial"/>
              <a:buNone/>
            </a:pPr>
            <a:r>
              <a:rPr b="1" i="0" lang="en-US" sz="2000" u="none" cap="none" strike="noStrike">
                <a:solidFill>
                  <a:srgbClr val="F0C9CE"/>
                </a:solidFill>
                <a:latin typeface="Arial"/>
                <a:ea typeface="Arial"/>
                <a:cs typeface="Arial"/>
                <a:sym typeface="Arial"/>
              </a:rPr>
              <a:t>↓</a:t>
            </a:r>
            <a:endParaRPr b="0" i="0" sz="2000" u="none" cap="none" strike="noStrike">
              <a:solidFill>
                <a:schemeClr val="dk1"/>
              </a:solidFill>
              <a:latin typeface="Calibri"/>
              <a:ea typeface="Calibri"/>
              <a:cs typeface="Calibri"/>
              <a:sym typeface="Calibri"/>
            </a:endParaRPr>
          </a:p>
        </p:txBody>
      </p:sp>
      <p:sp>
        <p:nvSpPr>
          <p:cNvPr id="244" name="Google Shape;244;p15"/>
          <p:cNvSpPr/>
          <p:nvPr/>
        </p:nvSpPr>
        <p:spPr>
          <a:xfrm>
            <a:off x="640080" y="3291840"/>
            <a:ext cx="10881360" cy="1051560"/>
          </a:xfrm>
          <a:prstGeom prst="roundRect">
            <a:avLst>
              <a:gd fmla="val 782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868680" y="3291840"/>
            <a:ext cx="23774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Objetivo</a:t>
            </a:r>
            <a:endParaRPr b="0" i="0" sz="1700" u="none" cap="none" strike="noStrike">
              <a:solidFill>
                <a:schemeClr val="dk1"/>
              </a:solidFill>
              <a:latin typeface="Calibri"/>
              <a:ea typeface="Calibri"/>
              <a:cs typeface="Calibri"/>
              <a:sym typeface="Calibri"/>
            </a:endParaRPr>
          </a:p>
        </p:txBody>
      </p:sp>
      <p:sp>
        <p:nvSpPr>
          <p:cNvPr id="246" name="Google Shape;246;p15"/>
          <p:cNvSpPr/>
          <p:nvPr/>
        </p:nvSpPr>
        <p:spPr>
          <a:xfrm>
            <a:off x="3291840" y="3291840"/>
            <a:ext cx="804672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Determinar en qué medida el modelo mejora la predicción</a:t>
            </a:r>
            <a:endParaRPr b="0" i="0" sz="1500" u="none" cap="none" strike="noStrike">
              <a:solidFill>
                <a:schemeClr val="dk1"/>
              </a:solidFill>
              <a:latin typeface="Calibri"/>
              <a:ea typeface="Calibri"/>
              <a:cs typeface="Calibri"/>
              <a:sym typeface="Calibri"/>
            </a:endParaRPr>
          </a:p>
        </p:txBody>
      </p:sp>
      <p:sp>
        <p:nvSpPr>
          <p:cNvPr id="247" name="Google Shape;247;p15"/>
          <p:cNvSpPr/>
          <p:nvPr/>
        </p:nvSpPr>
        <p:spPr>
          <a:xfrm>
            <a:off x="1737360" y="4279392"/>
            <a:ext cx="548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C9CE"/>
              </a:buClr>
              <a:buSzPts val="2000"/>
              <a:buFont typeface="Arial"/>
              <a:buNone/>
            </a:pPr>
            <a:r>
              <a:rPr b="1" i="0" lang="en-US" sz="2000" u="none" cap="none" strike="noStrike">
                <a:solidFill>
                  <a:srgbClr val="F0C9CE"/>
                </a:solidFill>
                <a:latin typeface="Arial"/>
                <a:ea typeface="Arial"/>
                <a:cs typeface="Arial"/>
                <a:sym typeface="Arial"/>
              </a:rPr>
              <a:t>↓</a:t>
            </a:r>
            <a:endParaRPr b="0" i="0" sz="2000" u="none" cap="none" strike="noStrike">
              <a:solidFill>
                <a:schemeClr val="dk1"/>
              </a:solidFill>
              <a:latin typeface="Calibri"/>
              <a:ea typeface="Calibri"/>
              <a:cs typeface="Calibri"/>
              <a:sym typeface="Calibri"/>
            </a:endParaRPr>
          </a:p>
        </p:txBody>
      </p:sp>
      <p:sp>
        <p:nvSpPr>
          <p:cNvPr id="248" name="Google Shape;248;p15"/>
          <p:cNvSpPr/>
          <p:nvPr/>
        </p:nvSpPr>
        <p:spPr>
          <a:xfrm>
            <a:off x="640080" y="4572000"/>
            <a:ext cx="10881360" cy="1051560"/>
          </a:xfrm>
          <a:prstGeom prst="roundRect">
            <a:avLst>
              <a:gd fmla="val 782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868680" y="4572000"/>
            <a:ext cx="23774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Hipótesis</a:t>
            </a:r>
            <a:endParaRPr b="0" i="0" sz="1700" u="none" cap="none" strike="noStrike">
              <a:solidFill>
                <a:schemeClr val="dk1"/>
              </a:solidFill>
              <a:latin typeface="Calibri"/>
              <a:ea typeface="Calibri"/>
              <a:cs typeface="Calibri"/>
              <a:sym typeface="Calibri"/>
            </a:endParaRPr>
          </a:p>
        </p:txBody>
      </p:sp>
      <p:sp>
        <p:nvSpPr>
          <p:cNvPr id="250" name="Google Shape;250;p15"/>
          <p:cNvSpPr/>
          <p:nvPr/>
        </p:nvSpPr>
        <p:spPr>
          <a:xfrm>
            <a:off x="3291840" y="4572000"/>
            <a:ext cx="804672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El modelo mejora significativamente la predicción</a:t>
            </a:r>
            <a:endParaRPr b="0" i="0" sz="1500" u="none" cap="none" strike="noStrike">
              <a:solidFill>
                <a:schemeClr val="dk1"/>
              </a:solidFill>
              <a:latin typeface="Calibri"/>
              <a:ea typeface="Calibri"/>
              <a:cs typeface="Calibri"/>
              <a:sym typeface="Calibri"/>
            </a:endParaRPr>
          </a:p>
        </p:txBody>
      </p:sp>
      <p:sp>
        <p:nvSpPr>
          <p:cNvPr id="251" name="Google Shape;251;p15"/>
          <p:cNvSpPr/>
          <p:nvPr/>
        </p:nvSpPr>
        <p:spPr>
          <a:xfrm>
            <a:off x="640080" y="5943600"/>
            <a:ext cx="10972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D6DA"/>
              </a:buClr>
              <a:buSzPts val="1500"/>
              <a:buFont typeface="Arial"/>
              <a:buNone/>
            </a:pPr>
            <a:r>
              <a:rPr b="0" i="1" lang="en-US" sz="1500" u="none" cap="none" strike="noStrike">
                <a:solidFill>
                  <a:srgbClr val="F3D6DA"/>
                </a:solidFill>
                <a:latin typeface="Arial"/>
                <a:ea typeface="Arial"/>
                <a:cs typeface="Arial"/>
                <a:sym typeface="Arial"/>
              </a:rPr>
              <a:t>Si cambias uno, revisa los otros. La coherencia se verifica de arriba a abajo.</a:t>
            </a:r>
            <a:endParaRPr b="0" i="0" sz="1500" u="none" cap="none" strike="noStrike">
              <a:solidFill>
                <a:schemeClr val="dk1"/>
              </a:solidFill>
              <a:latin typeface="Calibri"/>
              <a:ea typeface="Calibri"/>
              <a:cs typeface="Calibri"/>
              <a:sym typeface="Calibri"/>
            </a:endParaRPr>
          </a:p>
        </p:txBody>
      </p:sp>
      <p:sp>
        <p:nvSpPr>
          <p:cNvPr id="252" name="Google Shape;252;p15"/>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253" name="Google Shape;253;p15"/>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16"/>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D · VARIABLES</a:t>
            </a:r>
            <a:endParaRPr b="0" i="0" sz="1200" u="none" cap="none" strike="noStrike">
              <a:solidFill>
                <a:schemeClr val="dk1"/>
              </a:solidFill>
              <a:latin typeface="Calibri"/>
              <a:ea typeface="Calibri"/>
              <a:cs typeface="Calibri"/>
              <a:sym typeface="Calibri"/>
            </a:endParaRPr>
          </a:p>
        </p:txBody>
      </p:sp>
      <p:sp>
        <p:nvSpPr>
          <p:cNvPr id="260" name="Google Shape;260;p16"/>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Tres papeles de una variable</a:t>
            </a:r>
            <a:endParaRPr b="0" i="0" sz="3000" u="none" cap="none" strike="noStrike">
              <a:solidFill>
                <a:schemeClr val="dk1"/>
              </a:solidFill>
              <a:latin typeface="Calibri"/>
              <a:ea typeface="Calibri"/>
              <a:cs typeface="Calibri"/>
              <a:sym typeface="Calibri"/>
            </a:endParaRPr>
          </a:p>
        </p:txBody>
      </p:sp>
      <p:sp>
        <p:nvSpPr>
          <p:cNvPr id="261" name="Google Shape;261;p16"/>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35–45 min</a:t>
            </a:r>
            <a:endParaRPr b="0" i="0" sz="1200" u="none" cap="none" strike="noStrike">
              <a:solidFill>
                <a:schemeClr val="dk1"/>
              </a:solidFill>
              <a:latin typeface="Calibri"/>
              <a:ea typeface="Calibri"/>
              <a:cs typeface="Calibri"/>
              <a:sym typeface="Calibri"/>
            </a:endParaRPr>
          </a:p>
        </p:txBody>
      </p:sp>
      <p:sp>
        <p:nvSpPr>
          <p:cNvPr id="263" name="Google Shape;263;p16"/>
          <p:cNvSpPr/>
          <p:nvPr/>
        </p:nvSpPr>
        <p:spPr>
          <a:xfrm>
            <a:off x="548640" y="1920240"/>
            <a:ext cx="3566160" cy="3200400"/>
          </a:xfrm>
          <a:prstGeom prst="roundRect">
            <a:avLst>
              <a:gd fmla="val 2571"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822960" y="2194560"/>
            <a:ext cx="3017520" cy="548640"/>
          </a:xfrm>
          <a:prstGeom prst="roundRect">
            <a:avLst>
              <a:gd fmla="val 13333" name="adj"/>
            </a:avLst>
          </a:prstGeom>
          <a:solidFill>
            <a:srgbClr val="7A14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
          <p:cNvSpPr/>
          <p:nvPr/>
        </p:nvSpPr>
        <p:spPr>
          <a:xfrm>
            <a:off x="822960" y="2194560"/>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Independiente</a:t>
            </a:r>
            <a:endParaRPr b="0" i="0" sz="1600" u="none" cap="none" strike="noStrike">
              <a:solidFill>
                <a:schemeClr val="dk1"/>
              </a:solidFill>
              <a:latin typeface="Calibri"/>
              <a:ea typeface="Calibri"/>
              <a:cs typeface="Calibri"/>
              <a:sym typeface="Calibri"/>
            </a:endParaRPr>
          </a:p>
        </p:txBody>
      </p:sp>
      <p:sp>
        <p:nvSpPr>
          <p:cNvPr id="266" name="Google Shape;266;p16"/>
          <p:cNvSpPr/>
          <p:nvPr/>
        </p:nvSpPr>
        <p:spPr>
          <a:xfrm>
            <a:off x="822960" y="2926080"/>
            <a:ext cx="3017520" cy="11887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La causa que manipulas o observas</a:t>
            </a:r>
            <a:endParaRPr b="0" i="0" sz="1450" u="none" cap="none" strike="noStrike">
              <a:solidFill>
                <a:schemeClr val="dk1"/>
              </a:solidFill>
              <a:latin typeface="Calibri"/>
              <a:ea typeface="Calibri"/>
              <a:cs typeface="Calibri"/>
              <a:sym typeface="Calibri"/>
            </a:endParaRPr>
          </a:p>
        </p:txBody>
      </p:sp>
      <p:sp>
        <p:nvSpPr>
          <p:cNvPr id="267" name="Google Shape;267;p16"/>
          <p:cNvSpPr/>
          <p:nvPr/>
        </p:nvSpPr>
        <p:spPr>
          <a:xfrm>
            <a:off x="822960" y="4343400"/>
            <a:ext cx="3017520" cy="594360"/>
          </a:xfrm>
          <a:prstGeom prst="roundRect">
            <a:avLst>
              <a:gd fmla="val 9231" name="adj"/>
            </a:avLst>
          </a:prstGeom>
          <a:solidFill>
            <a:srgbClr val="FFFFFF"/>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
          <p:cNvSpPr/>
          <p:nvPr/>
        </p:nvSpPr>
        <p:spPr>
          <a:xfrm>
            <a:off x="822960" y="4343400"/>
            <a:ext cx="301752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300"/>
              <a:buFont typeface="Arial"/>
              <a:buNone/>
            </a:pPr>
            <a:r>
              <a:rPr b="0" i="1" lang="en-US" sz="1300" u="none" cap="none" strike="noStrike">
                <a:solidFill>
                  <a:srgbClr val="13294B"/>
                </a:solidFill>
                <a:latin typeface="Arial"/>
                <a:ea typeface="Arial"/>
                <a:cs typeface="Arial"/>
                <a:sym typeface="Arial"/>
              </a:rPr>
              <a:t>Tipo de modelo de IA</a:t>
            </a:r>
            <a:endParaRPr b="0" i="0" sz="1300" u="none" cap="none" strike="noStrike">
              <a:solidFill>
                <a:schemeClr val="dk1"/>
              </a:solidFill>
              <a:latin typeface="Calibri"/>
              <a:ea typeface="Calibri"/>
              <a:cs typeface="Calibri"/>
              <a:sym typeface="Calibri"/>
            </a:endParaRPr>
          </a:p>
        </p:txBody>
      </p:sp>
      <p:sp>
        <p:nvSpPr>
          <p:cNvPr id="269" name="Google Shape;269;p16"/>
          <p:cNvSpPr/>
          <p:nvPr/>
        </p:nvSpPr>
        <p:spPr>
          <a:xfrm>
            <a:off x="4251960" y="1920240"/>
            <a:ext cx="3566160" cy="3200400"/>
          </a:xfrm>
          <a:prstGeom prst="roundRect">
            <a:avLst>
              <a:gd fmla="val 2571"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6"/>
          <p:cNvSpPr/>
          <p:nvPr/>
        </p:nvSpPr>
        <p:spPr>
          <a:xfrm>
            <a:off x="4526280" y="2194560"/>
            <a:ext cx="3017520" cy="548640"/>
          </a:xfrm>
          <a:prstGeom prst="roundRect">
            <a:avLst>
              <a:gd fmla="val 13333"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6"/>
          <p:cNvSpPr/>
          <p:nvPr/>
        </p:nvSpPr>
        <p:spPr>
          <a:xfrm>
            <a:off x="4526280" y="2194560"/>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Dependiente</a:t>
            </a:r>
            <a:endParaRPr b="0" i="0" sz="1600" u="none" cap="none" strike="noStrike">
              <a:solidFill>
                <a:schemeClr val="dk1"/>
              </a:solidFill>
              <a:latin typeface="Calibri"/>
              <a:ea typeface="Calibri"/>
              <a:cs typeface="Calibri"/>
              <a:sym typeface="Calibri"/>
            </a:endParaRPr>
          </a:p>
        </p:txBody>
      </p:sp>
      <p:sp>
        <p:nvSpPr>
          <p:cNvPr id="272" name="Google Shape;272;p16"/>
          <p:cNvSpPr/>
          <p:nvPr/>
        </p:nvSpPr>
        <p:spPr>
          <a:xfrm>
            <a:off x="4526280" y="2926080"/>
            <a:ext cx="3017520" cy="11887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El efecto que mides</a:t>
            </a:r>
            <a:endParaRPr b="0" i="0" sz="1450" u="none" cap="none" strike="noStrike">
              <a:solidFill>
                <a:schemeClr val="dk1"/>
              </a:solidFill>
              <a:latin typeface="Calibri"/>
              <a:ea typeface="Calibri"/>
              <a:cs typeface="Calibri"/>
              <a:sym typeface="Calibri"/>
            </a:endParaRPr>
          </a:p>
        </p:txBody>
      </p:sp>
      <p:sp>
        <p:nvSpPr>
          <p:cNvPr id="273" name="Google Shape;273;p16"/>
          <p:cNvSpPr/>
          <p:nvPr/>
        </p:nvSpPr>
        <p:spPr>
          <a:xfrm>
            <a:off x="4526280" y="4343400"/>
            <a:ext cx="3017520" cy="594360"/>
          </a:xfrm>
          <a:prstGeom prst="roundRect">
            <a:avLst>
              <a:gd fmla="val 9231" name="adj"/>
            </a:avLst>
          </a:prstGeom>
          <a:solidFill>
            <a:srgbClr val="FFFFFF"/>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6"/>
          <p:cNvSpPr/>
          <p:nvPr/>
        </p:nvSpPr>
        <p:spPr>
          <a:xfrm>
            <a:off x="4526280" y="4343400"/>
            <a:ext cx="301752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300"/>
              <a:buFont typeface="Arial"/>
              <a:buNone/>
            </a:pPr>
            <a:r>
              <a:rPr b="0" i="1" lang="en-US" sz="1300" u="none" cap="none" strike="noStrike">
                <a:solidFill>
                  <a:srgbClr val="13294B"/>
                </a:solidFill>
                <a:latin typeface="Arial"/>
                <a:ea typeface="Arial"/>
                <a:cs typeface="Arial"/>
                <a:sym typeface="Arial"/>
              </a:rPr>
              <a:t>Precisión de la predicción</a:t>
            </a:r>
            <a:endParaRPr b="0" i="0" sz="1300" u="none" cap="none" strike="noStrike">
              <a:solidFill>
                <a:schemeClr val="dk1"/>
              </a:solidFill>
              <a:latin typeface="Calibri"/>
              <a:ea typeface="Calibri"/>
              <a:cs typeface="Calibri"/>
              <a:sym typeface="Calibri"/>
            </a:endParaRPr>
          </a:p>
        </p:txBody>
      </p:sp>
      <p:sp>
        <p:nvSpPr>
          <p:cNvPr id="275" name="Google Shape;275;p16"/>
          <p:cNvSpPr/>
          <p:nvPr/>
        </p:nvSpPr>
        <p:spPr>
          <a:xfrm>
            <a:off x="7955280" y="1920240"/>
            <a:ext cx="3566160" cy="3200400"/>
          </a:xfrm>
          <a:prstGeom prst="roundRect">
            <a:avLst>
              <a:gd fmla="val 2571"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6"/>
          <p:cNvSpPr/>
          <p:nvPr/>
        </p:nvSpPr>
        <p:spPr>
          <a:xfrm>
            <a:off x="8229600" y="2194560"/>
            <a:ext cx="3017520" cy="548640"/>
          </a:xfrm>
          <a:prstGeom prst="roundRect">
            <a:avLst>
              <a:gd fmla="val 13333" name="adj"/>
            </a:avLst>
          </a:prstGeom>
          <a:solidFill>
            <a:srgbClr val="9B2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6"/>
          <p:cNvSpPr/>
          <p:nvPr/>
        </p:nvSpPr>
        <p:spPr>
          <a:xfrm>
            <a:off x="8229600" y="2194560"/>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Interviniente</a:t>
            </a:r>
            <a:endParaRPr b="0" i="0" sz="1600" u="none" cap="none" strike="noStrike">
              <a:solidFill>
                <a:schemeClr val="dk1"/>
              </a:solidFill>
              <a:latin typeface="Calibri"/>
              <a:ea typeface="Calibri"/>
              <a:cs typeface="Calibri"/>
              <a:sym typeface="Calibri"/>
            </a:endParaRPr>
          </a:p>
        </p:txBody>
      </p:sp>
      <p:sp>
        <p:nvSpPr>
          <p:cNvPr id="278" name="Google Shape;278;p16"/>
          <p:cNvSpPr/>
          <p:nvPr/>
        </p:nvSpPr>
        <p:spPr>
          <a:xfrm>
            <a:off x="8229600" y="2926080"/>
            <a:ext cx="3017520" cy="11887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Influye en la relación</a:t>
            </a:r>
            <a:endParaRPr b="0" i="0" sz="1450" u="none" cap="none" strike="noStrike">
              <a:solidFill>
                <a:schemeClr val="dk1"/>
              </a:solidFill>
              <a:latin typeface="Calibri"/>
              <a:ea typeface="Calibri"/>
              <a:cs typeface="Calibri"/>
              <a:sym typeface="Calibri"/>
            </a:endParaRPr>
          </a:p>
        </p:txBody>
      </p:sp>
      <p:sp>
        <p:nvSpPr>
          <p:cNvPr id="279" name="Google Shape;279;p16"/>
          <p:cNvSpPr/>
          <p:nvPr/>
        </p:nvSpPr>
        <p:spPr>
          <a:xfrm>
            <a:off x="8229600" y="4343400"/>
            <a:ext cx="3017520" cy="594360"/>
          </a:xfrm>
          <a:prstGeom prst="roundRect">
            <a:avLst>
              <a:gd fmla="val 9231" name="adj"/>
            </a:avLst>
          </a:prstGeom>
          <a:solidFill>
            <a:srgbClr val="FFFFFF"/>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8229600" y="4343400"/>
            <a:ext cx="301752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300"/>
              <a:buFont typeface="Arial"/>
              <a:buNone/>
            </a:pPr>
            <a:r>
              <a:rPr b="0" i="1" lang="en-US" sz="1300" u="none" cap="none" strike="noStrike">
                <a:solidFill>
                  <a:srgbClr val="13294B"/>
                </a:solidFill>
                <a:latin typeface="Arial"/>
                <a:ea typeface="Arial"/>
                <a:cs typeface="Arial"/>
                <a:sym typeface="Arial"/>
              </a:rPr>
              <a:t>Calidad de los datos</a:t>
            </a:r>
            <a:endParaRPr b="0" i="0" sz="1300" u="none" cap="none" strike="noStrike">
              <a:solidFill>
                <a:schemeClr val="dk1"/>
              </a:solidFill>
              <a:latin typeface="Calibri"/>
              <a:ea typeface="Calibri"/>
              <a:cs typeface="Calibri"/>
              <a:sym typeface="Calibri"/>
            </a:endParaRPr>
          </a:p>
        </p:txBody>
      </p:sp>
      <p:sp>
        <p:nvSpPr>
          <p:cNvPr id="281" name="Google Shape;281;p16"/>
          <p:cNvSpPr/>
          <p:nvPr/>
        </p:nvSpPr>
        <p:spPr>
          <a:xfrm>
            <a:off x="548640" y="5349240"/>
            <a:ext cx="10972800" cy="731520"/>
          </a:xfrm>
          <a:prstGeom prst="roundRect">
            <a:avLst>
              <a:gd fmla="val 11250"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6"/>
          <p:cNvSpPr/>
          <p:nvPr/>
        </p:nvSpPr>
        <p:spPr>
          <a:xfrm>
            <a:off x="914400" y="5349240"/>
            <a:ext cx="102412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En una hipótesis: la independiente ‘actúa sobre’ la dependiente. Nómbralas antes de operacionalizar.</a:t>
            </a:r>
            <a:endParaRPr b="0" i="0" sz="1500" u="none" cap="none" strike="noStrike">
              <a:solidFill>
                <a:schemeClr val="dk1"/>
              </a:solidFill>
              <a:latin typeface="Calibri"/>
              <a:ea typeface="Calibri"/>
              <a:cs typeface="Calibri"/>
              <a:sym typeface="Calibri"/>
            </a:endParaRPr>
          </a:p>
        </p:txBody>
      </p:sp>
      <p:sp>
        <p:nvSpPr>
          <p:cNvPr id="283" name="Google Shape;283;p16"/>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284" name="Google Shape;284;p16"/>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7"/>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D · VARIABLES</a:t>
            </a:r>
            <a:endParaRPr b="0" i="0" sz="1200" u="none" cap="none" strike="noStrike">
              <a:solidFill>
                <a:schemeClr val="dk1"/>
              </a:solidFill>
              <a:latin typeface="Calibri"/>
              <a:ea typeface="Calibri"/>
              <a:cs typeface="Calibri"/>
              <a:sym typeface="Calibri"/>
            </a:endParaRPr>
          </a:p>
        </p:txBody>
      </p:sp>
      <p:sp>
        <p:nvSpPr>
          <p:cNvPr id="291" name="Google Shape;291;p17"/>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De concepto a medida</a:t>
            </a:r>
            <a:endParaRPr b="0" i="0" sz="3000" u="none" cap="none" strike="noStrike">
              <a:solidFill>
                <a:schemeClr val="dk1"/>
              </a:solidFill>
              <a:latin typeface="Calibri"/>
              <a:ea typeface="Calibri"/>
              <a:cs typeface="Calibri"/>
              <a:sym typeface="Calibri"/>
            </a:endParaRPr>
          </a:p>
        </p:txBody>
      </p:sp>
      <p:sp>
        <p:nvSpPr>
          <p:cNvPr id="292" name="Google Shape;292;p17"/>
          <p:cNvSpPr/>
          <p:nvPr/>
        </p:nvSpPr>
        <p:spPr>
          <a:xfrm>
            <a:off x="548640" y="1920240"/>
            <a:ext cx="5440680" cy="3291840"/>
          </a:xfrm>
          <a:prstGeom prst="roundRect">
            <a:avLst>
              <a:gd fmla="val 2500"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7"/>
          <p:cNvSpPr/>
          <p:nvPr/>
        </p:nvSpPr>
        <p:spPr>
          <a:xfrm>
            <a:off x="868680" y="2148840"/>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1600"/>
              <a:buFont typeface="Arial"/>
              <a:buNone/>
            </a:pPr>
            <a:r>
              <a:rPr b="1" i="0" lang="en-US" sz="1600" u="none" cap="none" strike="noStrike">
                <a:solidFill>
                  <a:srgbClr val="13294B"/>
                </a:solidFill>
                <a:latin typeface="Arial"/>
                <a:ea typeface="Arial"/>
                <a:cs typeface="Arial"/>
                <a:sym typeface="Arial"/>
              </a:rPr>
              <a:t>Definición conceptual</a:t>
            </a:r>
            <a:endParaRPr b="0" i="0" sz="1600" u="none" cap="none" strike="noStrike">
              <a:solidFill>
                <a:schemeClr val="dk1"/>
              </a:solidFill>
              <a:latin typeface="Calibri"/>
              <a:ea typeface="Calibri"/>
              <a:cs typeface="Calibri"/>
              <a:sym typeface="Calibri"/>
            </a:endParaRPr>
          </a:p>
        </p:txBody>
      </p:sp>
      <p:sp>
        <p:nvSpPr>
          <p:cNvPr id="294" name="Google Shape;294;p17"/>
          <p:cNvSpPr/>
          <p:nvPr/>
        </p:nvSpPr>
        <p:spPr>
          <a:xfrm>
            <a:off x="868680" y="2606040"/>
            <a:ext cx="4846320" cy="23774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Qué ES la variable, según la teoría.</a:t>
            </a:r>
            <a:endParaRPr b="0" i="0" sz="15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Ej: ‘Precisión de la predicción’ = grado en que el modelo acierta las fallas reales.</a:t>
            </a:r>
            <a:endParaRPr b="0" i="0" sz="1500" u="none" cap="none" strike="noStrike">
              <a:solidFill>
                <a:schemeClr val="dk1"/>
              </a:solidFill>
              <a:latin typeface="Calibri"/>
              <a:ea typeface="Calibri"/>
              <a:cs typeface="Calibri"/>
              <a:sym typeface="Calibri"/>
            </a:endParaRPr>
          </a:p>
        </p:txBody>
      </p:sp>
      <p:sp>
        <p:nvSpPr>
          <p:cNvPr id="295" name="Google Shape;295;p17"/>
          <p:cNvSpPr/>
          <p:nvPr/>
        </p:nvSpPr>
        <p:spPr>
          <a:xfrm>
            <a:off x="6172200" y="1920240"/>
            <a:ext cx="5440680" cy="3291840"/>
          </a:xfrm>
          <a:prstGeom prst="roundRect">
            <a:avLst>
              <a:gd fmla="val 2500" name="adj"/>
            </a:avLst>
          </a:prstGeom>
          <a:solidFill>
            <a:srgbClr val="E7F0E9"/>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7"/>
          <p:cNvSpPr/>
          <p:nvPr/>
        </p:nvSpPr>
        <p:spPr>
          <a:xfrm>
            <a:off x="6492240" y="2148840"/>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600"/>
              <a:buFont typeface="Arial"/>
              <a:buNone/>
            </a:pPr>
            <a:r>
              <a:rPr b="1" i="0" lang="en-US" sz="1600" u="none" cap="none" strike="noStrike">
                <a:solidFill>
                  <a:srgbClr val="2E7D32"/>
                </a:solidFill>
                <a:latin typeface="Arial"/>
                <a:ea typeface="Arial"/>
                <a:cs typeface="Arial"/>
                <a:sym typeface="Arial"/>
              </a:rPr>
              <a:t>Definición operacional</a:t>
            </a:r>
            <a:endParaRPr b="0" i="0" sz="1600" u="none" cap="none" strike="noStrike">
              <a:solidFill>
                <a:schemeClr val="dk1"/>
              </a:solidFill>
              <a:latin typeface="Calibri"/>
              <a:ea typeface="Calibri"/>
              <a:cs typeface="Calibri"/>
              <a:sym typeface="Calibri"/>
            </a:endParaRPr>
          </a:p>
        </p:txBody>
      </p:sp>
      <p:sp>
        <p:nvSpPr>
          <p:cNvPr id="297" name="Google Shape;297;p17"/>
          <p:cNvSpPr/>
          <p:nvPr/>
        </p:nvSpPr>
        <p:spPr>
          <a:xfrm>
            <a:off x="6492240" y="2606040"/>
            <a:ext cx="4846320" cy="23774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Cómo se MIDE en la práctica.</a:t>
            </a:r>
            <a:endParaRPr b="0" i="0" sz="15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Ej: accuracy, AUC-ROC y F1-score calculados sobre el conjunto de prueba.</a:t>
            </a:r>
            <a:endParaRPr b="0" i="0" sz="1500" u="none" cap="none" strike="noStrike">
              <a:solidFill>
                <a:schemeClr val="dk1"/>
              </a:solidFill>
              <a:latin typeface="Calibri"/>
              <a:ea typeface="Calibri"/>
              <a:cs typeface="Calibri"/>
              <a:sym typeface="Calibri"/>
            </a:endParaRPr>
          </a:p>
        </p:txBody>
      </p:sp>
      <p:sp>
        <p:nvSpPr>
          <p:cNvPr id="298" name="Google Shape;298;p17"/>
          <p:cNvSpPr/>
          <p:nvPr/>
        </p:nvSpPr>
        <p:spPr>
          <a:xfrm>
            <a:off x="548640" y="5440680"/>
            <a:ext cx="10972800" cy="685800"/>
          </a:xfrm>
          <a:prstGeom prst="roundRect">
            <a:avLst>
              <a:gd fmla="val 12000"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7"/>
          <p:cNvSpPr/>
          <p:nvPr/>
        </p:nvSpPr>
        <p:spPr>
          <a:xfrm>
            <a:off x="914400" y="5440680"/>
            <a:ext cx="102412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Sin definición operacional no hay medición — y sin medición no hay resultados que contrastar.</a:t>
            </a:r>
            <a:endParaRPr b="0" i="0" sz="1600" u="none" cap="none" strike="noStrike">
              <a:solidFill>
                <a:schemeClr val="dk1"/>
              </a:solidFill>
              <a:latin typeface="Calibri"/>
              <a:ea typeface="Calibri"/>
              <a:cs typeface="Calibri"/>
              <a:sym typeface="Calibri"/>
            </a:endParaRPr>
          </a:p>
        </p:txBody>
      </p:sp>
      <p:sp>
        <p:nvSpPr>
          <p:cNvPr id="300" name="Google Shape;300;p17"/>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301" name="Google Shape;301;p17"/>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p18"/>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D · OPERACIONALIZACIÓN</a:t>
            </a:r>
            <a:endParaRPr b="0" i="0" sz="1200" u="none" cap="none" strike="noStrike">
              <a:solidFill>
                <a:schemeClr val="dk1"/>
              </a:solidFill>
              <a:latin typeface="Calibri"/>
              <a:ea typeface="Calibri"/>
              <a:cs typeface="Calibri"/>
              <a:sym typeface="Calibri"/>
            </a:endParaRPr>
          </a:p>
        </p:txBody>
      </p:sp>
      <p:sp>
        <p:nvSpPr>
          <p:cNvPr id="308" name="Google Shape;308;p18"/>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La tabla de operacionalización</a:t>
            </a:r>
            <a:endParaRPr b="0" i="0" sz="3000" u="none" cap="none" strike="noStrike">
              <a:solidFill>
                <a:schemeClr val="dk1"/>
              </a:solidFill>
              <a:latin typeface="Calibri"/>
              <a:ea typeface="Calibri"/>
              <a:cs typeface="Calibri"/>
              <a:sym typeface="Calibri"/>
            </a:endParaRPr>
          </a:p>
        </p:txBody>
      </p:sp>
      <p:graphicFrame>
        <p:nvGraphicFramePr>
          <p:cNvPr id="309" name="Google Shape;309;p18"/>
          <p:cNvGraphicFramePr/>
          <p:nvPr/>
        </p:nvGraphicFramePr>
        <p:xfrm>
          <a:off x="548640" y="1828800"/>
          <a:ext cx="3000000" cy="3000000"/>
        </p:xfrm>
        <a:graphic>
          <a:graphicData uri="http://schemas.openxmlformats.org/drawingml/2006/table">
            <a:tbl>
              <a:tblPr>
                <a:noFill/>
                <a:tableStyleId>{F5B28B69-83B9-4011-893D-7A6920768182}</a:tableStyleId>
              </a:tblPr>
              <a:tblGrid>
                <a:gridCol w="1737350"/>
                <a:gridCol w="1920250"/>
                <a:gridCol w="1920250"/>
                <a:gridCol w="2011675"/>
                <a:gridCol w="1856225"/>
                <a:gridCol w="1645925"/>
              </a:tblGrid>
              <a:tr h="822950">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Variable</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13294B"/>
                    </a:solidFill>
                  </a:tcPr>
                </a:tc>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Def. conceptual</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13294B"/>
                    </a:solidFill>
                  </a:tcPr>
                </a:tc>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Def. operacional</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13294B"/>
                    </a:solidFill>
                  </a:tcPr>
                </a:tc>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Dimensiones</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13294B"/>
                    </a:solidFill>
                  </a:tcPr>
                </a:tc>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Indicadores</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13294B"/>
                    </a:solidFill>
                  </a:tcPr>
                </a:tc>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Escala</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13294B"/>
                    </a:solidFill>
                  </a:tcPr>
                </a:tc>
              </a:tr>
              <a:tr h="914400">
                <a:tc>
                  <a:txBody>
                    <a:bodyPr/>
                    <a:lstStyle/>
                    <a:p>
                      <a:pPr indent="0" lvl="0" marL="0" marR="0" rtl="0" algn="l">
                        <a:spcBef>
                          <a:spcPts val="0"/>
                        </a:spcBef>
                        <a:spcAft>
                          <a:spcPts val="0"/>
                        </a:spcAft>
                        <a:buClr>
                          <a:srgbClr val="1F2733"/>
                        </a:buClr>
                        <a:buSzPts val="1200"/>
                        <a:buFont typeface="Arial"/>
                        <a:buNone/>
                      </a:pPr>
                      <a:r>
                        <a:rPr lang="en-US" sz="1200" u="none" cap="none" strike="noStrike">
                          <a:solidFill>
                            <a:srgbClr val="1F2733"/>
                          </a:solidFill>
                          <a:latin typeface="Arial"/>
                          <a:ea typeface="Arial"/>
                          <a:cs typeface="Arial"/>
                          <a:sym typeface="Arial"/>
                        </a:rPr>
                        <a:t>Precisión (dep.)</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EDEFF2"/>
                    </a:solidFill>
                  </a:tcPr>
                </a:tc>
                <a:tc>
                  <a:txBody>
                    <a:bodyPr/>
                    <a:lstStyle/>
                    <a:p>
                      <a:pPr indent="0" lvl="0" marL="0" marR="0" rtl="0" algn="l">
                        <a:spcBef>
                          <a:spcPts val="0"/>
                        </a:spcBef>
                        <a:spcAft>
                          <a:spcPts val="0"/>
                        </a:spcAft>
                        <a:buClr>
                          <a:srgbClr val="1F2733"/>
                        </a:buClr>
                        <a:buSzPts val="1200"/>
                        <a:buFont typeface="Arial"/>
                        <a:buNone/>
                      </a:pPr>
                      <a:r>
                        <a:rPr lang="en-US" sz="1200" u="none" cap="none" strike="noStrike">
                          <a:solidFill>
                            <a:srgbClr val="1F2733"/>
                          </a:solidFill>
                          <a:latin typeface="Arial"/>
                          <a:ea typeface="Arial"/>
                          <a:cs typeface="Arial"/>
                          <a:sym typeface="Arial"/>
                        </a:rPr>
                        <a:t>Grado de acierto</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EDEFF2"/>
                    </a:solidFill>
                  </a:tcPr>
                </a:tc>
                <a:tc>
                  <a:txBody>
                    <a:bodyPr/>
                    <a:lstStyle/>
                    <a:p>
                      <a:pPr indent="0" lvl="0" marL="0" marR="0" rtl="0" algn="l">
                        <a:spcBef>
                          <a:spcPts val="0"/>
                        </a:spcBef>
                        <a:spcAft>
                          <a:spcPts val="0"/>
                        </a:spcAft>
                        <a:buClr>
                          <a:srgbClr val="1F2733"/>
                        </a:buClr>
                        <a:buSzPts val="1200"/>
                        <a:buFont typeface="Arial"/>
                        <a:buNone/>
                      </a:pPr>
                      <a:r>
                        <a:rPr lang="en-US" sz="1200" u="none" cap="none" strike="noStrike">
                          <a:solidFill>
                            <a:srgbClr val="1F2733"/>
                          </a:solidFill>
                          <a:latin typeface="Arial"/>
                          <a:ea typeface="Arial"/>
                          <a:cs typeface="Arial"/>
                          <a:sym typeface="Arial"/>
                        </a:rPr>
                        <a:t>Métricas sobre test</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EDEFF2"/>
                    </a:solidFill>
                  </a:tcPr>
                </a:tc>
                <a:tc>
                  <a:txBody>
                    <a:bodyPr/>
                    <a:lstStyle/>
                    <a:p>
                      <a:pPr indent="0" lvl="0" marL="0" marR="0" rtl="0" algn="l">
                        <a:spcBef>
                          <a:spcPts val="0"/>
                        </a:spcBef>
                        <a:spcAft>
                          <a:spcPts val="0"/>
                        </a:spcAft>
                        <a:buClr>
                          <a:srgbClr val="1F2733"/>
                        </a:buClr>
                        <a:buSzPts val="1200"/>
                        <a:buFont typeface="Arial"/>
                        <a:buNone/>
                      </a:pPr>
                      <a:r>
                        <a:rPr lang="en-US" sz="1200" u="none" cap="none" strike="noStrike">
                          <a:solidFill>
                            <a:srgbClr val="1F2733"/>
                          </a:solidFill>
                          <a:latin typeface="Arial"/>
                          <a:ea typeface="Arial"/>
                          <a:cs typeface="Arial"/>
                          <a:sym typeface="Arial"/>
                        </a:rPr>
                        <a:t>Exactitud; discriminación</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EDEFF2"/>
                    </a:solidFill>
                  </a:tcPr>
                </a:tc>
                <a:tc>
                  <a:txBody>
                    <a:bodyPr/>
                    <a:lstStyle/>
                    <a:p>
                      <a:pPr indent="0" lvl="0" marL="0" marR="0" rtl="0" algn="l">
                        <a:spcBef>
                          <a:spcPts val="0"/>
                        </a:spcBef>
                        <a:spcAft>
                          <a:spcPts val="0"/>
                        </a:spcAft>
                        <a:buClr>
                          <a:srgbClr val="1F2733"/>
                        </a:buClr>
                        <a:buSzPts val="1200"/>
                        <a:buFont typeface="Arial"/>
                        <a:buNone/>
                      </a:pPr>
                      <a:r>
                        <a:rPr lang="en-US" sz="1200" u="none" cap="none" strike="noStrike">
                          <a:solidFill>
                            <a:srgbClr val="1F2733"/>
                          </a:solidFill>
                          <a:latin typeface="Arial"/>
                          <a:ea typeface="Arial"/>
                          <a:cs typeface="Arial"/>
                          <a:sym typeface="Arial"/>
                        </a:rPr>
                        <a:t>accuracy; AUC; F1</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EDEFF2"/>
                    </a:solidFill>
                  </a:tcPr>
                </a:tc>
                <a:tc>
                  <a:txBody>
                    <a:bodyPr/>
                    <a:lstStyle/>
                    <a:p>
                      <a:pPr indent="0" lvl="0" marL="0" marR="0" rtl="0" algn="l">
                        <a:spcBef>
                          <a:spcPts val="0"/>
                        </a:spcBef>
                        <a:spcAft>
                          <a:spcPts val="0"/>
                        </a:spcAft>
                        <a:buClr>
                          <a:srgbClr val="1F2733"/>
                        </a:buClr>
                        <a:buSzPts val="1200"/>
                        <a:buFont typeface="Arial"/>
                        <a:buNone/>
                      </a:pPr>
                      <a:r>
                        <a:rPr lang="en-US" sz="1200" u="none" cap="none" strike="noStrike">
                          <a:solidFill>
                            <a:srgbClr val="1F2733"/>
                          </a:solidFill>
                          <a:latin typeface="Arial"/>
                          <a:ea typeface="Arial"/>
                          <a:cs typeface="Arial"/>
                          <a:sym typeface="Arial"/>
                        </a:rPr>
                        <a:t>Razón (0–1)</a:t>
                      </a:r>
                      <a:endParaRPr sz="1200" u="none" cap="none" strike="noStrike">
                        <a:latin typeface="Arial"/>
                        <a:ea typeface="Arial"/>
                        <a:cs typeface="Arial"/>
                        <a:sym typeface="Arial"/>
                      </a:endParaRPr>
                    </a:p>
                  </a:txBody>
                  <a:tcPr marT="38100" marB="38100" marR="63500" marL="63500" anchor="ctr">
                    <a:lnL cap="flat" cmpd="sng" w="12700">
                      <a:solidFill>
                        <a:srgbClr val="DDE2E8"/>
                      </a:solidFill>
                      <a:prstDash val="solid"/>
                      <a:round/>
                      <a:headEnd len="sm" w="sm" type="none"/>
                      <a:tailEnd len="sm" w="sm" type="none"/>
                    </a:lnL>
                    <a:lnR cap="flat" cmpd="sng" w="12700">
                      <a:solidFill>
                        <a:srgbClr val="DDE2E8"/>
                      </a:solidFill>
                      <a:prstDash val="solid"/>
                      <a:round/>
                      <a:headEnd len="sm" w="sm" type="none"/>
                      <a:tailEnd len="sm" w="sm" type="none"/>
                    </a:lnR>
                    <a:lnT cap="flat" cmpd="sng" w="12700">
                      <a:solidFill>
                        <a:srgbClr val="DDE2E8"/>
                      </a:solidFill>
                      <a:prstDash val="solid"/>
                      <a:round/>
                      <a:headEnd len="sm" w="sm" type="none"/>
                      <a:tailEnd len="sm" w="sm" type="none"/>
                    </a:lnT>
                    <a:lnB cap="flat" cmpd="sng" w="12700">
                      <a:solidFill>
                        <a:srgbClr val="DDE2E8"/>
                      </a:solidFill>
                      <a:prstDash val="solid"/>
                      <a:round/>
                      <a:headEnd len="sm" w="sm" type="none"/>
                      <a:tailEnd len="sm" w="sm" type="none"/>
                    </a:lnB>
                    <a:solidFill>
                      <a:srgbClr val="EDEFF2"/>
                    </a:solidFill>
                  </a:tcPr>
                </a:tc>
              </a:tr>
            </a:tbl>
          </a:graphicData>
        </a:graphic>
      </p:graphicFrame>
      <p:sp>
        <p:nvSpPr>
          <p:cNvPr id="310" name="Google Shape;310;p18"/>
          <p:cNvSpPr/>
          <p:nvPr/>
        </p:nvSpPr>
        <p:spPr>
          <a:xfrm>
            <a:off x="548640" y="3977640"/>
            <a:ext cx="10972800" cy="2011680"/>
          </a:xfrm>
          <a:prstGeom prst="roundRect">
            <a:avLst>
              <a:gd fmla="val 4091" name="adj"/>
            </a:avLst>
          </a:prstGeom>
          <a:solidFill>
            <a:srgbClr val="F3E1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8"/>
          <p:cNvSpPr/>
          <p:nvPr/>
        </p:nvSpPr>
        <p:spPr>
          <a:xfrm>
            <a:off x="914400" y="3977640"/>
            <a:ext cx="10241280" cy="2011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Es el Anexo B de tu TSP.  </a:t>
            </a:r>
            <a:endParaRPr b="0" i="0" sz="17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1700"/>
              <a:buFont typeface="Calibri"/>
              <a:buNone/>
            </a:pPr>
            <a:r>
              <a:t/>
            </a:r>
            <a:endParaRPr b="0" i="0" sz="17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Cada variable se descompone en dimensiones e indicadores medibles con su escala (nominal, ordinal, intervalo, razón). Los indicadores serán, más adelante, tus instrumentos de recolección.</a:t>
            </a:r>
            <a:endParaRPr b="0" i="0" sz="1700" u="none" cap="none" strike="noStrike">
              <a:solidFill>
                <a:schemeClr val="dk1"/>
              </a:solidFill>
              <a:latin typeface="Calibri"/>
              <a:ea typeface="Calibri"/>
              <a:cs typeface="Calibri"/>
              <a:sym typeface="Calibri"/>
            </a:endParaRPr>
          </a:p>
        </p:txBody>
      </p:sp>
      <p:sp>
        <p:nvSpPr>
          <p:cNvPr id="312" name="Google Shape;312;p18"/>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313" name="Google Shape;313;p18"/>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19"/>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E · DISEÑO</a:t>
            </a:r>
            <a:endParaRPr b="0" i="0" sz="1200" u="none" cap="none" strike="noStrike">
              <a:solidFill>
                <a:schemeClr val="dk1"/>
              </a:solidFill>
              <a:latin typeface="Calibri"/>
              <a:ea typeface="Calibri"/>
              <a:cs typeface="Calibri"/>
              <a:sym typeface="Calibri"/>
            </a:endParaRPr>
          </a:p>
        </p:txBody>
      </p:sp>
      <p:sp>
        <p:nvSpPr>
          <p:cNvPr id="320" name="Google Shape;320;p19"/>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Enfoque de tu investigación</a:t>
            </a:r>
            <a:endParaRPr b="0" i="0" sz="3000" u="none" cap="none" strike="noStrike">
              <a:solidFill>
                <a:schemeClr val="dk1"/>
              </a:solidFill>
              <a:latin typeface="Calibri"/>
              <a:ea typeface="Calibri"/>
              <a:cs typeface="Calibri"/>
              <a:sym typeface="Calibri"/>
            </a:endParaRPr>
          </a:p>
        </p:txBody>
      </p:sp>
      <p:sp>
        <p:nvSpPr>
          <p:cNvPr id="321" name="Google Shape;321;p19"/>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9"/>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45–55 min</a:t>
            </a:r>
            <a:endParaRPr b="0" i="0" sz="1200" u="none" cap="none" strike="noStrike">
              <a:solidFill>
                <a:schemeClr val="dk1"/>
              </a:solidFill>
              <a:latin typeface="Calibri"/>
              <a:ea typeface="Calibri"/>
              <a:cs typeface="Calibri"/>
              <a:sym typeface="Calibri"/>
            </a:endParaRPr>
          </a:p>
        </p:txBody>
      </p:sp>
      <p:sp>
        <p:nvSpPr>
          <p:cNvPr id="323" name="Google Shape;323;p19"/>
          <p:cNvSpPr/>
          <p:nvPr/>
        </p:nvSpPr>
        <p:spPr>
          <a:xfrm>
            <a:off x="548640" y="2011680"/>
            <a:ext cx="3566160" cy="2926080"/>
          </a:xfrm>
          <a:prstGeom prst="roundRect">
            <a:avLst>
              <a:gd fmla="val 2813"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9"/>
          <p:cNvSpPr/>
          <p:nvPr/>
        </p:nvSpPr>
        <p:spPr>
          <a:xfrm>
            <a:off x="822960" y="2286000"/>
            <a:ext cx="3017520" cy="548640"/>
          </a:xfrm>
          <a:prstGeom prst="roundRect">
            <a:avLst>
              <a:gd fmla="val 13333" name="adj"/>
            </a:avLst>
          </a:prstGeom>
          <a:solidFill>
            <a:srgbClr val="7A14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9"/>
          <p:cNvSpPr/>
          <p:nvPr/>
        </p:nvSpPr>
        <p:spPr>
          <a:xfrm>
            <a:off x="822960" y="2286000"/>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Cuantitativo</a:t>
            </a:r>
            <a:endParaRPr b="0" i="0" sz="1700" u="none" cap="none" strike="noStrike">
              <a:solidFill>
                <a:schemeClr val="dk1"/>
              </a:solidFill>
              <a:latin typeface="Calibri"/>
              <a:ea typeface="Calibri"/>
              <a:cs typeface="Calibri"/>
              <a:sym typeface="Calibri"/>
            </a:endParaRPr>
          </a:p>
        </p:txBody>
      </p:sp>
      <p:sp>
        <p:nvSpPr>
          <p:cNvPr id="326" name="Google Shape;326;p19"/>
          <p:cNvSpPr/>
          <p:nvPr/>
        </p:nvSpPr>
        <p:spPr>
          <a:xfrm>
            <a:off x="822960" y="3017520"/>
            <a:ext cx="3017520" cy="1828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Mide variables y contrasta hipótesis con datos numéricos</a:t>
            </a:r>
            <a:endParaRPr b="0" i="0" sz="1500" u="none" cap="none" strike="noStrike">
              <a:solidFill>
                <a:schemeClr val="dk1"/>
              </a:solidFill>
              <a:latin typeface="Calibri"/>
              <a:ea typeface="Calibri"/>
              <a:cs typeface="Calibri"/>
              <a:sym typeface="Calibri"/>
            </a:endParaRPr>
          </a:p>
        </p:txBody>
      </p:sp>
      <p:sp>
        <p:nvSpPr>
          <p:cNvPr id="327" name="Google Shape;327;p19"/>
          <p:cNvSpPr/>
          <p:nvPr/>
        </p:nvSpPr>
        <p:spPr>
          <a:xfrm>
            <a:off x="4251960" y="2011680"/>
            <a:ext cx="3566160" cy="2926080"/>
          </a:xfrm>
          <a:prstGeom prst="roundRect">
            <a:avLst>
              <a:gd fmla="val 2813"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9"/>
          <p:cNvSpPr/>
          <p:nvPr/>
        </p:nvSpPr>
        <p:spPr>
          <a:xfrm>
            <a:off x="4526280" y="2286000"/>
            <a:ext cx="3017520" cy="548640"/>
          </a:xfrm>
          <a:prstGeom prst="roundRect">
            <a:avLst>
              <a:gd fmla="val 13333"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9"/>
          <p:cNvSpPr/>
          <p:nvPr/>
        </p:nvSpPr>
        <p:spPr>
          <a:xfrm>
            <a:off x="4526280" y="2286000"/>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Cualitativo</a:t>
            </a:r>
            <a:endParaRPr b="0" i="0" sz="1700" u="none" cap="none" strike="noStrike">
              <a:solidFill>
                <a:schemeClr val="dk1"/>
              </a:solidFill>
              <a:latin typeface="Calibri"/>
              <a:ea typeface="Calibri"/>
              <a:cs typeface="Calibri"/>
              <a:sym typeface="Calibri"/>
            </a:endParaRPr>
          </a:p>
        </p:txBody>
      </p:sp>
      <p:sp>
        <p:nvSpPr>
          <p:cNvPr id="330" name="Google Shape;330;p19"/>
          <p:cNvSpPr/>
          <p:nvPr/>
        </p:nvSpPr>
        <p:spPr>
          <a:xfrm>
            <a:off x="4526280" y="3017520"/>
            <a:ext cx="3017520" cy="1828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Comprende fenómenos con datos no numéricos (entrevistas, casos)</a:t>
            </a:r>
            <a:endParaRPr b="0" i="0" sz="1500" u="none" cap="none" strike="noStrike">
              <a:solidFill>
                <a:schemeClr val="dk1"/>
              </a:solidFill>
              <a:latin typeface="Calibri"/>
              <a:ea typeface="Calibri"/>
              <a:cs typeface="Calibri"/>
              <a:sym typeface="Calibri"/>
            </a:endParaRPr>
          </a:p>
        </p:txBody>
      </p:sp>
      <p:sp>
        <p:nvSpPr>
          <p:cNvPr id="331" name="Google Shape;331;p19"/>
          <p:cNvSpPr/>
          <p:nvPr/>
        </p:nvSpPr>
        <p:spPr>
          <a:xfrm>
            <a:off x="7955280" y="2011680"/>
            <a:ext cx="3566160" cy="2926080"/>
          </a:xfrm>
          <a:prstGeom prst="roundRect">
            <a:avLst>
              <a:gd fmla="val 2813"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9"/>
          <p:cNvSpPr/>
          <p:nvPr/>
        </p:nvSpPr>
        <p:spPr>
          <a:xfrm>
            <a:off x="8229600" y="2286000"/>
            <a:ext cx="3017520" cy="548640"/>
          </a:xfrm>
          <a:prstGeom prst="roundRect">
            <a:avLst>
              <a:gd fmla="val 13333" name="adj"/>
            </a:avLst>
          </a:prstGeom>
          <a:solidFill>
            <a:srgbClr val="9B2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9"/>
          <p:cNvSpPr/>
          <p:nvPr/>
        </p:nvSpPr>
        <p:spPr>
          <a:xfrm>
            <a:off x="8229600" y="2286000"/>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Mixto</a:t>
            </a:r>
            <a:endParaRPr b="0" i="0" sz="1700" u="none" cap="none" strike="noStrike">
              <a:solidFill>
                <a:schemeClr val="dk1"/>
              </a:solidFill>
              <a:latin typeface="Calibri"/>
              <a:ea typeface="Calibri"/>
              <a:cs typeface="Calibri"/>
              <a:sym typeface="Calibri"/>
            </a:endParaRPr>
          </a:p>
        </p:txBody>
      </p:sp>
      <p:sp>
        <p:nvSpPr>
          <p:cNvPr id="334" name="Google Shape;334;p19"/>
          <p:cNvSpPr/>
          <p:nvPr/>
        </p:nvSpPr>
        <p:spPr>
          <a:xfrm>
            <a:off x="8229600" y="3017520"/>
            <a:ext cx="3017520" cy="1828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Combina ambos para complementar</a:t>
            </a:r>
            <a:endParaRPr b="0" i="0" sz="1500" u="none" cap="none" strike="noStrike">
              <a:solidFill>
                <a:schemeClr val="dk1"/>
              </a:solidFill>
              <a:latin typeface="Calibri"/>
              <a:ea typeface="Calibri"/>
              <a:cs typeface="Calibri"/>
              <a:sym typeface="Calibri"/>
            </a:endParaRPr>
          </a:p>
        </p:txBody>
      </p:sp>
      <p:sp>
        <p:nvSpPr>
          <p:cNvPr id="335" name="Google Shape;335;p19"/>
          <p:cNvSpPr/>
          <p:nvPr/>
        </p:nvSpPr>
        <p:spPr>
          <a:xfrm>
            <a:off x="548640" y="5212080"/>
            <a:ext cx="10972800" cy="822960"/>
          </a:xfrm>
          <a:prstGeom prst="roundRect">
            <a:avLst>
              <a:gd fmla="val 10000"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9"/>
          <p:cNvSpPr/>
          <p:nvPr/>
        </p:nvSpPr>
        <p:spPr>
          <a:xfrm>
            <a:off x="914400" y="5212080"/>
            <a:ext cx="10241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La mayoría de los TSP de ingeniería son cuantitativos. El enfoque decide tus técnicas e instrumentos.</a:t>
            </a:r>
            <a:endParaRPr b="0" i="0" sz="1600" u="none" cap="none" strike="noStrike">
              <a:solidFill>
                <a:schemeClr val="dk1"/>
              </a:solidFill>
              <a:latin typeface="Calibri"/>
              <a:ea typeface="Calibri"/>
              <a:cs typeface="Calibri"/>
              <a:sym typeface="Calibri"/>
            </a:endParaRPr>
          </a:p>
        </p:txBody>
      </p:sp>
      <p:sp>
        <p:nvSpPr>
          <p:cNvPr id="337" name="Google Shape;337;p19"/>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338" name="Google Shape;338;p19"/>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20"/>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E · DISEÑO</a:t>
            </a:r>
            <a:endParaRPr b="0" i="0" sz="1200" u="none" cap="none" strike="noStrike">
              <a:solidFill>
                <a:schemeClr val="dk1"/>
              </a:solidFill>
              <a:latin typeface="Calibri"/>
              <a:ea typeface="Calibri"/>
              <a:cs typeface="Calibri"/>
              <a:sym typeface="Calibri"/>
            </a:endParaRPr>
          </a:p>
        </p:txBody>
      </p:sp>
      <p:sp>
        <p:nvSpPr>
          <p:cNvPr id="345" name="Google Shape;345;p20"/>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Tipo, nivel y diseño</a:t>
            </a:r>
            <a:endParaRPr b="0" i="0" sz="3000" u="none" cap="none" strike="noStrike">
              <a:solidFill>
                <a:schemeClr val="dk1"/>
              </a:solidFill>
              <a:latin typeface="Calibri"/>
              <a:ea typeface="Calibri"/>
              <a:cs typeface="Calibri"/>
              <a:sym typeface="Calibri"/>
            </a:endParaRPr>
          </a:p>
        </p:txBody>
      </p:sp>
      <p:sp>
        <p:nvSpPr>
          <p:cNvPr id="346" name="Google Shape;346;p20"/>
          <p:cNvSpPr/>
          <p:nvPr/>
        </p:nvSpPr>
        <p:spPr>
          <a:xfrm>
            <a:off x="548640" y="1874520"/>
            <a:ext cx="10972800" cy="1234440"/>
          </a:xfrm>
          <a:prstGeom prst="roundRect">
            <a:avLst>
              <a:gd fmla="val 6667"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0"/>
          <p:cNvSpPr/>
          <p:nvPr/>
        </p:nvSpPr>
        <p:spPr>
          <a:xfrm>
            <a:off x="822960" y="1874520"/>
            <a:ext cx="201168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Tipo</a:t>
            </a:r>
            <a:endParaRPr b="0" i="0" sz="1700" u="none" cap="none" strike="noStrike">
              <a:solidFill>
                <a:schemeClr val="dk1"/>
              </a:solidFill>
              <a:latin typeface="Calibri"/>
              <a:ea typeface="Calibri"/>
              <a:cs typeface="Calibri"/>
              <a:sym typeface="Calibri"/>
            </a:endParaRPr>
          </a:p>
        </p:txBody>
      </p:sp>
      <p:sp>
        <p:nvSpPr>
          <p:cNvPr id="348" name="Google Shape;348;p20"/>
          <p:cNvSpPr/>
          <p:nvPr/>
        </p:nvSpPr>
        <p:spPr>
          <a:xfrm>
            <a:off x="2926080" y="2039112"/>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1500"/>
              <a:buFont typeface="Arial"/>
              <a:buNone/>
            </a:pPr>
            <a:r>
              <a:rPr b="1" i="0" lang="en-US" sz="1500" u="none" cap="none" strike="noStrike">
                <a:solidFill>
                  <a:srgbClr val="13294B"/>
                </a:solidFill>
                <a:latin typeface="Arial"/>
                <a:ea typeface="Arial"/>
                <a:cs typeface="Arial"/>
                <a:sym typeface="Arial"/>
              </a:rPr>
              <a:t>Básica / Aplicada</a:t>
            </a:r>
            <a:endParaRPr b="0" i="0" sz="1500" u="none" cap="none" strike="noStrike">
              <a:solidFill>
                <a:schemeClr val="dk1"/>
              </a:solidFill>
              <a:latin typeface="Calibri"/>
              <a:ea typeface="Calibri"/>
              <a:cs typeface="Calibri"/>
              <a:sym typeface="Calibri"/>
            </a:endParaRPr>
          </a:p>
        </p:txBody>
      </p:sp>
      <p:sp>
        <p:nvSpPr>
          <p:cNvPr id="349" name="Google Shape;349;p20"/>
          <p:cNvSpPr/>
          <p:nvPr/>
        </p:nvSpPr>
        <p:spPr>
          <a:xfrm>
            <a:off x="2926080" y="253288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350"/>
              <a:buFont typeface="Arial"/>
              <a:buNone/>
            </a:pPr>
            <a:r>
              <a:rPr b="0" i="1" lang="en-US" sz="1350" u="none" cap="none" strike="noStrike">
                <a:solidFill>
                  <a:srgbClr val="1F2733"/>
                </a:solidFill>
                <a:latin typeface="Arial"/>
                <a:ea typeface="Arial"/>
                <a:cs typeface="Arial"/>
                <a:sym typeface="Arial"/>
              </a:rPr>
              <a:t>Aplicada: resuelve un problema real</a:t>
            </a:r>
            <a:endParaRPr b="0" i="0" sz="1350" u="none" cap="none" strike="noStrike">
              <a:solidFill>
                <a:schemeClr val="dk1"/>
              </a:solidFill>
              <a:latin typeface="Calibri"/>
              <a:ea typeface="Calibri"/>
              <a:cs typeface="Calibri"/>
              <a:sym typeface="Calibri"/>
            </a:endParaRPr>
          </a:p>
        </p:txBody>
      </p:sp>
      <p:sp>
        <p:nvSpPr>
          <p:cNvPr id="350" name="Google Shape;350;p20"/>
          <p:cNvSpPr/>
          <p:nvPr/>
        </p:nvSpPr>
        <p:spPr>
          <a:xfrm>
            <a:off x="548640" y="3246120"/>
            <a:ext cx="10972800" cy="1234440"/>
          </a:xfrm>
          <a:prstGeom prst="roundRect">
            <a:avLst>
              <a:gd fmla="val 6667"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0"/>
          <p:cNvSpPr/>
          <p:nvPr/>
        </p:nvSpPr>
        <p:spPr>
          <a:xfrm>
            <a:off x="822960" y="3246120"/>
            <a:ext cx="201168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Nivel</a:t>
            </a:r>
            <a:endParaRPr b="0" i="0" sz="1700" u="none" cap="none" strike="noStrike">
              <a:solidFill>
                <a:schemeClr val="dk1"/>
              </a:solidFill>
              <a:latin typeface="Calibri"/>
              <a:ea typeface="Calibri"/>
              <a:cs typeface="Calibri"/>
              <a:sym typeface="Calibri"/>
            </a:endParaRPr>
          </a:p>
        </p:txBody>
      </p:sp>
      <p:sp>
        <p:nvSpPr>
          <p:cNvPr id="352" name="Google Shape;352;p20"/>
          <p:cNvSpPr/>
          <p:nvPr/>
        </p:nvSpPr>
        <p:spPr>
          <a:xfrm>
            <a:off x="2926080" y="3410712"/>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1500"/>
              <a:buFont typeface="Arial"/>
              <a:buNone/>
            </a:pPr>
            <a:r>
              <a:rPr b="1" i="0" lang="en-US" sz="1500" u="none" cap="none" strike="noStrike">
                <a:solidFill>
                  <a:srgbClr val="13294B"/>
                </a:solidFill>
                <a:latin typeface="Arial"/>
                <a:ea typeface="Arial"/>
                <a:cs typeface="Arial"/>
                <a:sym typeface="Arial"/>
              </a:rPr>
              <a:t>Exploratorio · Descriptivo · Correlacional · Explicativo</a:t>
            </a:r>
            <a:endParaRPr b="0" i="0" sz="1500" u="none" cap="none" strike="noStrike">
              <a:solidFill>
                <a:schemeClr val="dk1"/>
              </a:solidFill>
              <a:latin typeface="Calibri"/>
              <a:ea typeface="Calibri"/>
              <a:cs typeface="Calibri"/>
              <a:sym typeface="Calibri"/>
            </a:endParaRPr>
          </a:p>
        </p:txBody>
      </p:sp>
      <p:sp>
        <p:nvSpPr>
          <p:cNvPr id="353" name="Google Shape;353;p20"/>
          <p:cNvSpPr/>
          <p:nvPr/>
        </p:nvSpPr>
        <p:spPr>
          <a:xfrm>
            <a:off x="2926080" y="390448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350"/>
              <a:buFont typeface="Arial"/>
              <a:buNone/>
            </a:pPr>
            <a:r>
              <a:rPr b="0" i="1" lang="en-US" sz="1350" u="none" cap="none" strike="noStrike">
                <a:solidFill>
                  <a:srgbClr val="1F2733"/>
                </a:solidFill>
                <a:latin typeface="Arial"/>
                <a:ea typeface="Arial"/>
                <a:cs typeface="Arial"/>
                <a:sym typeface="Arial"/>
              </a:rPr>
              <a:t>Según cuánto explicas la relación</a:t>
            </a:r>
            <a:endParaRPr b="0" i="0" sz="1350" u="none" cap="none" strike="noStrike">
              <a:solidFill>
                <a:schemeClr val="dk1"/>
              </a:solidFill>
              <a:latin typeface="Calibri"/>
              <a:ea typeface="Calibri"/>
              <a:cs typeface="Calibri"/>
              <a:sym typeface="Calibri"/>
            </a:endParaRPr>
          </a:p>
        </p:txBody>
      </p:sp>
      <p:sp>
        <p:nvSpPr>
          <p:cNvPr id="354" name="Google Shape;354;p20"/>
          <p:cNvSpPr/>
          <p:nvPr/>
        </p:nvSpPr>
        <p:spPr>
          <a:xfrm>
            <a:off x="548640" y="4617720"/>
            <a:ext cx="10972800" cy="1234440"/>
          </a:xfrm>
          <a:prstGeom prst="roundRect">
            <a:avLst>
              <a:gd fmla="val 6667"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0"/>
          <p:cNvSpPr/>
          <p:nvPr/>
        </p:nvSpPr>
        <p:spPr>
          <a:xfrm>
            <a:off x="822960" y="4617720"/>
            <a:ext cx="201168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Diseño</a:t>
            </a:r>
            <a:endParaRPr b="0" i="0" sz="1700" u="none" cap="none" strike="noStrike">
              <a:solidFill>
                <a:schemeClr val="dk1"/>
              </a:solidFill>
              <a:latin typeface="Calibri"/>
              <a:ea typeface="Calibri"/>
              <a:cs typeface="Calibri"/>
              <a:sym typeface="Calibri"/>
            </a:endParaRPr>
          </a:p>
        </p:txBody>
      </p:sp>
      <p:sp>
        <p:nvSpPr>
          <p:cNvPr id="356" name="Google Shape;356;p20"/>
          <p:cNvSpPr/>
          <p:nvPr/>
        </p:nvSpPr>
        <p:spPr>
          <a:xfrm>
            <a:off x="2926080" y="4782312"/>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1500"/>
              <a:buFont typeface="Arial"/>
              <a:buNone/>
            </a:pPr>
            <a:r>
              <a:rPr b="1" i="0" lang="en-US" sz="1500" u="none" cap="none" strike="noStrike">
                <a:solidFill>
                  <a:srgbClr val="13294B"/>
                </a:solidFill>
                <a:latin typeface="Arial"/>
                <a:ea typeface="Arial"/>
                <a:cs typeface="Arial"/>
                <a:sym typeface="Arial"/>
              </a:rPr>
              <a:t>Experimental / No experimental · Transversal / Longitudinal</a:t>
            </a:r>
            <a:endParaRPr b="0" i="0" sz="1500" u="none" cap="none" strike="noStrike">
              <a:solidFill>
                <a:schemeClr val="dk1"/>
              </a:solidFill>
              <a:latin typeface="Calibri"/>
              <a:ea typeface="Calibri"/>
              <a:cs typeface="Calibri"/>
              <a:sym typeface="Calibri"/>
            </a:endParaRPr>
          </a:p>
        </p:txBody>
      </p:sp>
      <p:sp>
        <p:nvSpPr>
          <p:cNvPr id="357" name="Google Shape;357;p20"/>
          <p:cNvSpPr/>
          <p:nvPr/>
        </p:nvSpPr>
        <p:spPr>
          <a:xfrm>
            <a:off x="2926080" y="527608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350"/>
              <a:buFont typeface="Arial"/>
              <a:buNone/>
            </a:pPr>
            <a:r>
              <a:rPr b="0" i="1" lang="en-US" sz="1350" u="none" cap="none" strike="noStrike">
                <a:solidFill>
                  <a:srgbClr val="1F2733"/>
                </a:solidFill>
                <a:latin typeface="Arial"/>
                <a:ea typeface="Arial"/>
                <a:cs typeface="Arial"/>
                <a:sym typeface="Arial"/>
              </a:rPr>
              <a:t>Cómo y cuándo observas</a:t>
            </a:r>
            <a:endParaRPr b="0" i="0" sz="1350" u="none" cap="none" strike="noStrike">
              <a:solidFill>
                <a:schemeClr val="dk1"/>
              </a:solidFill>
              <a:latin typeface="Calibri"/>
              <a:ea typeface="Calibri"/>
              <a:cs typeface="Calibri"/>
              <a:sym typeface="Calibri"/>
            </a:endParaRPr>
          </a:p>
        </p:txBody>
      </p:sp>
      <p:sp>
        <p:nvSpPr>
          <p:cNvPr id="358" name="Google Shape;358;p20"/>
          <p:cNvSpPr/>
          <p:nvPr/>
        </p:nvSpPr>
        <p:spPr>
          <a:xfrm>
            <a:off x="548640" y="6035040"/>
            <a:ext cx="10972800" cy="502920"/>
          </a:xfrm>
          <a:prstGeom prst="roundRect">
            <a:avLst>
              <a:gd fmla="val 16364"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0"/>
          <p:cNvSpPr/>
          <p:nvPr/>
        </p:nvSpPr>
        <p:spPr>
          <a:xfrm>
            <a:off x="914400" y="6035040"/>
            <a:ext cx="10241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Ej: aplicada · correlacional-explicativa · no experimental · longitudinal.</a:t>
            </a:r>
            <a:endParaRPr b="0" i="0" sz="1400" u="none" cap="none" strike="noStrike">
              <a:solidFill>
                <a:schemeClr val="dk1"/>
              </a:solidFill>
              <a:latin typeface="Calibri"/>
              <a:ea typeface="Calibri"/>
              <a:cs typeface="Calibri"/>
              <a:sym typeface="Calibri"/>
            </a:endParaRPr>
          </a:p>
        </p:txBody>
      </p:sp>
      <p:sp>
        <p:nvSpPr>
          <p:cNvPr id="360" name="Google Shape;360;p20"/>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361" name="Google Shape;361;p20"/>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21"/>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E · MUESTRA</a:t>
            </a:r>
            <a:endParaRPr b="0" i="0" sz="1200" u="none" cap="none" strike="noStrike">
              <a:solidFill>
                <a:schemeClr val="dk1"/>
              </a:solidFill>
              <a:latin typeface="Calibri"/>
              <a:ea typeface="Calibri"/>
              <a:cs typeface="Calibri"/>
              <a:sym typeface="Calibri"/>
            </a:endParaRPr>
          </a:p>
        </p:txBody>
      </p:sp>
      <p:sp>
        <p:nvSpPr>
          <p:cNvPr id="368" name="Google Shape;368;p21"/>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Población, muestra y muestreo</a:t>
            </a:r>
            <a:endParaRPr b="0" i="0" sz="3000" u="none" cap="none" strike="noStrike">
              <a:solidFill>
                <a:schemeClr val="dk1"/>
              </a:solidFill>
              <a:latin typeface="Calibri"/>
              <a:ea typeface="Calibri"/>
              <a:cs typeface="Calibri"/>
              <a:sym typeface="Calibri"/>
            </a:endParaRPr>
          </a:p>
        </p:txBody>
      </p:sp>
      <p:sp>
        <p:nvSpPr>
          <p:cNvPr id="369" name="Google Shape;369;p21"/>
          <p:cNvSpPr/>
          <p:nvPr/>
        </p:nvSpPr>
        <p:spPr>
          <a:xfrm>
            <a:off x="548640" y="1920240"/>
            <a:ext cx="10972800" cy="1143000"/>
          </a:xfrm>
          <a:prstGeom prst="roundRect">
            <a:avLst>
              <a:gd fmla="val 7200"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1"/>
          <p:cNvSpPr/>
          <p:nvPr/>
        </p:nvSpPr>
        <p:spPr>
          <a:xfrm>
            <a:off x="731520" y="2212848"/>
            <a:ext cx="502920" cy="502920"/>
          </a:xfrm>
          <a:prstGeom prst="roundRect">
            <a:avLst>
              <a:gd fmla="val 18182"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1"/>
          <p:cNvSpPr/>
          <p:nvPr/>
        </p:nvSpPr>
        <p:spPr>
          <a:xfrm>
            <a:off x="731520" y="221284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Calibri"/>
              <a:ea typeface="Calibri"/>
              <a:cs typeface="Calibri"/>
              <a:sym typeface="Calibri"/>
            </a:endParaRPr>
          </a:p>
        </p:txBody>
      </p:sp>
      <p:sp>
        <p:nvSpPr>
          <p:cNvPr id="372" name="Google Shape;372;p21"/>
          <p:cNvSpPr/>
          <p:nvPr/>
        </p:nvSpPr>
        <p:spPr>
          <a:xfrm>
            <a:off x="1463040" y="1920240"/>
            <a:ext cx="237744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600"/>
              <a:buFont typeface="Arial"/>
              <a:buNone/>
            </a:pPr>
            <a:r>
              <a:rPr b="1" i="0" lang="en-US" sz="1600" u="none" cap="none" strike="noStrike">
                <a:solidFill>
                  <a:srgbClr val="7A1420"/>
                </a:solidFill>
                <a:latin typeface="Arial"/>
                <a:ea typeface="Arial"/>
                <a:cs typeface="Arial"/>
                <a:sym typeface="Arial"/>
              </a:rPr>
              <a:t>Población</a:t>
            </a:r>
            <a:endParaRPr b="0" i="0" sz="1600" u="none" cap="none" strike="noStrike">
              <a:solidFill>
                <a:schemeClr val="dk1"/>
              </a:solidFill>
              <a:latin typeface="Calibri"/>
              <a:ea typeface="Calibri"/>
              <a:cs typeface="Calibri"/>
              <a:sym typeface="Calibri"/>
            </a:endParaRPr>
          </a:p>
        </p:txBody>
      </p:sp>
      <p:sp>
        <p:nvSpPr>
          <p:cNvPr id="373" name="Google Shape;373;p21"/>
          <p:cNvSpPr/>
          <p:nvPr/>
        </p:nvSpPr>
        <p:spPr>
          <a:xfrm>
            <a:off x="3931920" y="2121408"/>
            <a:ext cx="7406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Todo el conjunto que quieres estudiar</a:t>
            </a:r>
            <a:endParaRPr b="0" i="0" sz="1450" u="none" cap="none" strike="noStrike">
              <a:solidFill>
                <a:schemeClr val="dk1"/>
              </a:solidFill>
              <a:latin typeface="Calibri"/>
              <a:ea typeface="Calibri"/>
              <a:cs typeface="Calibri"/>
              <a:sym typeface="Calibri"/>
            </a:endParaRPr>
          </a:p>
        </p:txBody>
      </p:sp>
      <p:sp>
        <p:nvSpPr>
          <p:cNvPr id="374" name="Google Shape;374;p21"/>
          <p:cNvSpPr/>
          <p:nvPr/>
        </p:nvSpPr>
        <p:spPr>
          <a:xfrm>
            <a:off x="3931920" y="2542032"/>
            <a:ext cx="7406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Arial"/>
              <a:buNone/>
            </a:pPr>
            <a:r>
              <a:rPr b="0" i="1" lang="en-US" sz="1300" u="none" cap="none" strike="noStrike">
                <a:solidFill>
                  <a:srgbClr val="6B7280"/>
                </a:solidFill>
                <a:latin typeface="Arial"/>
                <a:ea typeface="Arial"/>
                <a:cs typeface="Arial"/>
                <a:sym typeface="Arial"/>
              </a:rPr>
              <a:t>Ej: todas las fallas de la Línea X (2 años)</a:t>
            </a:r>
            <a:endParaRPr b="0" i="0" sz="1300" u="none" cap="none" strike="noStrike">
              <a:solidFill>
                <a:schemeClr val="dk1"/>
              </a:solidFill>
              <a:latin typeface="Calibri"/>
              <a:ea typeface="Calibri"/>
              <a:cs typeface="Calibri"/>
              <a:sym typeface="Calibri"/>
            </a:endParaRPr>
          </a:p>
        </p:txBody>
      </p:sp>
      <p:sp>
        <p:nvSpPr>
          <p:cNvPr id="375" name="Google Shape;375;p21"/>
          <p:cNvSpPr/>
          <p:nvPr/>
        </p:nvSpPr>
        <p:spPr>
          <a:xfrm>
            <a:off x="548640" y="3200400"/>
            <a:ext cx="10972800" cy="1143000"/>
          </a:xfrm>
          <a:prstGeom prst="roundRect">
            <a:avLst>
              <a:gd fmla="val 7200"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1"/>
          <p:cNvSpPr/>
          <p:nvPr/>
        </p:nvSpPr>
        <p:spPr>
          <a:xfrm>
            <a:off x="731520" y="3493008"/>
            <a:ext cx="502920" cy="502920"/>
          </a:xfrm>
          <a:prstGeom prst="roundRect">
            <a:avLst>
              <a:gd fmla="val 18182"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1"/>
          <p:cNvSpPr/>
          <p:nvPr/>
        </p:nvSpPr>
        <p:spPr>
          <a:xfrm>
            <a:off x="731520" y="349300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Calibri"/>
              <a:ea typeface="Calibri"/>
              <a:cs typeface="Calibri"/>
              <a:sym typeface="Calibri"/>
            </a:endParaRPr>
          </a:p>
        </p:txBody>
      </p:sp>
      <p:sp>
        <p:nvSpPr>
          <p:cNvPr id="378" name="Google Shape;378;p21"/>
          <p:cNvSpPr/>
          <p:nvPr/>
        </p:nvSpPr>
        <p:spPr>
          <a:xfrm>
            <a:off x="1463040" y="3200400"/>
            <a:ext cx="237744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600"/>
              <a:buFont typeface="Arial"/>
              <a:buNone/>
            </a:pPr>
            <a:r>
              <a:rPr b="1" i="0" lang="en-US" sz="1600" u="none" cap="none" strike="noStrike">
                <a:solidFill>
                  <a:srgbClr val="7A1420"/>
                </a:solidFill>
                <a:latin typeface="Arial"/>
                <a:ea typeface="Arial"/>
                <a:cs typeface="Arial"/>
                <a:sym typeface="Arial"/>
              </a:rPr>
              <a:t>Muestra</a:t>
            </a:r>
            <a:endParaRPr b="0" i="0" sz="1600" u="none" cap="none" strike="noStrike">
              <a:solidFill>
                <a:schemeClr val="dk1"/>
              </a:solidFill>
              <a:latin typeface="Calibri"/>
              <a:ea typeface="Calibri"/>
              <a:cs typeface="Calibri"/>
              <a:sym typeface="Calibri"/>
            </a:endParaRPr>
          </a:p>
        </p:txBody>
      </p:sp>
      <p:sp>
        <p:nvSpPr>
          <p:cNvPr id="379" name="Google Shape;379;p21"/>
          <p:cNvSpPr/>
          <p:nvPr/>
        </p:nvSpPr>
        <p:spPr>
          <a:xfrm>
            <a:off x="3931920" y="3401568"/>
            <a:ext cx="7406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La parte que efectivamente analizas</a:t>
            </a:r>
            <a:endParaRPr b="0" i="0" sz="1450" u="none" cap="none" strike="noStrike">
              <a:solidFill>
                <a:schemeClr val="dk1"/>
              </a:solidFill>
              <a:latin typeface="Calibri"/>
              <a:ea typeface="Calibri"/>
              <a:cs typeface="Calibri"/>
              <a:sym typeface="Calibri"/>
            </a:endParaRPr>
          </a:p>
        </p:txBody>
      </p:sp>
      <p:sp>
        <p:nvSpPr>
          <p:cNvPr id="380" name="Google Shape;380;p21"/>
          <p:cNvSpPr/>
          <p:nvPr/>
        </p:nvSpPr>
        <p:spPr>
          <a:xfrm>
            <a:off x="3931920" y="3822192"/>
            <a:ext cx="7406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Arial"/>
              <a:buNone/>
            </a:pPr>
            <a:r>
              <a:rPr b="0" i="1" lang="en-US" sz="1300" u="none" cap="none" strike="noStrike">
                <a:solidFill>
                  <a:srgbClr val="6B7280"/>
                </a:solidFill>
                <a:latin typeface="Arial"/>
                <a:ea typeface="Arial"/>
                <a:cs typeface="Arial"/>
                <a:sym typeface="Arial"/>
              </a:rPr>
              <a:t>Ej: 1 200 registros de falla</a:t>
            </a:r>
            <a:endParaRPr b="0" i="0" sz="1300" u="none" cap="none" strike="noStrike">
              <a:solidFill>
                <a:schemeClr val="dk1"/>
              </a:solidFill>
              <a:latin typeface="Calibri"/>
              <a:ea typeface="Calibri"/>
              <a:cs typeface="Calibri"/>
              <a:sym typeface="Calibri"/>
            </a:endParaRPr>
          </a:p>
        </p:txBody>
      </p:sp>
      <p:sp>
        <p:nvSpPr>
          <p:cNvPr id="381" name="Google Shape;381;p21"/>
          <p:cNvSpPr/>
          <p:nvPr/>
        </p:nvSpPr>
        <p:spPr>
          <a:xfrm>
            <a:off x="548640" y="4480560"/>
            <a:ext cx="10972800" cy="1143000"/>
          </a:xfrm>
          <a:prstGeom prst="roundRect">
            <a:avLst>
              <a:gd fmla="val 7200"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1"/>
          <p:cNvSpPr/>
          <p:nvPr/>
        </p:nvSpPr>
        <p:spPr>
          <a:xfrm>
            <a:off x="731520" y="4773168"/>
            <a:ext cx="502920" cy="502920"/>
          </a:xfrm>
          <a:prstGeom prst="roundRect">
            <a:avLst>
              <a:gd fmla="val 18182"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1"/>
          <p:cNvSpPr/>
          <p:nvPr/>
        </p:nvSpPr>
        <p:spPr>
          <a:xfrm>
            <a:off x="731520" y="477316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800" u="none" cap="none" strike="noStrike">
              <a:solidFill>
                <a:schemeClr val="dk1"/>
              </a:solidFill>
              <a:latin typeface="Calibri"/>
              <a:ea typeface="Calibri"/>
              <a:cs typeface="Calibri"/>
              <a:sym typeface="Calibri"/>
            </a:endParaRPr>
          </a:p>
        </p:txBody>
      </p:sp>
      <p:sp>
        <p:nvSpPr>
          <p:cNvPr id="384" name="Google Shape;384;p21"/>
          <p:cNvSpPr/>
          <p:nvPr/>
        </p:nvSpPr>
        <p:spPr>
          <a:xfrm>
            <a:off x="1463040" y="4480560"/>
            <a:ext cx="237744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600"/>
              <a:buFont typeface="Arial"/>
              <a:buNone/>
            </a:pPr>
            <a:r>
              <a:rPr b="1" i="0" lang="en-US" sz="1600" u="none" cap="none" strike="noStrike">
                <a:solidFill>
                  <a:srgbClr val="7A1420"/>
                </a:solidFill>
                <a:latin typeface="Arial"/>
                <a:ea typeface="Arial"/>
                <a:cs typeface="Arial"/>
                <a:sym typeface="Arial"/>
              </a:rPr>
              <a:t>Muestreo</a:t>
            </a:r>
            <a:endParaRPr b="0" i="0" sz="1600" u="none" cap="none" strike="noStrike">
              <a:solidFill>
                <a:schemeClr val="dk1"/>
              </a:solidFill>
              <a:latin typeface="Calibri"/>
              <a:ea typeface="Calibri"/>
              <a:cs typeface="Calibri"/>
              <a:sym typeface="Calibri"/>
            </a:endParaRPr>
          </a:p>
        </p:txBody>
      </p:sp>
      <p:sp>
        <p:nvSpPr>
          <p:cNvPr id="385" name="Google Shape;385;p21"/>
          <p:cNvSpPr/>
          <p:nvPr/>
        </p:nvSpPr>
        <p:spPr>
          <a:xfrm>
            <a:off x="3931920" y="4681728"/>
            <a:ext cx="7406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Cómo eliges la muestra</a:t>
            </a:r>
            <a:endParaRPr b="0" i="0" sz="1450" u="none" cap="none" strike="noStrike">
              <a:solidFill>
                <a:schemeClr val="dk1"/>
              </a:solidFill>
              <a:latin typeface="Calibri"/>
              <a:ea typeface="Calibri"/>
              <a:cs typeface="Calibri"/>
              <a:sym typeface="Calibri"/>
            </a:endParaRPr>
          </a:p>
        </p:txBody>
      </p:sp>
      <p:sp>
        <p:nvSpPr>
          <p:cNvPr id="386" name="Google Shape;386;p21"/>
          <p:cNvSpPr/>
          <p:nvPr/>
        </p:nvSpPr>
        <p:spPr>
          <a:xfrm>
            <a:off x="3931920" y="5102352"/>
            <a:ext cx="7406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Arial"/>
              <a:buNone/>
            </a:pPr>
            <a:r>
              <a:rPr b="0" i="1" lang="en-US" sz="1300" u="none" cap="none" strike="noStrike">
                <a:solidFill>
                  <a:srgbClr val="6B7280"/>
                </a:solidFill>
                <a:latin typeface="Arial"/>
                <a:ea typeface="Arial"/>
                <a:cs typeface="Arial"/>
                <a:sym typeface="Arial"/>
              </a:rPr>
              <a:t>Probabilístico / no probabilístico</a:t>
            </a:r>
            <a:endParaRPr b="0" i="0" sz="1300" u="none" cap="none" strike="noStrike">
              <a:solidFill>
                <a:schemeClr val="dk1"/>
              </a:solidFill>
              <a:latin typeface="Calibri"/>
              <a:ea typeface="Calibri"/>
              <a:cs typeface="Calibri"/>
              <a:sym typeface="Calibri"/>
            </a:endParaRPr>
          </a:p>
        </p:txBody>
      </p:sp>
      <p:sp>
        <p:nvSpPr>
          <p:cNvPr id="387" name="Google Shape;387;p21"/>
          <p:cNvSpPr/>
          <p:nvPr/>
        </p:nvSpPr>
        <p:spPr>
          <a:xfrm>
            <a:off x="548640" y="5943600"/>
            <a:ext cx="10972800" cy="548640"/>
          </a:xfrm>
          <a:prstGeom prst="roundRect">
            <a:avLst>
              <a:gd fmla="val 15000" name="adj"/>
            </a:avLst>
          </a:prstGeom>
          <a:solidFill>
            <a:srgbClr val="F3E1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1"/>
          <p:cNvSpPr/>
          <p:nvPr/>
        </p:nvSpPr>
        <p:spPr>
          <a:xfrm>
            <a:off x="914400" y="5943600"/>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400"/>
              <a:buFont typeface="Arial"/>
              <a:buNone/>
            </a:pPr>
            <a:r>
              <a:rPr b="1" i="0" lang="en-US" sz="1400" u="none" cap="none" strike="noStrike">
                <a:solidFill>
                  <a:srgbClr val="7A1420"/>
                </a:solidFill>
                <a:latin typeface="Arial"/>
                <a:ea typeface="Arial"/>
                <a:cs typeface="Arial"/>
                <a:sym typeface="Arial"/>
              </a:rPr>
              <a:t>Justifica el tamaño y el tipo de muestreo: de ahí depende que tus resultados sean generalizables.</a:t>
            </a:r>
            <a:endParaRPr b="0" i="0" sz="1400" u="none" cap="none" strike="noStrike">
              <a:solidFill>
                <a:schemeClr val="dk1"/>
              </a:solidFill>
              <a:latin typeface="Calibri"/>
              <a:ea typeface="Calibri"/>
              <a:cs typeface="Calibri"/>
              <a:sym typeface="Calibri"/>
            </a:endParaRPr>
          </a:p>
        </p:txBody>
      </p:sp>
      <p:sp>
        <p:nvSpPr>
          <p:cNvPr id="389" name="Google Shape;389;p21"/>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390" name="Google Shape;390;p21"/>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5" name="Shape 395"/>
        <p:cNvGrpSpPr/>
        <p:nvPr/>
      </p:nvGrpSpPr>
      <p:grpSpPr>
        <a:xfrm>
          <a:off x="0" y="0"/>
          <a:ext cx="0" cy="0"/>
          <a:chOff x="0" y="0"/>
          <a:chExt cx="0" cy="0"/>
        </a:xfrm>
      </p:grpSpPr>
      <p:sp>
        <p:nvSpPr>
          <p:cNvPr id="396" name="Google Shape;396;p22"/>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E · INSTRUMENTOS</a:t>
            </a:r>
            <a:endParaRPr b="0" i="0" sz="1200" u="none" cap="none" strike="noStrike">
              <a:solidFill>
                <a:schemeClr val="dk1"/>
              </a:solidFill>
              <a:latin typeface="Calibri"/>
              <a:ea typeface="Calibri"/>
              <a:cs typeface="Calibri"/>
              <a:sym typeface="Calibri"/>
            </a:endParaRPr>
          </a:p>
        </p:txBody>
      </p:sp>
      <p:sp>
        <p:nvSpPr>
          <p:cNvPr id="397" name="Google Shape;397;p22"/>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Técnicas, instrumentos y calidad</a:t>
            </a:r>
            <a:endParaRPr b="0" i="0" sz="3000" u="none" cap="none" strike="noStrike">
              <a:solidFill>
                <a:schemeClr val="dk1"/>
              </a:solidFill>
              <a:latin typeface="Calibri"/>
              <a:ea typeface="Calibri"/>
              <a:cs typeface="Calibri"/>
              <a:sym typeface="Calibri"/>
            </a:endParaRPr>
          </a:p>
        </p:txBody>
      </p:sp>
      <p:sp>
        <p:nvSpPr>
          <p:cNvPr id="398" name="Google Shape;398;p22"/>
          <p:cNvSpPr/>
          <p:nvPr/>
        </p:nvSpPr>
        <p:spPr>
          <a:xfrm>
            <a:off x="548640" y="1828800"/>
            <a:ext cx="5440680" cy="4023360"/>
          </a:xfrm>
          <a:prstGeom prst="roundRect">
            <a:avLst>
              <a:gd fmla="val 2045"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2"/>
          <p:cNvSpPr/>
          <p:nvPr/>
        </p:nvSpPr>
        <p:spPr>
          <a:xfrm>
            <a:off x="868680" y="2057400"/>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1600"/>
              <a:buFont typeface="Arial"/>
              <a:buNone/>
            </a:pPr>
            <a:r>
              <a:rPr b="1" i="0" lang="en-US" sz="1600" u="none" cap="none" strike="noStrike">
                <a:solidFill>
                  <a:srgbClr val="13294B"/>
                </a:solidFill>
                <a:latin typeface="Arial"/>
                <a:ea typeface="Arial"/>
                <a:cs typeface="Arial"/>
                <a:sym typeface="Arial"/>
              </a:rPr>
              <a:t>Técnicas e instrumentos</a:t>
            </a:r>
            <a:endParaRPr b="0" i="0" sz="1600" u="none" cap="none" strike="noStrike">
              <a:solidFill>
                <a:schemeClr val="dk1"/>
              </a:solidFill>
              <a:latin typeface="Calibri"/>
              <a:ea typeface="Calibri"/>
              <a:cs typeface="Calibri"/>
              <a:sym typeface="Calibri"/>
            </a:endParaRPr>
          </a:p>
        </p:txBody>
      </p:sp>
      <p:sp>
        <p:nvSpPr>
          <p:cNvPr id="400" name="Google Shape;400;p22"/>
          <p:cNvSpPr/>
          <p:nvPr/>
        </p:nvSpPr>
        <p:spPr>
          <a:xfrm>
            <a:off x="868680" y="2514600"/>
            <a:ext cx="4937760" cy="3108960"/>
          </a:xfrm>
          <a:prstGeom prst="rect">
            <a:avLst/>
          </a:prstGeom>
          <a:noFill/>
          <a:ln>
            <a:noFill/>
          </a:ln>
        </p:spPr>
        <p:txBody>
          <a:bodyPr anchorCtr="0" anchor="ctr" bIns="0" lIns="0" spcFirstLastPara="1" rIns="0" wrap="square" tIns="0">
            <a:noAutofit/>
          </a:bodyPr>
          <a:lstStyle/>
          <a:p>
            <a:pPr indent="0" lvl="0" marL="0" marR="0" rtl="0" algn="l">
              <a:lnSpc>
                <a:spcPct val="145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Observación → ficha de registro</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Encuesta → cuestionario</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Entrevista → guion</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Análisis documental → matriz</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Datos de sensores → base de datos</a:t>
            </a:r>
            <a:endParaRPr b="0" i="0" sz="1500" u="none" cap="none" strike="noStrike">
              <a:solidFill>
                <a:schemeClr val="dk1"/>
              </a:solidFill>
              <a:latin typeface="Calibri"/>
              <a:ea typeface="Calibri"/>
              <a:cs typeface="Calibri"/>
              <a:sym typeface="Calibri"/>
            </a:endParaRPr>
          </a:p>
        </p:txBody>
      </p:sp>
      <p:sp>
        <p:nvSpPr>
          <p:cNvPr id="401" name="Google Shape;401;p22"/>
          <p:cNvSpPr/>
          <p:nvPr/>
        </p:nvSpPr>
        <p:spPr>
          <a:xfrm>
            <a:off x="6172200" y="1828800"/>
            <a:ext cx="5440680" cy="4023360"/>
          </a:xfrm>
          <a:prstGeom prst="roundRect">
            <a:avLst>
              <a:gd fmla="val 2045" name="adj"/>
            </a:avLst>
          </a:prstGeom>
          <a:solidFill>
            <a:srgbClr val="E7F0E9"/>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2"/>
          <p:cNvSpPr/>
          <p:nvPr/>
        </p:nvSpPr>
        <p:spPr>
          <a:xfrm>
            <a:off x="6492240" y="2057400"/>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600"/>
              <a:buFont typeface="Arial"/>
              <a:buNone/>
            </a:pPr>
            <a:r>
              <a:rPr b="1" i="0" lang="en-US" sz="1600" u="none" cap="none" strike="noStrike">
                <a:solidFill>
                  <a:srgbClr val="2E7D32"/>
                </a:solidFill>
                <a:latin typeface="Arial"/>
                <a:ea typeface="Arial"/>
                <a:cs typeface="Arial"/>
                <a:sym typeface="Arial"/>
              </a:rPr>
              <a:t>Validez y confiabilidad</a:t>
            </a:r>
            <a:endParaRPr b="0" i="0" sz="1600" u="none" cap="none" strike="noStrike">
              <a:solidFill>
                <a:schemeClr val="dk1"/>
              </a:solidFill>
              <a:latin typeface="Calibri"/>
              <a:ea typeface="Calibri"/>
              <a:cs typeface="Calibri"/>
              <a:sym typeface="Calibri"/>
            </a:endParaRPr>
          </a:p>
        </p:txBody>
      </p:sp>
      <p:sp>
        <p:nvSpPr>
          <p:cNvPr id="403" name="Google Shape;403;p22"/>
          <p:cNvSpPr/>
          <p:nvPr/>
        </p:nvSpPr>
        <p:spPr>
          <a:xfrm>
            <a:off x="6492240" y="2514600"/>
            <a:ext cx="4937760" cy="310896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Validez: mide lo que dice medir (juicio de expertos)</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Confiabilidad: mide de forma consistente (Alfa de Cronbach)</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Sin ambas, tus datos no son defendibles</a:t>
            </a:r>
            <a:endParaRPr b="0" i="0" sz="1500" u="none" cap="none" strike="noStrike">
              <a:solidFill>
                <a:schemeClr val="dk1"/>
              </a:solidFill>
              <a:latin typeface="Calibri"/>
              <a:ea typeface="Calibri"/>
              <a:cs typeface="Calibri"/>
              <a:sym typeface="Calibri"/>
            </a:endParaRPr>
          </a:p>
        </p:txBody>
      </p:sp>
      <p:sp>
        <p:nvSpPr>
          <p:cNvPr id="404" name="Google Shape;404;p22"/>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405" name="Google Shape;405;p22"/>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23"/>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F · INTEGRACIÓN</a:t>
            </a:r>
            <a:endParaRPr b="0" i="0" sz="1200" u="none" cap="none" strike="noStrike">
              <a:solidFill>
                <a:schemeClr val="dk1"/>
              </a:solidFill>
              <a:latin typeface="Calibri"/>
              <a:ea typeface="Calibri"/>
              <a:cs typeface="Calibri"/>
              <a:sym typeface="Calibri"/>
            </a:endParaRPr>
          </a:p>
        </p:txBody>
      </p:sp>
      <p:sp>
        <p:nvSpPr>
          <p:cNvPr id="412" name="Google Shape;412;p23"/>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La matriz de consistencia</a:t>
            </a:r>
            <a:endParaRPr b="0" i="0" sz="3000" u="none" cap="none" strike="noStrike">
              <a:solidFill>
                <a:schemeClr val="dk1"/>
              </a:solidFill>
              <a:latin typeface="Calibri"/>
              <a:ea typeface="Calibri"/>
              <a:cs typeface="Calibri"/>
              <a:sym typeface="Calibri"/>
            </a:endParaRPr>
          </a:p>
        </p:txBody>
      </p:sp>
      <p:sp>
        <p:nvSpPr>
          <p:cNvPr id="413" name="Google Shape;413;p23"/>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3"/>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55–62 min</a:t>
            </a:r>
            <a:endParaRPr b="0" i="0" sz="1200" u="none" cap="none" strike="noStrike">
              <a:solidFill>
                <a:schemeClr val="dk1"/>
              </a:solidFill>
              <a:latin typeface="Calibri"/>
              <a:ea typeface="Calibri"/>
              <a:cs typeface="Calibri"/>
              <a:sym typeface="Calibri"/>
            </a:endParaRPr>
          </a:p>
        </p:txBody>
      </p:sp>
      <p:sp>
        <p:nvSpPr>
          <p:cNvPr id="415" name="Google Shape;415;p23"/>
          <p:cNvSpPr/>
          <p:nvPr/>
        </p:nvSpPr>
        <p:spPr>
          <a:xfrm>
            <a:off x="548640" y="2011680"/>
            <a:ext cx="2084832" cy="822960"/>
          </a:xfrm>
          <a:prstGeom prst="roundRect">
            <a:avLst>
              <a:gd fmla="val 8889" name="adj"/>
            </a:avLst>
          </a:prstGeom>
          <a:solidFill>
            <a:srgbClr val="7A14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3"/>
          <p:cNvSpPr/>
          <p:nvPr/>
        </p:nvSpPr>
        <p:spPr>
          <a:xfrm>
            <a:off x="548640" y="2011680"/>
            <a:ext cx="2084832"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Problema</a:t>
            </a:r>
            <a:endParaRPr b="0" i="0" sz="1500" u="none" cap="none" strike="noStrike">
              <a:solidFill>
                <a:schemeClr val="dk1"/>
              </a:solidFill>
              <a:latin typeface="Calibri"/>
              <a:ea typeface="Calibri"/>
              <a:cs typeface="Calibri"/>
              <a:sym typeface="Calibri"/>
            </a:endParaRPr>
          </a:p>
        </p:txBody>
      </p:sp>
      <p:sp>
        <p:nvSpPr>
          <p:cNvPr id="417" name="Google Shape;417;p23"/>
          <p:cNvSpPr/>
          <p:nvPr/>
        </p:nvSpPr>
        <p:spPr>
          <a:xfrm>
            <a:off x="2578608" y="2148840"/>
            <a:ext cx="3657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420"/>
              </a:buClr>
              <a:buSzPts val="2000"/>
              <a:buFont typeface="Arial"/>
              <a:buNone/>
            </a:pPr>
            <a:r>
              <a:rPr b="1" i="0" lang="en-US" sz="2000" u="none" cap="none" strike="noStrike">
                <a:solidFill>
                  <a:srgbClr val="7A1420"/>
                </a:solidFill>
                <a:latin typeface="Arial"/>
                <a:ea typeface="Arial"/>
                <a:cs typeface="Arial"/>
                <a:sym typeface="Arial"/>
              </a:rPr>
              <a:t>↔</a:t>
            </a:r>
            <a:endParaRPr b="0" i="0" sz="2000" u="none" cap="none" strike="noStrike">
              <a:solidFill>
                <a:schemeClr val="dk1"/>
              </a:solidFill>
              <a:latin typeface="Calibri"/>
              <a:ea typeface="Calibri"/>
              <a:cs typeface="Calibri"/>
              <a:sym typeface="Calibri"/>
            </a:endParaRPr>
          </a:p>
        </p:txBody>
      </p:sp>
      <p:sp>
        <p:nvSpPr>
          <p:cNvPr id="418" name="Google Shape;418;p23"/>
          <p:cNvSpPr/>
          <p:nvPr/>
        </p:nvSpPr>
        <p:spPr>
          <a:xfrm>
            <a:off x="2852928" y="2011680"/>
            <a:ext cx="2084832" cy="822960"/>
          </a:xfrm>
          <a:prstGeom prst="roundRect">
            <a:avLst>
              <a:gd fmla="val 8889"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3"/>
          <p:cNvSpPr/>
          <p:nvPr/>
        </p:nvSpPr>
        <p:spPr>
          <a:xfrm>
            <a:off x="2852928" y="2011680"/>
            <a:ext cx="2084832"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Objetivos</a:t>
            </a:r>
            <a:endParaRPr b="0" i="0" sz="1500" u="none" cap="none" strike="noStrike">
              <a:solidFill>
                <a:schemeClr val="dk1"/>
              </a:solidFill>
              <a:latin typeface="Calibri"/>
              <a:ea typeface="Calibri"/>
              <a:cs typeface="Calibri"/>
              <a:sym typeface="Calibri"/>
            </a:endParaRPr>
          </a:p>
        </p:txBody>
      </p:sp>
      <p:sp>
        <p:nvSpPr>
          <p:cNvPr id="420" name="Google Shape;420;p23"/>
          <p:cNvSpPr/>
          <p:nvPr/>
        </p:nvSpPr>
        <p:spPr>
          <a:xfrm>
            <a:off x="4882896" y="2148840"/>
            <a:ext cx="3657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420"/>
              </a:buClr>
              <a:buSzPts val="2000"/>
              <a:buFont typeface="Arial"/>
              <a:buNone/>
            </a:pPr>
            <a:r>
              <a:rPr b="1" i="0" lang="en-US" sz="2000" u="none" cap="none" strike="noStrike">
                <a:solidFill>
                  <a:srgbClr val="7A1420"/>
                </a:solidFill>
                <a:latin typeface="Arial"/>
                <a:ea typeface="Arial"/>
                <a:cs typeface="Arial"/>
                <a:sym typeface="Arial"/>
              </a:rPr>
              <a:t>↔</a:t>
            </a:r>
            <a:endParaRPr b="0" i="0" sz="2000" u="none" cap="none" strike="noStrike">
              <a:solidFill>
                <a:schemeClr val="dk1"/>
              </a:solidFill>
              <a:latin typeface="Calibri"/>
              <a:ea typeface="Calibri"/>
              <a:cs typeface="Calibri"/>
              <a:sym typeface="Calibri"/>
            </a:endParaRPr>
          </a:p>
        </p:txBody>
      </p:sp>
      <p:sp>
        <p:nvSpPr>
          <p:cNvPr id="421" name="Google Shape;421;p23"/>
          <p:cNvSpPr/>
          <p:nvPr/>
        </p:nvSpPr>
        <p:spPr>
          <a:xfrm>
            <a:off x="5157216" y="2011680"/>
            <a:ext cx="2084832" cy="822960"/>
          </a:xfrm>
          <a:prstGeom prst="roundRect">
            <a:avLst>
              <a:gd fmla="val 8889"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3"/>
          <p:cNvSpPr/>
          <p:nvPr/>
        </p:nvSpPr>
        <p:spPr>
          <a:xfrm>
            <a:off x="5157216" y="2011680"/>
            <a:ext cx="2084832"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Hipótesis</a:t>
            </a:r>
            <a:endParaRPr b="0" i="0" sz="1500" u="none" cap="none" strike="noStrike">
              <a:solidFill>
                <a:schemeClr val="dk1"/>
              </a:solidFill>
              <a:latin typeface="Calibri"/>
              <a:ea typeface="Calibri"/>
              <a:cs typeface="Calibri"/>
              <a:sym typeface="Calibri"/>
            </a:endParaRPr>
          </a:p>
        </p:txBody>
      </p:sp>
      <p:sp>
        <p:nvSpPr>
          <p:cNvPr id="423" name="Google Shape;423;p23"/>
          <p:cNvSpPr/>
          <p:nvPr/>
        </p:nvSpPr>
        <p:spPr>
          <a:xfrm>
            <a:off x="7187184" y="2148840"/>
            <a:ext cx="3657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420"/>
              </a:buClr>
              <a:buSzPts val="2000"/>
              <a:buFont typeface="Arial"/>
              <a:buNone/>
            </a:pPr>
            <a:r>
              <a:rPr b="1" i="0" lang="en-US" sz="2000" u="none" cap="none" strike="noStrike">
                <a:solidFill>
                  <a:srgbClr val="7A1420"/>
                </a:solidFill>
                <a:latin typeface="Arial"/>
                <a:ea typeface="Arial"/>
                <a:cs typeface="Arial"/>
                <a:sym typeface="Arial"/>
              </a:rPr>
              <a:t>↔</a:t>
            </a:r>
            <a:endParaRPr b="0" i="0" sz="2000" u="none" cap="none" strike="noStrike">
              <a:solidFill>
                <a:schemeClr val="dk1"/>
              </a:solidFill>
              <a:latin typeface="Calibri"/>
              <a:ea typeface="Calibri"/>
              <a:cs typeface="Calibri"/>
              <a:sym typeface="Calibri"/>
            </a:endParaRPr>
          </a:p>
        </p:txBody>
      </p:sp>
      <p:sp>
        <p:nvSpPr>
          <p:cNvPr id="424" name="Google Shape;424;p23"/>
          <p:cNvSpPr/>
          <p:nvPr/>
        </p:nvSpPr>
        <p:spPr>
          <a:xfrm>
            <a:off x="7461504" y="2011680"/>
            <a:ext cx="2084832" cy="822960"/>
          </a:xfrm>
          <a:prstGeom prst="roundRect">
            <a:avLst>
              <a:gd fmla="val 8889"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3"/>
          <p:cNvSpPr/>
          <p:nvPr/>
        </p:nvSpPr>
        <p:spPr>
          <a:xfrm>
            <a:off x="7461504" y="2011680"/>
            <a:ext cx="2084832"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Variables</a:t>
            </a:r>
            <a:endParaRPr b="0" i="0" sz="1500" u="none" cap="none" strike="noStrike">
              <a:solidFill>
                <a:schemeClr val="dk1"/>
              </a:solidFill>
              <a:latin typeface="Calibri"/>
              <a:ea typeface="Calibri"/>
              <a:cs typeface="Calibri"/>
              <a:sym typeface="Calibri"/>
            </a:endParaRPr>
          </a:p>
        </p:txBody>
      </p:sp>
      <p:sp>
        <p:nvSpPr>
          <p:cNvPr id="426" name="Google Shape;426;p23"/>
          <p:cNvSpPr/>
          <p:nvPr/>
        </p:nvSpPr>
        <p:spPr>
          <a:xfrm>
            <a:off x="9491472" y="2148840"/>
            <a:ext cx="3657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420"/>
              </a:buClr>
              <a:buSzPts val="2000"/>
              <a:buFont typeface="Arial"/>
              <a:buNone/>
            </a:pPr>
            <a:r>
              <a:rPr b="1" i="0" lang="en-US" sz="2000" u="none" cap="none" strike="noStrike">
                <a:solidFill>
                  <a:srgbClr val="7A1420"/>
                </a:solidFill>
                <a:latin typeface="Arial"/>
                <a:ea typeface="Arial"/>
                <a:cs typeface="Arial"/>
                <a:sym typeface="Arial"/>
              </a:rPr>
              <a:t>↔</a:t>
            </a:r>
            <a:endParaRPr b="0" i="0" sz="2000" u="none" cap="none" strike="noStrike">
              <a:solidFill>
                <a:schemeClr val="dk1"/>
              </a:solidFill>
              <a:latin typeface="Calibri"/>
              <a:ea typeface="Calibri"/>
              <a:cs typeface="Calibri"/>
              <a:sym typeface="Calibri"/>
            </a:endParaRPr>
          </a:p>
        </p:txBody>
      </p:sp>
      <p:sp>
        <p:nvSpPr>
          <p:cNvPr id="427" name="Google Shape;427;p23"/>
          <p:cNvSpPr/>
          <p:nvPr/>
        </p:nvSpPr>
        <p:spPr>
          <a:xfrm>
            <a:off x="9765792" y="2011680"/>
            <a:ext cx="2084832" cy="822960"/>
          </a:xfrm>
          <a:prstGeom prst="roundRect">
            <a:avLst>
              <a:gd fmla="val 8889"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3"/>
          <p:cNvSpPr/>
          <p:nvPr/>
        </p:nvSpPr>
        <p:spPr>
          <a:xfrm>
            <a:off x="9765792" y="2011680"/>
            <a:ext cx="2084832"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Metodología</a:t>
            </a:r>
            <a:endParaRPr b="0" i="0" sz="1500" u="none" cap="none" strike="noStrike">
              <a:solidFill>
                <a:schemeClr val="dk1"/>
              </a:solidFill>
              <a:latin typeface="Calibri"/>
              <a:ea typeface="Calibri"/>
              <a:cs typeface="Calibri"/>
              <a:sym typeface="Calibri"/>
            </a:endParaRPr>
          </a:p>
        </p:txBody>
      </p:sp>
      <p:sp>
        <p:nvSpPr>
          <p:cNvPr id="429" name="Google Shape;429;p23"/>
          <p:cNvSpPr/>
          <p:nvPr/>
        </p:nvSpPr>
        <p:spPr>
          <a:xfrm>
            <a:off x="548640" y="3246120"/>
            <a:ext cx="10972800" cy="2834640"/>
          </a:xfrm>
          <a:prstGeom prst="roundRect">
            <a:avLst>
              <a:gd fmla="val 2903"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3"/>
          <p:cNvSpPr/>
          <p:nvPr/>
        </p:nvSpPr>
        <p:spPr>
          <a:xfrm>
            <a:off x="868680" y="3474720"/>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El hilo de oro de tu tesis</a:t>
            </a:r>
            <a:endParaRPr b="0" i="0" sz="1700" u="none" cap="none" strike="noStrike">
              <a:solidFill>
                <a:schemeClr val="dk1"/>
              </a:solidFill>
              <a:latin typeface="Calibri"/>
              <a:ea typeface="Calibri"/>
              <a:cs typeface="Calibri"/>
              <a:sym typeface="Calibri"/>
            </a:endParaRPr>
          </a:p>
        </p:txBody>
      </p:sp>
      <p:sp>
        <p:nvSpPr>
          <p:cNvPr id="431" name="Google Shape;431;p23"/>
          <p:cNvSpPr/>
          <p:nvPr/>
        </p:nvSpPr>
        <p:spPr>
          <a:xfrm>
            <a:off x="868680" y="3931920"/>
            <a:ext cx="10149840" cy="2011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Una sola tabla donde cada FILA es una línea de investigación y cada COLUMNA una pieza. Se lee en horizontal: el problema específico 1 ↔ objetivo específico 1 ↔ hipótesis específica 1 ↔ su variable ↔ su método.</a:t>
            </a:r>
            <a:br>
              <a:rPr b="0" i="0" lang="en-US" sz="1500" u="none" cap="none" strike="noStrike">
                <a:solidFill>
                  <a:srgbClr val="1F2733"/>
                </a:solidFill>
                <a:latin typeface="Arial"/>
                <a:ea typeface="Arial"/>
                <a:cs typeface="Arial"/>
                <a:sym typeface="Arial"/>
              </a:rPr>
            </a:br>
            <a:br>
              <a:rPr b="0" i="0" lang="en-US" sz="1500" u="none" cap="none" strike="noStrike">
                <a:solidFill>
                  <a:srgbClr val="1F2733"/>
                </a:solidFill>
                <a:latin typeface="Arial"/>
                <a:ea typeface="Arial"/>
                <a:cs typeface="Arial"/>
                <a:sym typeface="Arial"/>
              </a:rPr>
            </a:br>
            <a:r>
              <a:rPr b="1" i="0" lang="en-US" sz="1500" u="none" cap="none" strike="noStrike">
                <a:solidFill>
                  <a:srgbClr val="7A1420"/>
                </a:solidFill>
                <a:latin typeface="Arial"/>
                <a:ea typeface="Arial"/>
                <a:cs typeface="Arial"/>
                <a:sym typeface="Arial"/>
              </a:rPr>
              <a:t>Si una fila no cierra en horizontal, hay incoherencia. Es el Anexo A de tu TSP y el primer filtro del jurado.</a:t>
            </a:r>
            <a:endParaRPr b="0" i="0" sz="1500" u="none" cap="none" strike="noStrike">
              <a:solidFill>
                <a:schemeClr val="dk1"/>
              </a:solidFill>
              <a:latin typeface="Calibri"/>
              <a:ea typeface="Calibri"/>
              <a:cs typeface="Calibri"/>
              <a:sym typeface="Calibri"/>
            </a:endParaRPr>
          </a:p>
        </p:txBody>
      </p:sp>
      <p:sp>
        <p:nvSpPr>
          <p:cNvPr id="432" name="Google Shape;432;p23"/>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433" name="Google Shape;433;p23"/>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8" name="Shape 438"/>
        <p:cNvGrpSpPr/>
        <p:nvPr/>
      </p:nvGrpSpPr>
      <p:grpSpPr>
        <a:xfrm>
          <a:off x="0" y="0"/>
          <a:ext cx="0" cy="0"/>
          <a:chOff x="0" y="0"/>
          <a:chExt cx="0" cy="0"/>
        </a:xfrm>
      </p:grpSpPr>
      <p:sp>
        <p:nvSpPr>
          <p:cNvPr id="439" name="Google Shape;439;p24"/>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F · VERIFICACIÓN</a:t>
            </a:r>
            <a:endParaRPr b="0" i="0" sz="1200" u="none" cap="none" strike="noStrike">
              <a:solidFill>
                <a:schemeClr val="dk1"/>
              </a:solidFill>
              <a:latin typeface="Calibri"/>
              <a:ea typeface="Calibri"/>
              <a:cs typeface="Calibri"/>
              <a:sym typeface="Calibri"/>
            </a:endParaRPr>
          </a:p>
        </p:txBody>
      </p:sp>
      <p:sp>
        <p:nvSpPr>
          <p:cNvPr id="440" name="Google Shape;440;p24"/>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Cómo validar la coherencia</a:t>
            </a:r>
            <a:endParaRPr b="0" i="0" sz="3000" u="none" cap="none" strike="noStrike">
              <a:solidFill>
                <a:schemeClr val="dk1"/>
              </a:solidFill>
              <a:latin typeface="Calibri"/>
              <a:ea typeface="Calibri"/>
              <a:cs typeface="Calibri"/>
              <a:sym typeface="Calibri"/>
            </a:endParaRPr>
          </a:p>
        </p:txBody>
      </p:sp>
      <p:sp>
        <p:nvSpPr>
          <p:cNvPr id="441" name="Google Shape;441;p24"/>
          <p:cNvSpPr/>
          <p:nvPr/>
        </p:nvSpPr>
        <p:spPr>
          <a:xfrm>
            <a:off x="548640" y="1828800"/>
            <a:ext cx="5349240" cy="1417320"/>
          </a:xfrm>
          <a:prstGeom prst="roundRect">
            <a:avLst>
              <a:gd fmla="val 5806"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4"/>
          <p:cNvSpPr/>
          <p:nvPr/>
        </p:nvSpPr>
        <p:spPr>
          <a:xfrm>
            <a:off x="822960" y="2011680"/>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600"/>
              <a:buFont typeface="Arial"/>
              <a:buNone/>
            </a:pPr>
            <a:r>
              <a:rPr b="1" i="0" lang="en-US" sz="1600" u="none" cap="none" strike="noStrike">
                <a:solidFill>
                  <a:srgbClr val="7A1420"/>
                </a:solidFill>
                <a:latin typeface="Arial"/>
                <a:ea typeface="Arial"/>
                <a:cs typeface="Arial"/>
                <a:sym typeface="Arial"/>
              </a:rPr>
              <a:t>Horizontal</a:t>
            </a:r>
            <a:endParaRPr b="0" i="0" sz="1600" u="none" cap="none" strike="noStrike">
              <a:solidFill>
                <a:schemeClr val="dk1"/>
              </a:solidFill>
              <a:latin typeface="Calibri"/>
              <a:ea typeface="Calibri"/>
              <a:cs typeface="Calibri"/>
              <a:sym typeface="Calibri"/>
            </a:endParaRPr>
          </a:p>
        </p:txBody>
      </p:sp>
      <p:sp>
        <p:nvSpPr>
          <p:cNvPr id="443" name="Google Shape;443;p24"/>
          <p:cNvSpPr/>
          <p:nvPr/>
        </p:nvSpPr>
        <p:spPr>
          <a:xfrm>
            <a:off x="822960" y="2468880"/>
            <a:ext cx="4846320" cy="7315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350"/>
              <a:buFont typeface="Arial"/>
              <a:buNone/>
            </a:pPr>
            <a:r>
              <a:rPr b="0" i="0" lang="en-US" sz="1350" u="none" cap="none" strike="noStrike">
                <a:solidFill>
                  <a:srgbClr val="1F2733"/>
                </a:solidFill>
                <a:latin typeface="Arial"/>
                <a:ea typeface="Arial"/>
                <a:cs typeface="Arial"/>
                <a:sym typeface="Arial"/>
              </a:rPr>
              <a:t>¿Cada fila alinea problema-objetivo-hipótesis-variable-método?</a:t>
            </a:r>
            <a:endParaRPr b="0" i="0" sz="1350" u="none" cap="none" strike="noStrike">
              <a:solidFill>
                <a:schemeClr val="dk1"/>
              </a:solidFill>
              <a:latin typeface="Calibri"/>
              <a:ea typeface="Calibri"/>
              <a:cs typeface="Calibri"/>
              <a:sym typeface="Calibri"/>
            </a:endParaRPr>
          </a:p>
        </p:txBody>
      </p:sp>
      <p:sp>
        <p:nvSpPr>
          <p:cNvPr id="444" name="Google Shape;444;p24"/>
          <p:cNvSpPr/>
          <p:nvPr/>
        </p:nvSpPr>
        <p:spPr>
          <a:xfrm>
            <a:off x="6126480" y="1828800"/>
            <a:ext cx="5349240" cy="1417320"/>
          </a:xfrm>
          <a:prstGeom prst="roundRect">
            <a:avLst>
              <a:gd fmla="val 5806"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4"/>
          <p:cNvSpPr/>
          <p:nvPr/>
        </p:nvSpPr>
        <p:spPr>
          <a:xfrm>
            <a:off x="6400800" y="2011680"/>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600"/>
              <a:buFont typeface="Arial"/>
              <a:buNone/>
            </a:pPr>
            <a:r>
              <a:rPr b="1" i="0" lang="en-US" sz="1600" u="none" cap="none" strike="noStrike">
                <a:solidFill>
                  <a:srgbClr val="7A1420"/>
                </a:solidFill>
                <a:latin typeface="Arial"/>
                <a:ea typeface="Arial"/>
                <a:cs typeface="Arial"/>
                <a:sym typeface="Arial"/>
              </a:rPr>
              <a:t>Vertical</a:t>
            </a:r>
            <a:endParaRPr b="0" i="0" sz="1600" u="none" cap="none" strike="noStrike">
              <a:solidFill>
                <a:schemeClr val="dk1"/>
              </a:solidFill>
              <a:latin typeface="Calibri"/>
              <a:ea typeface="Calibri"/>
              <a:cs typeface="Calibri"/>
              <a:sym typeface="Calibri"/>
            </a:endParaRPr>
          </a:p>
        </p:txBody>
      </p:sp>
      <p:sp>
        <p:nvSpPr>
          <p:cNvPr id="446" name="Google Shape;446;p24"/>
          <p:cNvSpPr/>
          <p:nvPr/>
        </p:nvSpPr>
        <p:spPr>
          <a:xfrm>
            <a:off x="6400800" y="2468880"/>
            <a:ext cx="4846320" cy="7315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350"/>
              <a:buFont typeface="Arial"/>
              <a:buNone/>
            </a:pPr>
            <a:r>
              <a:rPr b="0" i="0" lang="en-US" sz="1350" u="none" cap="none" strike="noStrike">
                <a:solidFill>
                  <a:srgbClr val="1F2733"/>
                </a:solidFill>
                <a:latin typeface="Arial"/>
                <a:ea typeface="Arial"/>
                <a:cs typeface="Arial"/>
                <a:sym typeface="Arial"/>
              </a:rPr>
              <a:t>¿Los específicos suman al general en cada columna?</a:t>
            </a:r>
            <a:endParaRPr b="0" i="0" sz="1350" u="none" cap="none" strike="noStrike">
              <a:solidFill>
                <a:schemeClr val="dk1"/>
              </a:solidFill>
              <a:latin typeface="Calibri"/>
              <a:ea typeface="Calibri"/>
              <a:cs typeface="Calibri"/>
              <a:sym typeface="Calibri"/>
            </a:endParaRPr>
          </a:p>
        </p:txBody>
      </p:sp>
      <p:sp>
        <p:nvSpPr>
          <p:cNvPr id="447" name="Google Shape;447;p24"/>
          <p:cNvSpPr/>
          <p:nvPr/>
        </p:nvSpPr>
        <p:spPr>
          <a:xfrm>
            <a:off x="548640" y="3383280"/>
            <a:ext cx="5349240" cy="1417320"/>
          </a:xfrm>
          <a:prstGeom prst="roundRect">
            <a:avLst>
              <a:gd fmla="val 5806"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4"/>
          <p:cNvSpPr/>
          <p:nvPr/>
        </p:nvSpPr>
        <p:spPr>
          <a:xfrm>
            <a:off x="822960" y="3566160"/>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600"/>
              <a:buFont typeface="Arial"/>
              <a:buNone/>
            </a:pPr>
            <a:r>
              <a:rPr b="1" i="0" lang="en-US" sz="1600" u="none" cap="none" strike="noStrike">
                <a:solidFill>
                  <a:srgbClr val="7A1420"/>
                </a:solidFill>
                <a:latin typeface="Arial"/>
                <a:ea typeface="Arial"/>
                <a:cs typeface="Arial"/>
                <a:sym typeface="Arial"/>
              </a:rPr>
              <a:t>Variables</a:t>
            </a:r>
            <a:endParaRPr b="0" i="0" sz="1600" u="none" cap="none" strike="noStrike">
              <a:solidFill>
                <a:schemeClr val="dk1"/>
              </a:solidFill>
              <a:latin typeface="Calibri"/>
              <a:ea typeface="Calibri"/>
              <a:cs typeface="Calibri"/>
              <a:sym typeface="Calibri"/>
            </a:endParaRPr>
          </a:p>
        </p:txBody>
      </p:sp>
      <p:sp>
        <p:nvSpPr>
          <p:cNvPr id="449" name="Google Shape;449;p24"/>
          <p:cNvSpPr/>
          <p:nvPr/>
        </p:nvSpPr>
        <p:spPr>
          <a:xfrm>
            <a:off x="822960" y="4023360"/>
            <a:ext cx="4846320" cy="7315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350"/>
              <a:buFont typeface="Arial"/>
              <a:buNone/>
            </a:pPr>
            <a:r>
              <a:rPr b="0" i="0" lang="en-US" sz="1350" u="none" cap="none" strike="noStrike">
                <a:solidFill>
                  <a:srgbClr val="1F2733"/>
                </a:solidFill>
                <a:latin typeface="Arial"/>
                <a:ea typeface="Arial"/>
                <a:cs typeface="Arial"/>
                <a:sym typeface="Arial"/>
              </a:rPr>
              <a:t>¿Cada variable de la hipótesis está operacionalizada?</a:t>
            </a:r>
            <a:endParaRPr b="0" i="0" sz="1350" u="none" cap="none" strike="noStrike">
              <a:solidFill>
                <a:schemeClr val="dk1"/>
              </a:solidFill>
              <a:latin typeface="Calibri"/>
              <a:ea typeface="Calibri"/>
              <a:cs typeface="Calibri"/>
              <a:sym typeface="Calibri"/>
            </a:endParaRPr>
          </a:p>
        </p:txBody>
      </p:sp>
      <p:sp>
        <p:nvSpPr>
          <p:cNvPr id="450" name="Google Shape;450;p24"/>
          <p:cNvSpPr/>
          <p:nvPr/>
        </p:nvSpPr>
        <p:spPr>
          <a:xfrm>
            <a:off x="6126480" y="3383280"/>
            <a:ext cx="5349240" cy="1417320"/>
          </a:xfrm>
          <a:prstGeom prst="roundRect">
            <a:avLst>
              <a:gd fmla="val 5806"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4"/>
          <p:cNvSpPr/>
          <p:nvPr/>
        </p:nvSpPr>
        <p:spPr>
          <a:xfrm>
            <a:off x="6400800" y="3566160"/>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600"/>
              <a:buFont typeface="Arial"/>
              <a:buNone/>
            </a:pPr>
            <a:r>
              <a:rPr b="1" i="0" lang="en-US" sz="1600" u="none" cap="none" strike="noStrike">
                <a:solidFill>
                  <a:srgbClr val="7A1420"/>
                </a:solidFill>
                <a:latin typeface="Arial"/>
                <a:ea typeface="Arial"/>
                <a:cs typeface="Arial"/>
                <a:sym typeface="Arial"/>
              </a:rPr>
              <a:t>Método</a:t>
            </a:r>
            <a:endParaRPr b="0" i="0" sz="1600" u="none" cap="none" strike="noStrike">
              <a:solidFill>
                <a:schemeClr val="dk1"/>
              </a:solidFill>
              <a:latin typeface="Calibri"/>
              <a:ea typeface="Calibri"/>
              <a:cs typeface="Calibri"/>
              <a:sym typeface="Calibri"/>
            </a:endParaRPr>
          </a:p>
        </p:txBody>
      </p:sp>
      <p:sp>
        <p:nvSpPr>
          <p:cNvPr id="452" name="Google Shape;452;p24"/>
          <p:cNvSpPr/>
          <p:nvPr/>
        </p:nvSpPr>
        <p:spPr>
          <a:xfrm>
            <a:off x="6400800" y="4023360"/>
            <a:ext cx="4846320" cy="7315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350"/>
              <a:buFont typeface="Arial"/>
              <a:buNone/>
            </a:pPr>
            <a:r>
              <a:rPr b="0" i="0" lang="en-US" sz="1350" u="none" cap="none" strike="noStrike">
                <a:solidFill>
                  <a:srgbClr val="1F2733"/>
                </a:solidFill>
                <a:latin typeface="Arial"/>
                <a:ea typeface="Arial"/>
                <a:cs typeface="Arial"/>
                <a:sym typeface="Arial"/>
              </a:rPr>
              <a:t>¿El diseño permite realmente contrastar la hipótesis?</a:t>
            </a:r>
            <a:endParaRPr b="0" i="0" sz="1350" u="none" cap="none" strike="noStrike">
              <a:solidFill>
                <a:schemeClr val="dk1"/>
              </a:solidFill>
              <a:latin typeface="Calibri"/>
              <a:ea typeface="Calibri"/>
              <a:cs typeface="Calibri"/>
              <a:sym typeface="Calibri"/>
            </a:endParaRPr>
          </a:p>
        </p:txBody>
      </p:sp>
      <p:sp>
        <p:nvSpPr>
          <p:cNvPr id="453" name="Google Shape;453;p24"/>
          <p:cNvSpPr/>
          <p:nvPr/>
        </p:nvSpPr>
        <p:spPr>
          <a:xfrm>
            <a:off x="548640" y="5029200"/>
            <a:ext cx="10972800" cy="1005840"/>
          </a:xfrm>
          <a:prstGeom prst="roundRect">
            <a:avLst>
              <a:gd fmla="val 8182"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4"/>
          <p:cNvSpPr/>
          <p:nvPr/>
        </p:nvSpPr>
        <p:spPr>
          <a:xfrm>
            <a:off x="914400" y="5029200"/>
            <a:ext cx="10241280" cy="10058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Aquí la IA es útil como auditor: pídele que revise la coherencia de tu matriz — pero tú decides y justificas cada ajuste.</a:t>
            </a:r>
            <a:endParaRPr b="0" i="0" sz="1600" u="none" cap="none" strike="noStrike">
              <a:solidFill>
                <a:schemeClr val="dk1"/>
              </a:solidFill>
              <a:latin typeface="Calibri"/>
              <a:ea typeface="Calibri"/>
              <a:cs typeface="Calibri"/>
              <a:sym typeface="Calibri"/>
            </a:endParaRPr>
          </a:p>
        </p:txBody>
      </p:sp>
      <p:sp>
        <p:nvSpPr>
          <p:cNvPr id="455" name="Google Shape;455;p24"/>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456" name="Google Shape;456;p24"/>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25"/>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G · IA CON INTEGRIDAD</a:t>
            </a:r>
            <a:endParaRPr b="0" i="0" sz="1200" u="none" cap="none" strike="noStrike">
              <a:solidFill>
                <a:schemeClr val="dk1"/>
              </a:solidFill>
              <a:latin typeface="Calibri"/>
              <a:ea typeface="Calibri"/>
              <a:cs typeface="Calibri"/>
              <a:sym typeface="Calibri"/>
            </a:endParaRPr>
          </a:p>
        </p:txBody>
      </p:sp>
      <p:sp>
        <p:nvSpPr>
          <p:cNvPr id="463" name="Google Shape;463;p25"/>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La IA como copiloto metodológico</a:t>
            </a:r>
            <a:endParaRPr b="0" i="0" sz="3000" u="none" cap="none" strike="noStrike">
              <a:solidFill>
                <a:schemeClr val="dk1"/>
              </a:solidFill>
              <a:latin typeface="Calibri"/>
              <a:ea typeface="Calibri"/>
              <a:cs typeface="Calibri"/>
              <a:sym typeface="Calibri"/>
            </a:endParaRPr>
          </a:p>
        </p:txBody>
      </p:sp>
      <p:sp>
        <p:nvSpPr>
          <p:cNvPr id="464" name="Google Shape;464;p25"/>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5"/>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62–72 min</a:t>
            </a:r>
            <a:endParaRPr b="0" i="0" sz="1200" u="none" cap="none" strike="noStrike">
              <a:solidFill>
                <a:schemeClr val="dk1"/>
              </a:solidFill>
              <a:latin typeface="Calibri"/>
              <a:ea typeface="Calibri"/>
              <a:cs typeface="Calibri"/>
              <a:sym typeface="Calibri"/>
            </a:endParaRPr>
          </a:p>
        </p:txBody>
      </p:sp>
      <p:sp>
        <p:nvSpPr>
          <p:cNvPr id="466" name="Google Shape;466;p25"/>
          <p:cNvSpPr/>
          <p:nvPr/>
        </p:nvSpPr>
        <p:spPr>
          <a:xfrm>
            <a:off x="548640" y="1828800"/>
            <a:ext cx="5440680" cy="4023360"/>
          </a:xfrm>
          <a:prstGeom prst="roundRect">
            <a:avLst>
              <a:gd fmla="val 2045" name="adj"/>
            </a:avLst>
          </a:prstGeom>
          <a:solidFill>
            <a:srgbClr val="E7F0E9"/>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5"/>
          <p:cNvSpPr/>
          <p:nvPr/>
        </p:nvSpPr>
        <p:spPr>
          <a:xfrm>
            <a:off x="868680" y="2057400"/>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700"/>
              <a:buFont typeface="Arial"/>
              <a:buNone/>
            </a:pPr>
            <a:r>
              <a:rPr b="1" i="0" lang="en-US" sz="1700" u="none" cap="none" strike="noStrike">
                <a:solidFill>
                  <a:srgbClr val="2E7D32"/>
                </a:solidFill>
                <a:latin typeface="Arial"/>
                <a:ea typeface="Arial"/>
                <a:cs typeface="Arial"/>
                <a:sym typeface="Arial"/>
              </a:rPr>
              <a:t>Úsala para…</a:t>
            </a:r>
            <a:endParaRPr b="0" i="0" sz="1700" u="none" cap="none" strike="noStrike">
              <a:solidFill>
                <a:schemeClr val="dk1"/>
              </a:solidFill>
              <a:latin typeface="Calibri"/>
              <a:ea typeface="Calibri"/>
              <a:cs typeface="Calibri"/>
              <a:sym typeface="Calibri"/>
            </a:endParaRPr>
          </a:p>
        </p:txBody>
      </p:sp>
      <p:sp>
        <p:nvSpPr>
          <p:cNvPr id="468" name="Google Shape;468;p25"/>
          <p:cNvSpPr/>
          <p:nvPr/>
        </p:nvSpPr>
        <p:spPr>
          <a:xfrm>
            <a:off x="868680" y="2514600"/>
            <a:ext cx="4937760" cy="3108960"/>
          </a:xfrm>
          <a:prstGeom prst="rect">
            <a:avLst/>
          </a:prstGeom>
          <a:noFill/>
          <a:ln>
            <a:noFill/>
          </a:ln>
        </p:spPr>
        <p:txBody>
          <a:bodyPr anchorCtr="0" anchor="ctr" bIns="0" lIns="0" spcFirstLastPara="1" rIns="0" wrap="square" tIns="0">
            <a:noAutofit/>
          </a:bodyPr>
          <a:lstStyle/>
          <a:p>
            <a:pPr indent="0" lvl="0" marL="0" marR="0" rtl="0" algn="l">
              <a:lnSpc>
                <a:spcPct val="145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Redactar mejor problema y objetivos</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Sugerir verbos e indicadores</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Auditar la coherencia de tu matriz</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Proponer alternativas de diseño</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Detectar variables olvidadas</a:t>
            </a:r>
            <a:endParaRPr b="0" i="0" sz="1500" u="none" cap="none" strike="noStrike">
              <a:solidFill>
                <a:schemeClr val="dk1"/>
              </a:solidFill>
              <a:latin typeface="Calibri"/>
              <a:ea typeface="Calibri"/>
              <a:cs typeface="Calibri"/>
              <a:sym typeface="Calibri"/>
            </a:endParaRPr>
          </a:p>
        </p:txBody>
      </p:sp>
      <p:sp>
        <p:nvSpPr>
          <p:cNvPr id="469" name="Google Shape;469;p25"/>
          <p:cNvSpPr/>
          <p:nvPr/>
        </p:nvSpPr>
        <p:spPr>
          <a:xfrm>
            <a:off x="6172200" y="1828800"/>
            <a:ext cx="5440680" cy="4023360"/>
          </a:xfrm>
          <a:prstGeom prst="roundRect">
            <a:avLst>
              <a:gd fmla="val 2045" name="adj"/>
            </a:avLst>
          </a:prstGeom>
          <a:solidFill>
            <a:srgbClr val="F3E1E4"/>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5"/>
          <p:cNvSpPr/>
          <p:nvPr/>
        </p:nvSpPr>
        <p:spPr>
          <a:xfrm>
            <a:off x="6492240" y="2057400"/>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No dejes que…</a:t>
            </a:r>
            <a:endParaRPr b="0" i="0" sz="1700" u="none" cap="none" strike="noStrike">
              <a:solidFill>
                <a:schemeClr val="dk1"/>
              </a:solidFill>
              <a:latin typeface="Calibri"/>
              <a:ea typeface="Calibri"/>
              <a:cs typeface="Calibri"/>
              <a:sym typeface="Calibri"/>
            </a:endParaRPr>
          </a:p>
        </p:txBody>
      </p:sp>
      <p:sp>
        <p:nvSpPr>
          <p:cNvPr id="471" name="Google Shape;471;p25"/>
          <p:cNvSpPr/>
          <p:nvPr/>
        </p:nvSpPr>
        <p:spPr>
          <a:xfrm>
            <a:off x="6492240" y="2514600"/>
            <a:ext cx="4937760" cy="3108960"/>
          </a:xfrm>
          <a:prstGeom prst="rect">
            <a:avLst/>
          </a:prstGeom>
          <a:noFill/>
          <a:ln>
            <a:noFill/>
          </a:ln>
        </p:spPr>
        <p:txBody>
          <a:bodyPr anchorCtr="0" anchor="ctr" bIns="0" lIns="0" spcFirstLastPara="1" rIns="0" wrap="square" tIns="0">
            <a:noAutofit/>
          </a:bodyPr>
          <a:lstStyle/>
          <a:p>
            <a:pPr indent="0" lvl="0" marL="0" marR="0" rtl="0" algn="l">
              <a:lnSpc>
                <a:spcPct val="145000"/>
              </a:lnSpc>
              <a:spcBef>
                <a:spcPts val="0"/>
              </a:spcBef>
              <a:spcAft>
                <a:spcPts val="0"/>
              </a:spcAft>
              <a:buClr>
                <a:srgbClr val="1F2733"/>
              </a:buClr>
              <a:buSzPts val="1500"/>
              <a:buFont typeface="Arial"/>
              <a:buNone/>
            </a:pPr>
            <a:r>
              <a:rPr b="0" i="0" lang="en-US" sz="1500" u="none" cap="none" strike="noStrike">
                <a:solidFill>
                  <a:srgbClr val="1F2733"/>
                </a:solidFill>
                <a:latin typeface="Arial"/>
                <a:ea typeface="Arial"/>
                <a:cs typeface="Arial"/>
                <a:sym typeface="Arial"/>
              </a:rPr>
              <a:t>Elija tu diseño sin que lo justifiques</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Invente población, muestra o datos</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Fije hipótesis que no entiendes</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Reemplace el juicio de tu asesor</a:t>
            </a:r>
            <a:br>
              <a:rPr b="0" i="0" lang="en-US" sz="1500" u="none" cap="none" strike="noStrike">
                <a:solidFill>
                  <a:srgbClr val="1F2733"/>
                </a:solidFill>
                <a:latin typeface="Arial"/>
                <a:ea typeface="Arial"/>
                <a:cs typeface="Arial"/>
                <a:sym typeface="Arial"/>
              </a:rPr>
            </a:br>
            <a:r>
              <a:rPr b="0" i="0" lang="en-US" sz="1500" u="none" cap="none" strike="noStrike">
                <a:solidFill>
                  <a:srgbClr val="1F2733"/>
                </a:solidFill>
                <a:latin typeface="Arial"/>
                <a:ea typeface="Arial"/>
                <a:cs typeface="Arial"/>
                <a:sym typeface="Arial"/>
              </a:rPr>
              <a:t>Decida por ti</a:t>
            </a:r>
            <a:endParaRPr b="0" i="0" sz="1500" u="none" cap="none" strike="noStrike">
              <a:solidFill>
                <a:schemeClr val="dk1"/>
              </a:solidFill>
              <a:latin typeface="Calibri"/>
              <a:ea typeface="Calibri"/>
              <a:cs typeface="Calibri"/>
              <a:sym typeface="Calibri"/>
            </a:endParaRPr>
          </a:p>
        </p:txBody>
      </p:sp>
      <p:sp>
        <p:nvSpPr>
          <p:cNvPr id="472" name="Google Shape;472;p25"/>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473" name="Google Shape;473;p25"/>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8" name="Shape 478"/>
        <p:cNvGrpSpPr/>
        <p:nvPr/>
      </p:nvGrpSpPr>
      <p:grpSpPr>
        <a:xfrm>
          <a:off x="0" y="0"/>
          <a:ext cx="0" cy="0"/>
          <a:chOff x="0" y="0"/>
          <a:chExt cx="0" cy="0"/>
        </a:xfrm>
      </p:grpSpPr>
      <p:sp>
        <p:nvSpPr>
          <p:cNvPr id="479" name="Google Shape;479;p26"/>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BLOQUE G · USO RESPONSABLE</a:t>
            </a:r>
            <a:endParaRPr b="0" i="0" sz="1200" u="none" cap="none" strike="noStrike">
              <a:solidFill>
                <a:schemeClr val="dk1"/>
              </a:solidFill>
              <a:latin typeface="Calibri"/>
              <a:ea typeface="Calibri"/>
              <a:cs typeface="Calibri"/>
              <a:sym typeface="Calibri"/>
            </a:endParaRPr>
          </a:p>
        </p:txBody>
      </p:sp>
      <p:sp>
        <p:nvSpPr>
          <p:cNvPr id="480" name="Google Shape;480;p26"/>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Semáforo en metodología</a:t>
            </a:r>
            <a:endParaRPr b="0" i="0" sz="3000" u="none" cap="none" strike="noStrike">
              <a:solidFill>
                <a:schemeClr val="dk1"/>
              </a:solidFill>
              <a:latin typeface="Calibri"/>
              <a:ea typeface="Calibri"/>
              <a:cs typeface="Calibri"/>
              <a:sym typeface="Calibri"/>
            </a:endParaRPr>
          </a:p>
        </p:txBody>
      </p:sp>
      <p:sp>
        <p:nvSpPr>
          <p:cNvPr id="481" name="Google Shape;481;p26"/>
          <p:cNvSpPr/>
          <p:nvPr/>
        </p:nvSpPr>
        <p:spPr>
          <a:xfrm>
            <a:off x="548640" y="1783080"/>
            <a:ext cx="3566160" cy="4114800"/>
          </a:xfrm>
          <a:prstGeom prst="roundRect">
            <a:avLst>
              <a:gd fmla="val 2308" name="adj"/>
            </a:avLst>
          </a:prstGeom>
          <a:solidFill>
            <a:srgbClr val="E7F0E9"/>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6"/>
          <p:cNvSpPr/>
          <p:nvPr/>
        </p:nvSpPr>
        <p:spPr>
          <a:xfrm>
            <a:off x="1920240" y="2057400"/>
            <a:ext cx="822960" cy="822960"/>
          </a:xfrm>
          <a:prstGeom prst="ellipse">
            <a:avLst/>
          </a:pr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6"/>
          <p:cNvSpPr/>
          <p:nvPr/>
        </p:nvSpPr>
        <p:spPr>
          <a:xfrm>
            <a:off x="548640" y="2971800"/>
            <a:ext cx="3566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2000"/>
              <a:buFont typeface="Arial"/>
              <a:buNone/>
            </a:pPr>
            <a:r>
              <a:rPr b="1" i="0" lang="en-US" sz="2000" u="none" cap="none" strike="noStrike">
                <a:solidFill>
                  <a:srgbClr val="2E7D32"/>
                </a:solidFill>
                <a:latin typeface="Arial"/>
                <a:ea typeface="Arial"/>
                <a:cs typeface="Arial"/>
                <a:sym typeface="Arial"/>
              </a:rPr>
              <a:t>VERDE</a:t>
            </a:r>
            <a:endParaRPr b="0" i="0" sz="2000" u="none" cap="none" strike="noStrike">
              <a:solidFill>
                <a:schemeClr val="dk1"/>
              </a:solidFill>
              <a:latin typeface="Calibri"/>
              <a:ea typeface="Calibri"/>
              <a:cs typeface="Calibri"/>
              <a:sym typeface="Calibri"/>
            </a:endParaRPr>
          </a:p>
        </p:txBody>
      </p:sp>
      <p:sp>
        <p:nvSpPr>
          <p:cNvPr id="484" name="Google Shape;484;p26"/>
          <p:cNvSpPr/>
          <p:nvPr/>
        </p:nvSpPr>
        <p:spPr>
          <a:xfrm>
            <a:off x="822960" y="3520440"/>
            <a:ext cx="3017520" cy="219456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Reformular el problema, sugerir verbos, revisar redacción, auditar coherencia.</a:t>
            </a:r>
            <a:endParaRPr b="0" i="0" sz="1450" u="none" cap="none" strike="noStrike">
              <a:solidFill>
                <a:schemeClr val="dk1"/>
              </a:solidFill>
              <a:latin typeface="Calibri"/>
              <a:ea typeface="Calibri"/>
              <a:cs typeface="Calibri"/>
              <a:sym typeface="Calibri"/>
            </a:endParaRPr>
          </a:p>
        </p:txBody>
      </p:sp>
      <p:sp>
        <p:nvSpPr>
          <p:cNvPr id="485" name="Google Shape;485;p26"/>
          <p:cNvSpPr/>
          <p:nvPr/>
        </p:nvSpPr>
        <p:spPr>
          <a:xfrm>
            <a:off x="4251960" y="1783080"/>
            <a:ext cx="3566160" cy="4114800"/>
          </a:xfrm>
          <a:prstGeom prst="roundRect">
            <a:avLst>
              <a:gd fmla="val 2308" name="adj"/>
            </a:avLst>
          </a:prstGeom>
          <a:solidFill>
            <a:srgbClr val="FBF3E0"/>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6"/>
          <p:cNvSpPr/>
          <p:nvPr/>
        </p:nvSpPr>
        <p:spPr>
          <a:xfrm>
            <a:off x="5623560" y="2057400"/>
            <a:ext cx="822960" cy="822960"/>
          </a:xfrm>
          <a:prstGeom prst="ellipse">
            <a:avLst/>
          </a:prstGeom>
          <a:solidFill>
            <a:srgbClr val="C88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6"/>
          <p:cNvSpPr/>
          <p:nvPr/>
        </p:nvSpPr>
        <p:spPr>
          <a:xfrm>
            <a:off x="4251960" y="2971800"/>
            <a:ext cx="3566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8A00"/>
              </a:buClr>
              <a:buSzPts val="2000"/>
              <a:buFont typeface="Arial"/>
              <a:buNone/>
            </a:pPr>
            <a:r>
              <a:rPr b="1" i="0" lang="en-US" sz="2000" u="none" cap="none" strike="noStrike">
                <a:solidFill>
                  <a:srgbClr val="C88A00"/>
                </a:solidFill>
                <a:latin typeface="Arial"/>
                <a:ea typeface="Arial"/>
                <a:cs typeface="Arial"/>
                <a:sym typeface="Arial"/>
              </a:rPr>
              <a:t>AMARILLO</a:t>
            </a:r>
            <a:endParaRPr b="0" i="0" sz="2000" u="none" cap="none" strike="noStrike">
              <a:solidFill>
                <a:schemeClr val="dk1"/>
              </a:solidFill>
              <a:latin typeface="Calibri"/>
              <a:ea typeface="Calibri"/>
              <a:cs typeface="Calibri"/>
              <a:sym typeface="Calibri"/>
            </a:endParaRPr>
          </a:p>
        </p:txBody>
      </p:sp>
      <p:sp>
        <p:nvSpPr>
          <p:cNvPr id="488" name="Google Shape;488;p26"/>
          <p:cNvSpPr/>
          <p:nvPr/>
        </p:nvSpPr>
        <p:spPr>
          <a:xfrm>
            <a:off x="4526280" y="3520440"/>
            <a:ext cx="3017520" cy="219456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Proponer diseño, muestra o instrumentos: valida con tu asesor y justifica cada decisión.</a:t>
            </a:r>
            <a:endParaRPr b="0" i="0" sz="1450" u="none" cap="none" strike="noStrike">
              <a:solidFill>
                <a:schemeClr val="dk1"/>
              </a:solidFill>
              <a:latin typeface="Calibri"/>
              <a:ea typeface="Calibri"/>
              <a:cs typeface="Calibri"/>
              <a:sym typeface="Calibri"/>
            </a:endParaRPr>
          </a:p>
        </p:txBody>
      </p:sp>
      <p:sp>
        <p:nvSpPr>
          <p:cNvPr id="489" name="Google Shape;489;p26"/>
          <p:cNvSpPr/>
          <p:nvPr/>
        </p:nvSpPr>
        <p:spPr>
          <a:xfrm>
            <a:off x="7955280" y="1783080"/>
            <a:ext cx="3566160" cy="4114800"/>
          </a:xfrm>
          <a:prstGeom prst="roundRect">
            <a:avLst>
              <a:gd fmla="val 2308" name="adj"/>
            </a:avLst>
          </a:prstGeom>
          <a:solidFill>
            <a:srgbClr val="F7E4E3"/>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6"/>
          <p:cNvSpPr/>
          <p:nvPr/>
        </p:nvSpPr>
        <p:spPr>
          <a:xfrm>
            <a:off x="9326880" y="2057400"/>
            <a:ext cx="822960" cy="822960"/>
          </a:xfrm>
          <a:prstGeom prst="ellipse">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6"/>
          <p:cNvSpPr/>
          <p:nvPr/>
        </p:nvSpPr>
        <p:spPr>
          <a:xfrm>
            <a:off x="7955280" y="2971800"/>
            <a:ext cx="3566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3261E"/>
              </a:buClr>
              <a:buSzPts val="2000"/>
              <a:buFont typeface="Arial"/>
              <a:buNone/>
            </a:pPr>
            <a:r>
              <a:rPr b="1" i="0" lang="en-US" sz="2000" u="none" cap="none" strike="noStrike">
                <a:solidFill>
                  <a:srgbClr val="B3261E"/>
                </a:solidFill>
                <a:latin typeface="Arial"/>
                <a:ea typeface="Arial"/>
                <a:cs typeface="Arial"/>
                <a:sym typeface="Arial"/>
              </a:rPr>
              <a:t>ROJO</a:t>
            </a:r>
            <a:endParaRPr b="0" i="0" sz="2000" u="none" cap="none" strike="noStrike">
              <a:solidFill>
                <a:schemeClr val="dk1"/>
              </a:solidFill>
              <a:latin typeface="Calibri"/>
              <a:ea typeface="Calibri"/>
              <a:cs typeface="Calibri"/>
              <a:sym typeface="Calibri"/>
            </a:endParaRPr>
          </a:p>
        </p:txBody>
      </p:sp>
      <p:sp>
        <p:nvSpPr>
          <p:cNvPr id="492" name="Google Shape;492;p26"/>
          <p:cNvSpPr/>
          <p:nvPr/>
        </p:nvSpPr>
        <p:spPr>
          <a:xfrm>
            <a:off x="8229600" y="3520440"/>
            <a:ext cx="3017520" cy="219456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Inventar datos, población o resultados; adoptar un diseño que no comprendes ni puedes defender.</a:t>
            </a:r>
            <a:endParaRPr b="0" i="0" sz="1450" u="none" cap="none" strike="noStrike">
              <a:solidFill>
                <a:schemeClr val="dk1"/>
              </a:solidFill>
              <a:latin typeface="Calibri"/>
              <a:ea typeface="Calibri"/>
              <a:cs typeface="Calibri"/>
              <a:sym typeface="Calibri"/>
            </a:endParaRPr>
          </a:p>
        </p:txBody>
      </p:sp>
      <p:sp>
        <p:nvSpPr>
          <p:cNvPr id="493" name="Google Shape;493;p26"/>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494" name="Google Shape;494;p26"/>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94B"/>
        </a:solidFill>
      </p:bgPr>
    </p:bg>
    <p:spTree>
      <p:nvGrpSpPr>
        <p:cNvPr id="499" name="Shape 499"/>
        <p:cNvGrpSpPr/>
        <p:nvPr/>
      </p:nvGrpSpPr>
      <p:grpSpPr>
        <a:xfrm>
          <a:off x="0" y="0"/>
          <a:ext cx="0" cy="0"/>
          <a:chOff x="0" y="0"/>
          <a:chExt cx="0" cy="0"/>
        </a:xfrm>
      </p:grpSpPr>
      <p:sp>
        <p:nvSpPr>
          <p:cNvPr id="500" name="Google Shape;500;p27"/>
          <p:cNvSpPr/>
          <p:nvPr/>
        </p:nvSpPr>
        <p:spPr>
          <a:xfrm>
            <a:off x="548640" y="5486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4D0"/>
              </a:buClr>
              <a:buSzPts val="1200"/>
              <a:buFont typeface="Arial"/>
              <a:buNone/>
            </a:pPr>
            <a:r>
              <a:rPr b="1" i="0" lang="en-US" sz="1200" u="none" cap="none" strike="noStrike">
                <a:solidFill>
                  <a:srgbClr val="9FB4D0"/>
                </a:solidFill>
                <a:latin typeface="Arial"/>
                <a:ea typeface="Arial"/>
                <a:cs typeface="Arial"/>
                <a:sym typeface="Arial"/>
              </a:rPr>
              <a:t>INTEGRIDAD METODOLÓGICA</a:t>
            </a:r>
            <a:endParaRPr b="0" i="0" sz="1200" u="none" cap="none" strike="noStrike">
              <a:solidFill>
                <a:schemeClr val="dk1"/>
              </a:solidFill>
              <a:latin typeface="Calibri"/>
              <a:ea typeface="Calibri"/>
              <a:cs typeface="Calibri"/>
              <a:sym typeface="Calibri"/>
            </a:endParaRPr>
          </a:p>
        </p:txBody>
      </p:sp>
      <p:sp>
        <p:nvSpPr>
          <p:cNvPr id="501" name="Google Shape;501;p27"/>
          <p:cNvSpPr/>
          <p:nvPr/>
        </p:nvSpPr>
        <p:spPr>
          <a:xfrm>
            <a:off x="530352" y="868680"/>
            <a:ext cx="10972800" cy="1188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El investigador sigue siendo responsable</a:t>
            </a:r>
            <a:endParaRPr b="0" i="0" sz="3400" u="none" cap="none" strike="noStrike">
              <a:solidFill>
                <a:schemeClr val="dk1"/>
              </a:solidFill>
              <a:latin typeface="Calibri"/>
              <a:ea typeface="Calibri"/>
              <a:cs typeface="Calibri"/>
              <a:sym typeface="Calibri"/>
            </a:endParaRPr>
          </a:p>
        </p:txBody>
      </p:sp>
      <p:sp>
        <p:nvSpPr>
          <p:cNvPr id="502" name="Google Shape;502;p27"/>
          <p:cNvSpPr/>
          <p:nvPr/>
        </p:nvSpPr>
        <p:spPr>
          <a:xfrm>
            <a:off x="548640" y="2468880"/>
            <a:ext cx="5349240" cy="1463040"/>
          </a:xfrm>
          <a:prstGeom prst="roundRect">
            <a:avLst>
              <a:gd fmla="val 562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7"/>
          <p:cNvSpPr/>
          <p:nvPr/>
        </p:nvSpPr>
        <p:spPr>
          <a:xfrm>
            <a:off x="822960" y="2633472"/>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Justificación</a:t>
            </a:r>
            <a:endParaRPr b="0" i="0" sz="1700" u="none" cap="none" strike="noStrike">
              <a:solidFill>
                <a:schemeClr val="dk1"/>
              </a:solidFill>
              <a:latin typeface="Calibri"/>
              <a:ea typeface="Calibri"/>
              <a:cs typeface="Calibri"/>
              <a:sym typeface="Calibri"/>
            </a:endParaRPr>
          </a:p>
        </p:txBody>
      </p:sp>
      <p:sp>
        <p:nvSpPr>
          <p:cNvPr id="504" name="Google Shape;504;p27"/>
          <p:cNvSpPr/>
          <p:nvPr/>
        </p:nvSpPr>
        <p:spPr>
          <a:xfrm>
            <a:off x="822960" y="3035808"/>
            <a:ext cx="484632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Cada decisión metodológica se argumenta, no se copia.</a:t>
            </a:r>
            <a:endParaRPr b="0" i="0" sz="1400" u="none" cap="none" strike="noStrike">
              <a:solidFill>
                <a:schemeClr val="dk1"/>
              </a:solidFill>
              <a:latin typeface="Calibri"/>
              <a:ea typeface="Calibri"/>
              <a:cs typeface="Calibri"/>
              <a:sym typeface="Calibri"/>
            </a:endParaRPr>
          </a:p>
        </p:txBody>
      </p:sp>
      <p:sp>
        <p:nvSpPr>
          <p:cNvPr id="505" name="Google Shape;505;p27"/>
          <p:cNvSpPr/>
          <p:nvPr/>
        </p:nvSpPr>
        <p:spPr>
          <a:xfrm>
            <a:off x="6126480" y="2468880"/>
            <a:ext cx="5349240" cy="1463040"/>
          </a:xfrm>
          <a:prstGeom prst="roundRect">
            <a:avLst>
              <a:gd fmla="val 562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7"/>
          <p:cNvSpPr/>
          <p:nvPr/>
        </p:nvSpPr>
        <p:spPr>
          <a:xfrm>
            <a:off x="6400800" y="2633472"/>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Sesgos</a:t>
            </a:r>
            <a:endParaRPr b="0" i="0" sz="1700" u="none" cap="none" strike="noStrike">
              <a:solidFill>
                <a:schemeClr val="dk1"/>
              </a:solidFill>
              <a:latin typeface="Calibri"/>
              <a:ea typeface="Calibri"/>
              <a:cs typeface="Calibri"/>
              <a:sym typeface="Calibri"/>
            </a:endParaRPr>
          </a:p>
        </p:txBody>
      </p:sp>
      <p:sp>
        <p:nvSpPr>
          <p:cNvPr id="507" name="Google Shape;507;p27"/>
          <p:cNvSpPr/>
          <p:nvPr/>
        </p:nvSpPr>
        <p:spPr>
          <a:xfrm>
            <a:off x="6400800" y="3035808"/>
            <a:ext cx="484632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Reconoce sesgos de muestra, medición y del propio modelo de IA.</a:t>
            </a:r>
            <a:endParaRPr b="0" i="0" sz="1400" u="none" cap="none" strike="noStrike">
              <a:solidFill>
                <a:schemeClr val="dk1"/>
              </a:solidFill>
              <a:latin typeface="Calibri"/>
              <a:ea typeface="Calibri"/>
              <a:cs typeface="Calibri"/>
              <a:sym typeface="Calibri"/>
            </a:endParaRPr>
          </a:p>
        </p:txBody>
      </p:sp>
      <p:sp>
        <p:nvSpPr>
          <p:cNvPr id="508" name="Google Shape;508;p27"/>
          <p:cNvSpPr/>
          <p:nvPr/>
        </p:nvSpPr>
        <p:spPr>
          <a:xfrm>
            <a:off x="548640" y="4160520"/>
            <a:ext cx="5349240" cy="1463040"/>
          </a:xfrm>
          <a:prstGeom prst="roundRect">
            <a:avLst>
              <a:gd fmla="val 562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7"/>
          <p:cNvSpPr/>
          <p:nvPr/>
        </p:nvSpPr>
        <p:spPr>
          <a:xfrm>
            <a:off x="822960" y="4325112"/>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Ética</a:t>
            </a:r>
            <a:endParaRPr b="0" i="0" sz="1700" u="none" cap="none" strike="noStrike">
              <a:solidFill>
                <a:schemeClr val="dk1"/>
              </a:solidFill>
              <a:latin typeface="Calibri"/>
              <a:ea typeface="Calibri"/>
              <a:cs typeface="Calibri"/>
              <a:sym typeface="Calibri"/>
            </a:endParaRPr>
          </a:p>
        </p:txBody>
      </p:sp>
      <p:sp>
        <p:nvSpPr>
          <p:cNvPr id="510" name="Google Shape;510;p27"/>
          <p:cNvSpPr/>
          <p:nvPr/>
        </p:nvSpPr>
        <p:spPr>
          <a:xfrm>
            <a:off x="822960" y="4727448"/>
            <a:ext cx="484632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Respeta consentimiento, datos y normas de tu facultad.</a:t>
            </a:r>
            <a:endParaRPr b="0" i="0" sz="1400" u="none" cap="none" strike="noStrike">
              <a:solidFill>
                <a:schemeClr val="dk1"/>
              </a:solidFill>
              <a:latin typeface="Calibri"/>
              <a:ea typeface="Calibri"/>
              <a:cs typeface="Calibri"/>
              <a:sym typeface="Calibri"/>
            </a:endParaRPr>
          </a:p>
        </p:txBody>
      </p:sp>
      <p:sp>
        <p:nvSpPr>
          <p:cNvPr id="511" name="Google Shape;511;p27"/>
          <p:cNvSpPr/>
          <p:nvPr/>
        </p:nvSpPr>
        <p:spPr>
          <a:xfrm>
            <a:off x="6126480" y="4160520"/>
            <a:ext cx="5349240" cy="1463040"/>
          </a:xfrm>
          <a:prstGeom prst="roundRect">
            <a:avLst>
              <a:gd fmla="val 562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a:off x="6400800" y="4325112"/>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700"/>
              <a:buFont typeface="Arial"/>
              <a:buNone/>
            </a:pPr>
            <a:r>
              <a:rPr b="1" i="0" lang="en-US" sz="1700" u="none" cap="none" strike="noStrike">
                <a:solidFill>
                  <a:srgbClr val="7A1420"/>
                </a:solidFill>
                <a:latin typeface="Arial"/>
                <a:ea typeface="Arial"/>
                <a:cs typeface="Arial"/>
                <a:sym typeface="Arial"/>
              </a:rPr>
              <a:t>Autoría</a:t>
            </a:r>
            <a:endParaRPr b="0" i="0" sz="1700" u="none" cap="none" strike="noStrike">
              <a:solidFill>
                <a:schemeClr val="dk1"/>
              </a:solidFill>
              <a:latin typeface="Calibri"/>
              <a:ea typeface="Calibri"/>
              <a:cs typeface="Calibri"/>
              <a:sym typeface="Calibri"/>
            </a:endParaRPr>
          </a:p>
        </p:txBody>
      </p:sp>
      <p:sp>
        <p:nvSpPr>
          <p:cNvPr id="513" name="Google Shape;513;p27"/>
          <p:cNvSpPr/>
          <p:nvPr/>
        </p:nvSpPr>
        <p:spPr>
          <a:xfrm>
            <a:off x="6400800" y="4727448"/>
            <a:ext cx="484632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Tú diseñas y defiendes tu investigación ante el jurado.</a:t>
            </a:r>
            <a:endParaRPr b="0" i="0" sz="1400" u="none" cap="none" strike="noStrike">
              <a:solidFill>
                <a:schemeClr val="dk1"/>
              </a:solidFill>
              <a:latin typeface="Calibri"/>
              <a:ea typeface="Calibri"/>
              <a:cs typeface="Calibri"/>
              <a:sym typeface="Calibri"/>
            </a:endParaRPr>
          </a:p>
        </p:txBody>
      </p:sp>
      <p:sp>
        <p:nvSpPr>
          <p:cNvPr id="514" name="Google Shape;514;p27"/>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515" name="Google Shape;515;p27"/>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A1420"/>
        </a:solidFill>
      </p:bgPr>
    </p:bg>
    <p:spTree>
      <p:nvGrpSpPr>
        <p:cNvPr id="520" name="Shape 520"/>
        <p:cNvGrpSpPr/>
        <p:nvPr/>
      </p:nvGrpSpPr>
      <p:grpSpPr>
        <a:xfrm>
          <a:off x="0" y="0"/>
          <a:ext cx="0" cy="0"/>
          <a:chOff x="0" y="0"/>
          <a:chExt cx="0" cy="0"/>
        </a:xfrm>
      </p:grpSpPr>
      <p:sp>
        <p:nvSpPr>
          <p:cNvPr id="521" name="Google Shape;521;p28"/>
          <p:cNvSpPr/>
          <p:nvPr/>
        </p:nvSpPr>
        <p:spPr>
          <a:xfrm>
            <a:off x="731520" y="2286000"/>
            <a:ext cx="106984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DDE1"/>
              </a:buClr>
              <a:buSzPts val="4000"/>
              <a:buFont typeface="Arial"/>
              <a:buNone/>
            </a:pPr>
            <a:r>
              <a:rPr b="1" i="0" lang="en-US" sz="4000" u="none" cap="none" strike="noStrike">
                <a:solidFill>
                  <a:srgbClr val="F6DDE1"/>
                </a:solidFill>
                <a:latin typeface="Arial"/>
                <a:ea typeface="Arial"/>
                <a:cs typeface="Arial"/>
                <a:sym typeface="Arial"/>
              </a:rPr>
              <a:t>Suficiente teoría.</a:t>
            </a:r>
            <a:endParaRPr b="0" i="0" sz="4000" u="none" cap="none" strike="noStrike">
              <a:solidFill>
                <a:schemeClr val="dk1"/>
              </a:solidFill>
              <a:latin typeface="Calibri"/>
              <a:ea typeface="Calibri"/>
              <a:cs typeface="Calibri"/>
              <a:sym typeface="Calibri"/>
            </a:endParaRPr>
          </a:p>
        </p:txBody>
      </p:sp>
      <p:sp>
        <p:nvSpPr>
          <p:cNvPr id="522" name="Google Shape;522;p28"/>
          <p:cNvSpPr/>
          <p:nvPr/>
        </p:nvSpPr>
        <p:spPr>
          <a:xfrm>
            <a:off x="731520" y="3246120"/>
            <a:ext cx="1069848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000"/>
              <a:buFont typeface="Arial"/>
              <a:buNone/>
            </a:pPr>
            <a:r>
              <a:rPr b="1" i="0" lang="en-US" sz="5000" u="none" cap="none" strike="noStrike">
                <a:solidFill>
                  <a:srgbClr val="FFFFFF"/>
                </a:solidFill>
                <a:latin typeface="Arial"/>
                <a:ea typeface="Arial"/>
                <a:cs typeface="Arial"/>
                <a:sym typeface="Arial"/>
              </a:rPr>
              <a:t>Ahora diseña tu investigación.</a:t>
            </a:r>
            <a:endParaRPr b="0" i="0" sz="5000" u="none" cap="none" strike="noStrike">
              <a:solidFill>
                <a:schemeClr val="dk1"/>
              </a:solidFill>
              <a:latin typeface="Calibri"/>
              <a:ea typeface="Calibri"/>
              <a:cs typeface="Calibri"/>
              <a:sym typeface="Calibri"/>
            </a:endParaRPr>
          </a:p>
        </p:txBody>
      </p:sp>
      <p:sp>
        <p:nvSpPr>
          <p:cNvPr id="523" name="Google Shape;523;p28"/>
          <p:cNvSpPr/>
          <p:nvPr/>
        </p:nvSpPr>
        <p:spPr>
          <a:xfrm>
            <a:off x="749808" y="4800600"/>
            <a:ext cx="10698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D6DA"/>
              </a:buClr>
              <a:buSzPts val="1800"/>
              <a:buFont typeface="Arial"/>
              <a:buNone/>
            </a:pPr>
            <a:r>
              <a:rPr b="0" i="0" lang="en-US" sz="1800" u="none" cap="none" strike="noStrike">
                <a:solidFill>
                  <a:srgbClr val="F3D6DA"/>
                </a:solidFill>
                <a:latin typeface="Arial"/>
                <a:ea typeface="Arial"/>
                <a:cs typeface="Arial"/>
                <a:sym typeface="Arial"/>
              </a:rPr>
              <a:t>Abre tu laptop, tu revisión de la U2 y tu vacío. En 108 minutos tendrás tu matriz de consistencia.</a:t>
            </a:r>
            <a:endParaRPr b="0" i="0" sz="1800" u="none" cap="none" strike="noStrike">
              <a:solidFill>
                <a:schemeClr val="dk1"/>
              </a:solidFill>
              <a:latin typeface="Calibri"/>
              <a:ea typeface="Calibri"/>
              <a:cs typeface="Calibri"/>
              <a:sym typeface="Calibri"/>
            </a:endParaRPr>
          </a:p>
        </p:txBody>
      </p:sp>
      <p:sp>
        <p:nvSpPr>
          <p:cNvPr id="524" name="Google Shape;524;p28"/>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525" name="Google Shape;525;p28"/>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0" name="Shape 530"/>
        <p:cNvGrpSpPr/>
        <p:nvPr/>
      </p:nvGrpSpPr>
      <p:grpSpPr>
        <a:xfrm>
          <a:off x="0" y="0"/>
          <a:ext cx="0" cy="0"/>
          <a:chOff x="0" y="0"/>
          <a:chExt cx="0" cy="0"/>
        </a:xfrm>
      </p:grpSpPr>
      <p:sp>
        <p:nvSpPr>
          <p:cNvPr id="531" name="Google Shape;531;p29"/>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LABORATORIO · 108 MINUTOS</a:t>
            </a:r>
            <a:endParaRPr b="0" i="0" sz="1200" u="none" cap="none" strike="noStrike">
              <a:solidFill>
                <a:schemeClr val="dk1"/>
              </a:solidFill>
              <a:latin typeface="Calibri"/>
              <a:ea typeface="Calibri"/>
              <a:cs typeface="Calibri"/>
              <a:sym typeface="Calibri"/>
            </a:endParaRPr>
          </a:p>
        </p:txBody>
      </p:sp>
      <p:sp>
        <p:nvSpPr>
          <p:cNvPr id="532" name="Google Shape;532;p29"/>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Siete estaciones, un Capítulo I</a:t>
            </a:r>
            <a:endParaRPr b="0" i="0" sz="3000" u="none" cap="none" strike="noStrike">
              <a:solidFill>
                <a:schemeClr val="dk1"/>
              </a:solidFill>
              <a:latin typeface="Calibri"/>
              <a:ea typeface="Calibri"/>
              <a:cs typeface="Calibri"/>
              <a:sym typeface="Calibri"/>
            </a:endParaRPr>
          </a:p>
        </p:txBody>
      </p:sp>
      <p:sp>
        <p:nvSpPr>
          <p:cNvPr id="533" name="Google Shape;533;p29"/>
          <p:cNvSpPr/>
          <p:nvPr/>
        </p:nvSpPr>
        <p:spPr>
          <a:xfrm>
            <a:off x="548640" y="1737360"/>
            <a:ext cx="10972800" cy="603504"/>
          </a:xfrm>
          <a:prstGeom prst="roundRect">
            <a:avLst>
              <a:gd fmla="val 13636"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9"/>
          <p:cNvSpPr/>
          <p:nvPr/>
        </p:nvSpPr>
        <p:spPr>
          <a:xfrm>
            <a:off x="685800" y="1810512"/>
            <a:ext cx="457200" cy="457200"/>
          </a:xfrm>
          <a:prstGeom prst="roundRect">
            <a:avLst>
              <a:gd fmla="val 20000"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9"/>
          <p:cNvSpPr/>
          <p:nvPr/>
        </p:nvSpPr>
        <p:spPr>
          <a:xfrm>
            <a:off x="685800" y="181051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Calibri"/>
              <a:ea typeface="Calibri"/>
              <a:cs typeface="Calibri"/>
              <a:sym typeface="Calibri"/>
            </a:endParaRPr>
          </a:p>
        </p:txBody>
      </p:sp>
      <p:sp>
        <p:nvSpPr>
          <p:cNvPr id="536" name="Google Shape;536;p29"/>
          <p:cNvSpPr/>
          <p:nvPr/>
        </p:nvSpPr>
        <p:spPr>
          <a:xfrm>
            <a:off x="1371600" y="1737360"/>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600"/>
              <a:buFont typeface="Arial"/>
              <a:buNone/>
            </a:pPr>
            <a:r>
              <a:rPr b="1" i="0" lang="en-US" sz="1600" u="none" cap="none" strike="noStrike">
                <a:solidFill>
                  <a:srgbClr val="1F2733"/>
                </a:solidFill>
                <a:latin typeface="Arial"/>
                <a:ea typeface="Arial"/>
                <a:cs typeface="Arial"/>
                <a:sym typeface="Arial"/>
              </a:rPr>
              <a:t>Del vacío al problema</a:t>
            </a:r>
            <a:endParaRPr b="0" i="0" sz="1600" u="none" cap="none" strike="noStrike">
              <a:solidFill>
                <a:schemeClr val="dk1"/>
              </a:solidFill>
              <a:latin typeface="Calibri"/>
              <a:ea typeface="Calibri"/>
              <a:cs typeface="Calibri"/>
              <a:sym typeface="Calibri"/>
            </a:endParaRPr>
          </a:p>
        </p:txBody>
      </p:sp>
      <p:sp>
        <p:nvSpPr>
          <p:cNvPr id="537" name="Google Shape;537;p29"/>
          <p:cNvSpPr/>
          <p:nvPr/>
        </p:nvSpPr>
        <p:spPr>
          <a:xfrm>
            <a:off x="9692640" y="1737360"/>
            <a:ext cx="1737360" cy="6035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15 min</a:t>
            </a:r>
            <a:endParaRPr b="0" i="0" sz="1500" u="none" cap="none" strike="noStrike">
              <a:solidFill>
                <a:schemeClr val="dk1"/>
              </a:solidFill>
              <a:latin typeface="Calibri"/>
              <a:ea typeface="Calibri"/>
              <a:cs typeface="Calibri"/>
              <a:sym typeface="Calibri"/>
            </a:endParaRPr>
          </a:p>
        </p:txBody>
      </p:sp>
      <p:sp>
        <p:nvSpPr>
          <p:cNvPr id="538" name="Google Shape;538;p29"/>
          <p:cNvSpPr/>
          <p:nvPr/>
        </p:nvSpPr>
        <p:spPr>
          <a:xfrm>
            <a:off x="548640" y="2395728"/>
            <a:ext cx="10972800" cy="603504"/>
          </a:xfrm>
          <a:prstGeom prst="roundRect">
            <a:avLst>
              <a:gd fmla="val 1363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9"/>
          <p:cNvSpPr/>
          <p:nvPr/>
        </p:nvSpPr>
        <p:spPr>
          <a:xfrm>
            <a:off x="685800" y="2468880"/>
            <a:ext cx="457200" cy="457200"/>
          </a:xfrm>
          <a:prstGeom prst="roundRect">
            <a:avLst>
              <a:gd fmla="val 20000"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9"/>
          <p:cNvSpPr/>
          <p:nvPr/>
        </p:nvSpPr>
        <p:spPr>
          <a:xfrm>
            <a:off x="685800" y="24688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Calibri"/>
              <a:ea typeface="Calibri"/>
              <a:cs typeface="Calibri"/>
              <a:sym typeface="Calibri"/>
            </a:endParaRPr>
          </a:p>
        </p:txBody>
      </p:sp>
      <p:sp>
        <p:nvSpPr>
          <p:cNvPr id="541" name="Google Shape;541;p29"/>
          <p:cNvSpPr/>
          <p:nvPr/>
        </p:nvSpPr>
        <p:spPr>
          <a:xfrm>
            <a:off x="1371600" y="2395728"/>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600"/>
              <a:buFont typeface="Arial"/>
              <a:buNone/>
            </a:pPr>
            <a:r>
              <a:rPr b="1" i="0" lang="en-US" sz="1600" u="none" cap="none" strike="noStrike">
                <a:solidFill>
                  <a:srgbClr val="1F2733"/>
                </a:solidFill>
                <a:latin typeface="Arial"/>
                <a:ea typeface="Arial"/>
                <a:cs typeface="Arial"/>
                <a:sym typeface="Arial"/>
              </a:rPr>
              <a:t>Objetivos e hipótesis</a:t>
            </a:r>
            <a:endParaRPr b="0" i="0" sz="1600" u="none" cap="none" strike="noStrike">
              <a:solidFill>
                <a:schemeClr val="dk1"/>
              </a:solidFill>
              <a:latin typeface="Calibri"/>
              <a:ea typeface="Calibri"/>
              <a:cs typeface="Calibri"/>
              <a:sym typeface="Calibri"/>
            </a:endParaRPr>
          </a:p>
        </p:txBody>
      </p:sp>
      <p:sp>
        <p:nvSpPr>
          <p:cNvPr id="542" name="Google Shape;542;p29"/>
          <p:cNvSpPr/>
          <p:nvPr/>
        </p:nvSpPr>
        <p:spPr>
          <a:xfrm>
            <a:off x="9692640" y="2395728"/>
            <a:ext cx="1737360" cy="6035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15 min</a:t>
            </a:r>
            <a:endParaRPr b="0" i="0" sz="1500" u="none" cap="none" strike="noStrike">
              <a:solidFill>
                <a:schemeClr val="dk1"/>
              </a:solidFill>
              <a:latin typeface="Calibri"/>
              <a:ea typeface="Calibri"/>
              <a:cs typeface="Calibri"/>
              <a:sym typeface="Calibri"/>
            </a:endParaRPr>
          </a:p>
        </p:txBody>
      </p:sp>
      <p:sp>
        <p:nvSpPr>
          <p:cNvPr id="543" name="Google Shape;543;p29"/>
          <p:cNvSpPr/>
          <p:nvPr/>
        </p:nvSpPr>
        <p:spPr>
          <a:xfrm>
            <a:off x="548640" y="3054096"/>
            <a:ext cx="10972800" cy="603504"/>
          </a:xfrm>
          <a:prstGeom prst="roundRect">
            <a:avLst>
              <a:gd fmla="val 13636"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p:nvPr/>
        </p:nvSpPr>
        <p:spPr>
          <a:xfrm>
            <a:off x="685800" y="3127248"/>
            <a:ext cx="457200" cy="457200"/>
          </a:xfrm>
          <a:prstGeom prst="roundRect">
            <a:avLst>
              <a:gd fmla="val 20000"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9"/>
          <p:cNvSpPr/>
          <p:nvPr/>
        </p:nvSpPr>
        <p:spPr>
          <a:xfrm>
            <a:off x="685800" y="312724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800" u="none" cap="none" strike="noStrike">
              <a:solidFill>
                <a:schemeClr val="dk1"/>
              </a:solidFill>
              <a:latin typeface="Calibri"/>
              <a:ea typeface="Calibri"/>
              <a:cs typeface="Calibri"/>
              <a:sym typeface="Calibri"/>
            </a:endParaRPr>
          </a:p>
        </p:txBody>
      </p:sp>
      <p:sp>
        <p:nvSpPr>
          <p:cNvPr id="546" name="Google Shape;546;p29"/>
          <p:cNvSpPr/>
          <p:nvPr/>
        </p:nvSpPr>
        <p:spPr>
          <a:xfrm>
            <a:off x="1371600" y="3054096"/>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600"/>
              <a:buFont typeface="Arial"/>
              <a:buNone/>
            </a:pPr>
            <a:r>
              <a:rPr b="1" i="0" lang="en-US" sz="1600" u="none" cap="none" strike="noStrike">
                <a:solidFill>
                  <a:srgbClr val="1F2733"/>
                </a:solidFill>
                <a:latin typeface="Arial"/>
                <a:ea typeface="Arial"/>
                <a:cs typeface="Arial"/>
                <a:sym typeface="Arial"/>
              </a:rPr>
              <a:t>Variables y operacionalización</a:t>
            </a:r>
            <a:endParaRPr b="0" i="0" sz="1600" u="none" cap="none" strike="noStrike">
              <a:solidFill>
                <a:schemeClr val="dk1"/>
              </a:solidFill>
              <a:latin typeface="Calibri"/>
              <a:ea typeface="Calibri"/>
              <a:cs typeface="Calibri"/>
              <a:sym typeface="Calibri"/>
            </a:endParaRPr>
          </a:p>
        </p:txBody>
      </p:sp>
      <p:sp>
        <p:nvSpPr>
          <p:cNvPr id="547" name="Google Shape;547;p29"/>
          <p:cNvSpPr/>
          <p:nvPr/>
        </p:nvSpPr>
        <p:spPr>
          <a:xfrm>
            <a:off x="9692640" y="3054096"/>
            <a:ext cx="1737360" cy="6035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18 min</a:t>
            </a:r>
            <a:endParaRPr b="0" i="0" sz="1500" u="none" cap="none" strike="noStrike">
              <a:solidFill>
                <a:schemeClr val="dk1"/>
              </a:solidFill>
              <a:latin typeface="Calibri"/>
              <a:ea typeface="Calibri"/>
              <a:cs typeface="Calibri"/>
              <a:sym typeface="Calibri"/>
            </a:endParaRPr>
          </a:p>
        </p:txBody>
      </p:sp>
      <p:sp>
        <p:nvSpPr>
          <p:cNvPr id="548" name="Google Shape;548;p29"/>
          <p:cNvSpPr/>
          <p:nvPr/>
        </p:nvSpPr>
        <p:spPr>
          <a:xfrm>
            <a:off x="548640" y="3712464"/>
            <a:ext cx="10972800" cy="603504"/>
          </a:xfrm>
          <a:prstGeom prst="roundRect">
            <a:avLst>
              <a:gd fmla="val 1363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9"/>
          <p:cNvSpPr/>
          <p:nvPr/>
        </p:nvSpPr>
        <p:spPr>
          <a:xfrm>
            <a:off x="685800" y="3785616"/>
            <a:ext cx="457200" cy="457200"/>
          </a:xfrm>
          <a:prstGeom prst="roundRect">
            <a:avLst>
              <a:gd fmla="val 20000"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9"/>
          <p:cNvSpPr/>
          <p:nvPr/>
        </p:nvSpPr>
        <p:spPr>
          <a:xfrm>
            <a:off x="685800" y="378561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4</a:t>
            </a:r>
            <a:endParaRPr b="0" i="0" sz="1800" u="none" cap="none" strike="noStrike">
              <a:solidFill>
                <a:schemeClr val="dk1"/>
              </a:solidFill>
              <a:latin typeface="Calibri"/>
              <a:ea typeface="Calibri"/>
              <a:cs typeface="Calibri"/>
              <a:sym typeface="Calibri"/>
            </a:endParaRPr>
          </a:p>
        </p:txBody>
      </p:sp>
      <p:sp>
        <p:nvSpPr>
          <p:cNvPr id="551" name="Google Shape;551;p29"/>
          <p:cNvSpPr/>
          <p:nvPr/>
        </p:nvSpPr>
        <p:spPr>
          <a:xfrm>
            <a:off x="1371600" y="3712464"/>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600"/>
              <a:buFont typeface="Arial"/>
              <a:buNone/>
            </a:pPr>
            <a:r>
              <a:rPr b="1" i="0" lang="en-US" sz="1600" u="none" cap="none" strike="noStrike">
                <a:solidFill>
                  <a:srgbClr val="1F2733"/>
                </a:solidFill>
                <a:latin typeface="Arial"/>
                <a:ea typeface="Arial"/>
                <a:cs typeface="Arial"/>
                <a:sym typeface="Arial"/>
              </a:rPr>
              <a:t>Diseño metodológico</a:t>
            </a:r>
            <a:endParaRPr b="0" i="0" sz="1600" u="none" cap="none" strike="noStrike">
              <a:solidFill>
                <a:schemeClr val="dk1"/>
              </a:solidFill>
              <a:latin typeface="Calibri"/>
              <a:ea typeface="Calibri"/>
              <a:cs typeface="Calibri"/>
              <a:sym typeface="Calibri"/>
            </a:endParaRPr>
          </a:p>
        </p:txBody>
      </p:sp>
      <p:sp>
        <p:nvSpPr>
          <p:cNvPr id="552" name="Google Shape;552;p29"/>
          <p:cNvSpPr/>
          <p:nvPr/>
        </p:nvSpPr>
        <p:spPr>
          <a:xfrm>
            <a:off x="9692640" y="3712464"/>
            <a:ext cx="1737360" cy="6035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18 min</a:t>
            </a:r>
            <a:endParaRPr b="0" i="0" sz="1500" u="none" cap="none" strike="noStrike">
              <a:solidFill>
                <a:schemeClr val="dk1"/>
              </a:solidFill>
              <a:latin typeface="Calibri"/>
              <a:ea typeface="Calibri"/>
              <a:cs typeface="Calibri"/>
              <a:sym typeface="Calibri"/>
            </a:endParaRPr>
          </a:p>
        </p:txBody>
      </p:sp>
      <p:sp>
        <p:nvSpPr>
          <p:cNvPr id="553" name="Google Shape;553;p29"/>
          <p:cNvSpPr/>
          <p:nvPr/>
        </p:nvSpPr>
        <p:spPr>
          <a:xfrm>
            <a:off x="548640" y="4370832"/>
            <a:ext cx="10972800" cy="603504"/>
          </a:xfrm>
          <a:prstGeom prst="roundRect">
            <a:avLst>
              <a:gd fmla="val 13636"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9"/>
          <p:cNvSpPr/>
          <p:nvPr/>
        </p:nvSpPr>
        <p:spPr>
          <a:xfrm>
            <a:off x="685800" y="4443984"/>
            <a:ext cx="457200" cy="457200"/>
          </a:xfrm>
          <a:prstGeom prst="roundRect">
            <a:avLst>
              <a:gd fmla="val 20000" name="adj"/>
            </a:avLst>
          </a:prstGeom>
          <a:solidFill>
            <a:srgbClr val="7A14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9"/>
          <p:cNvSpPr/>
          <p:nvPr/>
        </p:nvSpPr>
        <p:spPr>
          <a:xfrm>
            <a:off x="685800" y="444398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5</a:t>
            </a:r>
            <a:endParaRPr b="0" i="0" sz="1800" u="none" cap="none" strike="noStrike">
              <a:solidFill>
                <a:schemeClr val="dk1"/>
              </a:solidFill>
              <a:latin typeface="Calibri"/>
              <a:ea typeface="Calibri"/>
              <a:cs typeface="Calibri"/>
              <a:sym typeface="Calibri"/>
            </a:endParaRPr>
          </a:p>
        </p:txBody>
      </p:sp>
      <p:sp>
        <p:nvSpPr>
          <p:cNvPr id="556" name="Google Shape;556;p29"/>
          <p:cNvSpPr/>
          <p:nvPr/>
        </p:nvSpPr>
        <p:spPr>
          <a:xfrm>
            <a:off x="1371600" y="4370832"/>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600"/>
              <a:buFont typeface="Arial"/>
              <a:buNone/>
            </a:pPr>
            <a:r>
              <a:rPr b="1" i="0" lang="en-US" sz="1600" u="none" cap="none" strike="noStrike">
                <a:solidFill>
                  <a:srgbClr val="1F2733"/>
                </a:solidFill>
                <a:latin typeface="Arial"/>
                <a:ea typeface="Arial"/>
                <a:cs typeface="Arial"/>
                <a:sym typeface="Arial"/>
              </a:rPr>
              <a:t>Matriz de consistencia v1</a:t>
            </a:r>
            <a:endParaRPr b="0" i="0" sz="1600" u="none" cap="none" strike="noStrike">
              <a:solidFill>
                <a:schemeClr val="dk1"/>
              </a:solidFill>
              <a:latin typeface="Calibri"/>
              <a:ea typeface="Calibri"/>
              <a:cs typeface="Calibri"/>
              <a:sym typeface="Calibri"/>
            </a:endParaRPr>
          </a:p>
        </p:txBody>
      </p:sp>
      <p:sp>
        <p:nvSpPr>
          <p:cNvPr id="557" name="Google Shape;557;p29"/>
          <p:cNvSpPr/>
          <p:nvPr/>
        </p:nvSpPr>
        <p:spPr>
          <a:xfrm>
            <a:off x="9692640" y="4370832"/>
            <a:ext cx="1737360" cy="6035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20 min</a:t>
            </a:r>
            <a:endParaRPr b="0" i="0" sz="1500" u="none" cap="none" strike="noStrike">
              <a:solidFill>
                <a:schemeClr val="dk1"/>
              </a:solidFill>
              <a:latin typeface="Calibri"/>
              <a:ea typeface="Calibri"/>
              <a:cs typeface="Calibri"/>
              <a:sym typeface="Calibri"/>
            </a:endParaRPr>
          </a:p>
        </p:txBody>
      </p:sp>
      <p:sp>
        <p:nvSpPr>
          <p:cNvPr id="558" name="Google Shape;558;p29"/>
          <p:cNvSpPr/>
          <p:nvPr/>
        </p:nvSpPr>
        <p:spPr>
          <a:xfrm>
            <a:off x="548640" y="5029200"/>
            <a:ext cx="10972800" cy="603504"/>
          </a:xfrm>
          <a:prstGeom prst="roundRect">
            <a:avLst>
              <a:gd fmla="val 1363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9"/>
          <p:cNvSpPr/>
          <p:nvPr/>
        </p:nvSpPr>
        <p:spPr>
          <a:xfrm>
            <a:off x="685800" y="5102352"/>
            <a:ext cx="457200" cy="457200"/>
          </a:xfrm>
          <a:prstGeom prst="roundRect">
            <a:avLst>
              <a:gd fmla="val 20000"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9"/>
          <p:cNvSpPr/>
          <p:nvPr/>
        </p:nvSpPr>
        <p:spPr>
          <a:xfrm>
            <a:off x="685800" y="51023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6</a:t>
            </a:r>
            <a:endParaRPr b="0" i="0" sz="1800" u="none" cap="none" strike="noStrike">
              <a:solidFill>
                <a:schemeClr val="dk1"/>
              </a:solidFill>
              <a:latin typeface="Calibri"/>
              <a:ea typeface="Calibri"/>
              <a:cs typeface="Calibri"/>
              <a:sym typeface="Calibri"/>
            </a:endParaRPr>
          </a:p>
        </p:txBody>
      </p:sp>
      <p:sp>
        <p:nvSpPr>
          <p:cNvPr id="561" name="Google Shape;561;p29"/>
          <p:cNvSpPr/>
          <p:nvPr/>
        </p:nvSpPr>
        <p:spPr>
          <a:xfrm>
            <a:off x="1371600" y="5029200"/>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600"/>
              <a:buFont typeface="Arial"/>
              <a:buNone/>
            </a:pPr>
            <a:r>
              <a:rPr b="1" i="0" lang="en-US" sz="1600" u="none" cap="none" strike="noStrike">
                <a:solidFill>
                  <a:srgbClr val="1F2733"/>
                </a:solidFill>
                <a:latin typeface="Arial"/>
                <a:ea typeface="Arial"/>
                <a:cs typeface="Arial"/>
                <a:sym typeface="Arial"/>
              </a:rPr>
              <a:t>Auditoría de coherencia con IA</a:t>
            </a:r>
            <a:endParaRPr b="0" i="0" sz="1600" u="none" cap="none" strike="noStrike">
              <a:solidFill>
                <a:schemeClr val="dk1"/>
              </a:solidFill>
              <a:latin typeface="Calibri"/>
              <a:ea typeface="Calibri"/>
              <a:cs typeface="Calibri"/>
              <a:sym typeface="Calibri"/>
            </a:endParaRPr>
          </a:p>
        </p:txBody>
      </p:sp>
      <p:sp>
        <p:nvSpPr>
          <p:cNvPr id="562" name="Google Shape;562;p29"/>
          <p:cNvSpPr/>
          <p:nvPr/>
        </p:nvSpPr>
        <p:spPr>
          <a:xfrm>
            <a:off x="9692640" y="5029200"/>
            <a:ext cx="1737360" cy="6035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12 min</a:t>
            </a:r>
            <a:endParaRPr b="0" i="0" sz="1500" u="none" cap="none" strike="noStrike">
              <a:solidFill>
                <a:schemeClr val="dk1"/>
              </a:solidFill>
              <a:latin typeface="Calibri"/>
              <a:ea typeface="Calibri"/>
              <a:cs typeface="Calibri"/>
              <a:sym typeface="Calibri"/>
            </a:endParaRPr>
          </a:p>
        </p:txBody>
      </p:sp>
      <p:sp>
        <p:nvSpPr>
          <p:cNvPr id="563" name="Google Shape;563;p29"/>
          <p:cNvSpPr/>
          <p:nvPr/>
        </p:nvSpPr>
        <p:spPr>
          <a:xfrm>
            <a:off x="548640" y="5687568"/>
            <a:ext cx="10972800" cy="603504"/>
          </a:xfrm>
          <a:prstGeom prst="roundRect">
            <a:avLst>
              <a:gd fmla="val 13636" name="adj"/>
            </a:avLst>
          </a:prstGeom>
          <a:solidFill>
            <a:srgbClr val="ED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9"/>
          <p:cNvSpPr/>
          <p:nvPr/>
        </p:nvSpPr>
        <p:spPr>
          <a:xfrm>
            <a:off x="685800" y="5760720"/>
            <a:ext cx="457200" cy="457200"/>
          </a:xfrm>
          <a:prstGeom prst="roundRect">
            <a:avLst>
              <a:gd fmla="val 20000" name="adj"/>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9"/>
          <p:cNvSpPr/>
          <p:nvPr/>
        </p:nvSpPr>
        <p:spPr>
          <a:xfrm>
            <a:off x="685800" y="57607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7</a:t>
            </a:r>
            <a:endParaRPr b="0" i="0" sz="1800" u="none" cap="none" strike="noStrike">
              <a:solidFill>
                <a:schemeClr val="dk1"/>
              </a:solidFill>
              <a:latin typeface="Calibri"/>
              <a:ea typeface="Calibri"/>
              <a:cs typeface="Calibri"/>
              <a:sym typeface="Calibri"/>
            </a:endParaRPr>
          </a:p>
        </p:txBody>
      </p:sp>
      <p:sp>
        <p:nvSpPr>
          <p:cNvPr id="566" name="Google Shape;566;p29"/>
          <p:cNvSpPr/>
          <p:nvPr/>
        </p:nvSpPr>
        <p:spPr>
          <a:xfrm>
            <a:off x="1371600" y="5687568"/>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33"/>
              </a:buClr>
              <a:buSzPts val="1600"/>
              <a:buFont typeface="Arial"/>
              <a:buNone/>
            </a:pPr>
            <a:r>
              <a:rPr b="1" i="0" lang="en-US" sz="1600" u="none" cap="none" strike="noStrike">
                <a:solidFill>
                  <a:srgbClr val="1F2733"/>
                </a:solidFill>
                <a:latin typeface="Arial"/>
                <a:ea typeface="Arial"/>
                <a:cs typeface="Arial"/>
                <a:sym typeface="Arial"/>
              </a:rPr>
              <a:t>Viabilidad, ética y evaluación</a:t>
            </a:r>
            <a:endParaRPr b="0" i="0" sz="1600" u="none" cap="none" strike="noStrike">
              <a:solidFill>
                <a:schemeClr val="dk1"/>
              </a:solidFill>
              <a:latin typeface="Calibri"/>
              <a:ea typeface="Calibri"/>
              <a:cs typeface="Calibri"/>
              <a:sym typeface="Calibri"/>
            </a:endParaRPr>
          </a:p>
        </p:txBody>
      </p:sp>
      <p:sp>
        <p:nvSpPr>
          <p:cNvPr id="567" name="Google Shape;567;p29"/>
          <p:cNvSpPr/>
          <p:nvPr/>
        </p:nvSpPr>
        <p:spPr>
          <a:xfrm>
            <a:off x="9692640" y="5687568"/>
            <a:ext cx="1737360" cy="6035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10 min</a:t>
            </a:r>
            <a:endParaRPr b="0" i="0" sz="1500" u="none" cap="none" strike="noStrike">
              <a:solidFill>
                <a:schemeClr val="dk1"/>
              </a:solidFill>
              <a:latin typeface="Calibri"/>
              <a:ea typeface="Calibri"/>
              <a:cs typeface="Calibri"/>
              <a:sym typeface="Calibri"/>
            </a:endParaRPr>
          </a:p>
        </p:txBody>
      </p:sp>
      <p:sp>
        <p:nvSpPr>
          <p:cNvPr id="568" name="Google Shape;568;p29"/>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569" name="Google Shape;569;p29"/>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4" name="Shape 574"/>
        <p:cNvGrpSpPr/>
        <p:nvPr/>
      </p:nvGrpSpPr>
      <p:grpSpPr>
        <a:xfrm>
          <a:off x="0" y="0"/>
          <a:ext cx="0" cy="0"/>
          <a:chOff x="0" y="0"/>
          <a:chExt cx="0" cy="0"/>
        </a:xfrm>
      </p:grpSpPr>
      <p:sp>
        <p:nvSpPr>
          <p:cNvPr id="575" name="Google Shape;575;p30"/>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LABORATORIO 1 · 15 MIN</a:t>
            </a:r>
            <a:endParaRPr b="0" i="0" sz="1200" u="none" cap="none" strike="noStrike">
              <a:solidFill>
                <a:schemeClr val="dk1"/>
              </a:solidFill>
              <a:latin typeface="Calibri"/>
              <a:ea typeface="Calibri"/>
              <a:cs typeface="Calibri"/>
              <a:sym typeface="Calibri"/>
            </a:endParaRPr>
          </a:p>
        </p:txBody>
      </p:sp>
      <p:sp>
        <p:nvSpPr>
          <p:cNvPr id="576" name="Google Shape;576;p30"/>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Del vacío al problema</a:t>
            </a:r>
            <a:endParaRPr b="0" i="0" sz="3000" u="none" cap="none" strike="noStrike">
              <a:solidFill>
                <a:schemeClr val="dk1"/>
              </a:solidFill>
              <a:latin typeface="Calibri"/>
              <a:ea typeface="Calibri"/>
              <a:cs typeface="Calibri"/>
              <a:sym typeface="Calibri"/>
            </a:endParaRPr>
          </a:p>
        </p:txBody>
      </p:sp>
      <p:sp>
        <p:nvSpPr>
          <p:cNvPr id="577" name="Google Shape;577;p30"/>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0"/>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15 min</a:t>
            </a:r>
            <a:endParaRPr b="0" i="0" sz="1200" u="none" cap="none" strike="noStrike">
              <a:solidFill>
                <a:schemeClr val="dk1"/>
              </a:solidFill>
              <a:latin typeface="Calibri"/>
              <a:ea typeface="Calibri"/>
              <a:cs typeface="Calibri"/>
              <a:sym typeface="Calibri"/>
            </a:endParaRPr>
          </a:p>
        </p:txBody>
      </p:sp>
      <p:sp>
        <p:nvSpPr>
          <p:cNvPr id="579" name="Google Shape;579;p30"/>
          <p:cNvSpPr/>
          <p:nvPr/>
        </p:nvSpPr>
        <p:spPr>
          <a:xfrm>
            <a:off x="548640" y="1783080"/>
            <a:ext cx="6766560" cy="4617720"/>
          </a:xfrm>
          <a:prstGeom prst="roundRect">
            <a:avLst>
              <a:gd fmla="val 1782"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0"/>
          <p:cNvSpPr/>
          <p:nvPr/>
        </p:nvSpPr>
        <p:spPr>
          <a:xfrm>
            <a:off x="822960" y="196596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Objetivo</a:t>
            </a:r>
            <a:endParaRPr b="0" i="0" sz="1500" u="none" cap="none" strike="noStrike">
              <a:solidFill>
                <a:schemeClr val="dk1"/>
              </a:solidFill>
              <a:latin typeface="Calibri"/>
              <a:ea typeface="Calibri"/>
              <a:cs typeface="Calibri"/>
              <a:sym typeface="Calibri"/>
            </a:endParaRPr>
          </a:p>
        </p:txBody>
      </p:sp>
      <p:sp>
        <p:nvSpPr>
          <p:cNvPr id="581" name="Google Shape;581;p30"/>
          <p:cNvSpPr/>
          <p:nvPr/>
        </p:nvSpPr>
        <p:spPr>
          <a:xfrm>
            <a:off x="822960" y="2331720"/>
            <a:ext cx="630936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Convertir el vacío de la U2 en una descripción de la realidad problemática y un problema formulado.</a:t>
            </a:r>
            <a:endParaRPr b="0" i="0" sz="1450" u="none" cap="none" strike="noStrike">
              <a:solidFill>
                <a:schemeClr val="dk1"/>
              </a:solidFill>
              <a:latin typeface="Calibri"/>
              <a:ea typeface="Calibri"/>
              <a:cs typeface="Calibri"/>
              <a:sym typeface="Calibri"/>
            </a:endParaRPr>
          </a:p>
        </p:txBody>
      </p:sp>
      <p:sp>
        <p:nvSpPr>
          <p:cNvPr id="582" name="Google Shape;582;p30"/>
          <p:cNvSpPr/>
          <p:nvPr/>
        </p:nvSpPr>
        <p:spPr>
          <a:xfrm>
            <a:off x="822960" y="324612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Pasos</a:t>
            </a:r>
            <a:endParaRPr b="0" i="0" sz="1500" u="none" cap="none" strike="noStrike">
              <a:solidFill>
                <a:schemeClr val="dk1"/>
              </a:solidFill>
              <a:latin typeface="Calibri"/>
              <a:ea typeface="Calibri"/>
              <a:cs typeface="Calibri"/>
              <a:sym typeface="Calibri"/>
            </a:endParaRPr>
          </a:p>
        </p:txBody>
      </p:sp>
      <p:sp>
        <p:nvSpPr>
          <p:cNvPr id="583" name="Google Shape;583;p30"/>
          <p:cNvSpPr/>
          <p:nvPr/>
        </p:nvSpPr>
        <p:spPr>
          <a:xfrm>
            <a:off x="822960" y="3657600"/>
            <a:ext cx="6309360" cy="2651760"/>
          </a:xfrm>
          <a:prstGeom prst="rect">
            <a:avLst/>
          </a:prstGeom>
          <a:noFill/>
          <a:ln>
            <a:noFill/>
          </a:ln>
        </p:spPr>
        <p:txBody>
          <a:bodyPr anchorCtr="0" anchor="ctr" bIns="0" lIns="0" spcFirstLastPara="1" rIns="0" wrap="square" tIns="0">
            <a:noAutofit/>
          </a:bodyPr>
          <a:lstStyle/>
          <a:p>
            <a:pPr indent="-279400" lvl="0" marL="279400" marR="0" rtl="0" algn="l">
              <a:spcBef>
                <a:spcPts val="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Parte del vacío (gap) de tu revisión.</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Redacta la realidad problemática en embudo (contexto → evidencia → tu caso).</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Formula el problema general como pregunta.</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Deriva 2–3 problemas específicos.</a:t>
            </a:r>
            <a:endParaRPr b="0" i="0" sz="1400" u="none" cap="none" strike="noStrike">
              <a:solidFill>
                <a:schemeClr val="dk1"/>
              </a:solidFill>
              <a:latin typeface="Calibri"/>
              <a:ea typeface="Calibri"/>
              <a:cs typeface="Calibri"/>
              <a:sym typeface="Calibri"/>
            </a:endParaRPr>
          </a:p>
        </p:txBody>
      </p:sp>
      <p:sp>
        <p:nvSpPr>
          <p:cNvPr id="584" name="Google Shape;584;p30"/>
          <p:cNvSpPr/>
          <p:nvPr/>
        </p:nvSpPr>
        <p:spPr>
          <a:xfrm>
            <a:off x="7498080" y="1783080"/>
            <a:ext cx="4023360" cy="2377440"/>
          </a:xfrm>
          <a:prstGeom prst="roundRect">
            <a:avLst>
              <a:gd fmla="val 3462" name="adj"/>
            </a:avLst>
          </a:prstGeom>
          <a:solidFill>
            <a:srgbClr val="E7F0E9"/>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0"/>
          <p:cNvSpPr/>
          <p:nvPr/>
        </p:nvSpPr>
        <p:spPr>
          <a:xfrm>
            <a:off x="7772400" y="196596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500"/>
              <a:buFont typeface="Arial"/>
              <a:buNone/>
            </a:pPr>
            <a:r>
              <a:rPr b="1" i="0" lang="en-US" sz="1500" u="none" cap="none" strike="noStrike">
                <a:solidFill>
                  <a:srgbClr val="2E7D32"/>
                </a:solidFill>
                <a:latin typeface="Arial"/>
                <a:ea typeface="Arial"/>
                <a:cs typeface="Arial"/>
                <a:sym typeface="Arial"/>
              </a:rPr>
              <a:t>Entregable</a:t>
            </a:r>
            <a:endParaRPr b="0" i="0" sz="1500" u="none" cap="none" strike="noStrike">
              <a:solidFill>
                <a:schemeClr val="dk1"/>
              </a:solidFill>
              <a:latin typeface="Calibri"/>
              <a:ea typeface="Calibri"/>
              <a:cs typeface="Calibri"/>
              <a:sym typeface="Calibri"/>
            </a:endParaRPr>
          </a:p>
        </p:txBody>
      </p:sp>
      <p:sp>
        <p:nvSpPr>
          <p:cNvPr id="586" name="Google Shape;586;p30"/>
          <p:cNvSpPr/>
          <p:nvPr/>
        </p:nvSpPr>
        <p:spPr>
          <a:xfrm>
            <a:off x="7772400" y="2331720"/>
            <a:ext cx="3520440" cy="17373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Realidad problemática + problema general y específicos.</a:t>
            </a:r>
            <a:endParaRPr b="0" i="0" sz="1400" u="none" cap="none" strike="noStrike">
              <a:solidFill>
                <a:schemeClr val="dk1"/>
              </a:solidFill>
              <a:latin typeface="Calibri"/>
              <a:ea typeface="Calibri"/>
              <a:cs typeface="Calibri"/>
              <a:sym typeface="Calibri"/>
            </a:endParaRPr>
          </a:p>
        </p:txBody>
      </p:sp>
      <p:sp>
        <p:nvSpPr>
          <p:cNvPr id="587" name="Google Shape;587;p30"/>
          <p:cNvSpPr/>
          <p:nvPr/>
        </p:nvSpPr>
        <p:spPr>
          <a:xfrm>
            <a:off x="7498080" y="4343400"/>
            <a:ext cx="4023360" cy="2057400"/>
          </a:xfrm>
          <a:prstGeom prst="roundRect">
            <a:avLst>
              <a:gd fmla="val 4000" name="adj"/>
            </a:avLst>
          </a:prstGeom>
          <a:solidFill>
            <a:srgbClr val="F7E4E3"/>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0"/>
          <p:cNvSpPr/>
          <p:nvPr/>
        </p:nvSpPr>
        <p:spPr>
          <a:xfrm>
            <a:off x="7772400" y="452628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500"/>
              <a:buFont typeface="Arial"/>
              <a:buNone/>
            </a:pPr>
            <a:r>
              <a:rPr b="1" i="0" lang="en-US" sz="1500" u="none" cap="none" strike="noStrike">
                <a:solidFill>
                  <a:srgbClr val="B3261E"/>
                </a:solidFill>
                <a:latin typeface="Arial"/>
                <a:ea typeface="Arial"/>
                <a:cs typeface="Arial"/>
                <a:sym typeface="Arial"/>
              </a:rPr>
              <a:t>Error común</a:t>
            </a:r>
            <a:endParaRPr b="0" i="0" sz="1500" u="none" cap="none" strike="noStrike">
              <a:solidFill>
                <a:schemeClr val="dk1"/>
              </a:solidFill>
              <a:latin typeface="Calibri"/>
              <a:ea typeface="Calibri"/>
              <a:cs typeface="Calibri"/>
              <a:sym typeface="Calibri"/>
            </a:endParaRPr>
          </a:p>
        </p:txBody>
      </p:sp>
      <p:sp>
        <p:nvSpPr>
          <p:cNvPr id="589" name="Google Shape;589;p30"/>
          <p:cNvSpPr/>
          <p:nvPr/>
        </p:nvSpPr>
        <p:spPr>
          <a:xfrm>
            <a:off x="7772400" y="4892040"/>
            <a:ext cx="3520440" cy="1371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Formular el problema como una solución (‘desarrollar una app’) en vez de una pregunta.</a:t>
            </a:r>
            <a:endParaRPr b="0" i="0" sz="1400" u="none" cap="none" strike="noStrike">
              <a:solidFill>
                <a:schemeClr val="dk1"/>
              </a:solidFill>
              <a:latin typeface="Calibri"/>
              <a:ea typeface="Calibri"/>
              <a:cs typeface="Calibri"/>
              <a:sym typeface="Calibri"/>
            </a:endParaRPr>
          </a:p>
        </p:txBody>
      </p:sp>
      <p:sp>
        <p:nvSpPr>
          <p:cNvPr id="590" name="Google Shape;590;p30"/>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591" name="Google Shape;591;p30"/>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6" name="Shape 596"/>
        <p:cNvGrpSpPr/>
        <p:nvPr/>
      </p:nvGrpSpPr>
      <p:grpSpPr>
        <a:xfrm>
          <a:off x="0" y="0"/>
          <a:ext cx="0" cy="0"/>
          <a:chOff x="0" y="0"/>
          <a:chExt cx="0" cy="0"/>
        </a:xfrm>
      </p:grpSpPr>
      <p:sp>
        <p:nvSpPr>
          <p:cNvPr id="597" name="Google Shape;597;p31"/>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LABORATORIO 2 · 15 MIN</a:t>
            </a:r>
            <a:endParaRPr b="0" i="0" sz="1200" u="none" cap="none" strike="noStrike">
              <a:solidFill>
                <a:schemeClr val="dk1"/>
              </a:solidFill>
              <a:latin typeface="Calibri"/>
              <a:ea typeface="Calibri"/>
              <a:cs typeface="Calibri"/>
              <a:sym typeface="Calibri"/>
            </a:endParaRPr>
          </a:p>
        </p:txBody>
      </p:sp>
      <p:sp>
        <p:nvSpPr>
          <p:cNvPr id="598" name="Google Shape;598;p31"/>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Objetivos e hipótesis</a:t>
            </a:r>
            <a:endParaRPr b="0" i="0" sz="3000" u="none" cap="none" strike="noStrike">
              <a:solidFill>
                <a:schemeClr val="dk1"/>
              </a:solidFill>
              <a:latin typeface="Calibri"/>
              <a:ea typeface="Calibri"/>
              <a:cs typeface="Calibri"/>
              <a:sym typeface="Calibri"/>
            </a:endParaRPr>
          </a:p>
        </p:txBody>
      </p:sp>
      <p:sp>
        <p:nvSpPr>
          <p:cNvPr id="599" name="Google Shape;599;p31"/>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1"/>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15 min</a:t>
            </a:r>
            <a:endParaRPr b="0" i="0" sz="1200" u="none" cap="none" strike="noStrike">
              <a:solidFill>
                <a:schemeClr val="dk1"/>
              </a:solidFill>
              <a:latin typeface="Calibri"/>
              <a:ea typeface="Calibri"/>
              <a:cs typeface="Calibri"/>
              <a:sym typeface="Calibri"/>
            </a:endParaRPr>
          </a:p>
        </p:txBody>
      </p:sp>
      <p:sp>
        <p:nvSpPr>
          <p:cNvPr id="601" name="Google Shape;601;p31"/>
          <p:cNvSpPr/>
          <p:nvPr/>
        </p:nvSpPr>
        <p:spPr>
          <a:xfrm>
            <a:off x="548640" y="1783080"/>
            <a:ext cx="6766560" cy="4617720"/>
          </a:xfrm>
          <a:prstGeom prst="roundRect">
            <a:avLst>
              <a:gd fmla="val 1782"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1"/>
          <p:cNvSpPr/>
          <p:nvPr/>
        </p:nvSpPr>
        <p:spPr>
          <a:xfrm>
            <a:off x="822960" y="196596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Objetivo</a:t>
            </a:r>
            <a:endParaRPr b="0" i="0" sz="1500" u="none" cap="none" strike="noStrike">
              <a:solidFill>
                <a:schemeClr val="dk1"/>
              </a:solidFill>
              <a:latin typeface="Calibri"/>
              <a:ea typeface="Calibri"/>
              <a:cs typeface="Calibri"/>
              <a:sym typeface="Calibri"/>
            </a:endParaRPr>
          </a:p>
        </p:txBody>
      </p:sp>
      <p:sp>
        <p:nvSpPr>
          <p:cNvPr id="603" name="Google Shape;603;p31"/>
          <p:cNvSpPr/>
          <p:nvPr/>
        </p:nvSpPr>
        <p:spPr>
          <a:xfrm>
            <a:off x="822960" y="2331720"/>
            <a:ext cx="630936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Escribir objetivos medibles e hipótesis contrastables alineados con el problema.</a:t>
            </a:r>
            <a:endParaRPr b="0" i="0" sz="1450" u="none" cap="none" strike="noStrike">
              <a:solidFill>
                <a:schemeClr val="dk1"/>
              </a:solidFill>
              <a:latin typeface="Calibri"/>
              <a:ea typeface="Calibri"/>
              <a:cs typeface="Calibri"/>
              <a:sym typeface="Calibri"/>
            </a:endParaRPr>
          </a:p>
        </p:txBody>
      </p:sp>
      <p:sp>
        <p:nvSpPr>
          <p:cNvPr id="604" name="Google Shape;604;p31"/>
          <p:cNvSpPr/>
          <p:nvPr/>
        </p:nvSpPr>
        <p:spPr>
          <a:xfrm>
            <a:off x="822960" y="324612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Pasos</a:t>
            </a:r>
            <a:endParaRPr b="0" i="0" sz="1500" u="none" cap="none" strike="noStrike">
              <a:solidFill>
                <a:schemeClr val="dk1"/>
              </a:solidFill>
              <a:latin typeface="Calibri"/>
              <a:ea typeface="Calibri"/>
              <a:cs typeface="Calibri"/>
              <a:sym typeface="Calibri"/>
            </a:endParaRPr>
          </a:p>
        </p:txBody>
      </p:sp>
      <p:sp>
        <p:nvSpPr>
          <p:cNvPr id="605" name="Google Shape;605;p31"/>
          <p:cNvSpPr/>
          <p:nvPr/>
        </p:nvSpPr>
        <p:spPr>
          <a:xfrm>
            <a:off x="822960" y="3657600"/>
            <a:ext cx="6309360" cy="2651760"/>
          </a:xfrm>
          <a:prstGeom prst="rect">
            <a:avLst/>
          </a:prstGeom>
          <a:noFill/>
          <a:ln>
            <a:noFill/>
          </a:ln>
        </p:spPr>
        <p:txBody>
          <a:bodyPr anchorCtr="0" anchor="ctr" bIns="0" lIns="0" spcFirstLastPara="1" rIns="0" wrap="square" tIns="0">
            <a:noAutofit/>
          </a:bodyPr>
          <a:lstStyle/>
          <a:p>
            <a:pPr indent="-279400" lvl="0" marL="279400" marR="0" rtl="0" algn="l">
              <a:spcBef>
                <a:spcPts val="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Escribe el objetivo general (verbo medible) que responde al problema general.</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Deriva objetivos específicos alineados con los problemas específicos.</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Formula la hipótesis general (relaciona variables).</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Formula hipótesis específicas y, si aplica, H0/H1.</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Verifica el espejo problema ↔ objetivo ↔ hipótesis.</a:t>
            </a:r>
            <a:endParaRPr b="0" i="0" sz="1400" u="none" cap="none" strike="noStrike">
              <a:solidFill>
                <a:schemeClr val="dk1"/>
              </a:solidFill>
              <a:latin typeface="Calibri"/>
              <a:ea typeface="Calibri"/>
              <a:cs typeface="Calibri"/>
              <a:sym typeface="Calibri"/>
            </a:endParaRPr>
          </a:p>
        </p:txBody>
      </p:sp>
      <p:sp>
        <p:nvSpPr>
          <p:cNvPr id="606" name="Google Shape;606;p31"/>
          <p:cNvSpPr/>
          <p:nvPr/>
        </p:nvSpPr>
        <p:spPr>
          <a:xfrm>
            <a:off x="7498080" y="1783080"/>
            <a:ext cx="4023360" cy="2377440"/>
          </a:xfrm>
          <a:prstGeom prst="roundRect">
            <a:avLst>
              <a:gd fmla="val 3462" name="adj"/>
            </a:avLst>
          </a:prstGeom>
          <a:solidFill>
            <a:srgbClr val="E7F0E9"/>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1"/>
          <p:cNvSpPr/>
          <p:nvPr/>
        </p:nvSpPr>
        <p:spPr>
          <a:xfrm>
            <a:off x="7772400" y="196596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500"/>
              <a:buFont typeface="Arial"/>
              <a:buNone/>
            </a:pPr>
            <a:r>
              <a:rPr b="1" i="0" lang="en-US" sz="1500" u="none" cap="none" strike="noStrike">
                <a:solidFill>
                  <a:srgbClr val="2E7D32"/>
                </a:solidFill>
                <a:latin typeface="Arial"/>
                <a:ea typeface="Arial"/>
                <a:cs typeface="Arial"/>
                <a:sym typeface="Arial"/>
              </a:rPr>
              <a:t>Entregable</a:t>
            </a:r>
            <a:endParaRPr b="0" i="0" sz="1500" u="none" cap="none" strike="noStrike">
              <a:solidFill>
                <a:schemeClr val="dk1"/>
              </a:solidFill>
              <a:latin typeface="Calibri"/>
              <a:ea typeface="Calibri"/>
              <a:cs typeface="Calibri"/>
              <a:sym typeface="Calibri"/>
            </a:endParaRPr>
          </a:p>
        </p:txBody>
      </p:sp>
      <p:sp>
        <p:nvSpPr>
          <p:cNvPr id="608" name="Google Shape;608;p31"/>
          <p:cNvSpPr/>
          <p:nvPr/>
        </p:nvSpPr>
        <p:spPr>
          <a:xfrm>
            <a:off x="7772400" y="2331720"/>
            <a:ext cx="3520440" cy="17373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Objetivos (general + específicos) e hipótesis (general + específicas).</a:t>
            </a:r>
            <a:endParaRPr b="0" i="0" sz="1400" u="none" cap="none" strike="noStrike">
              <a:solidFill>
                <a:schemeClr val="dk1"/>
              </a:solidFill>
              <a:latin typeface="Calibri"/>
              <a:ea typeface="Calibri"/>
              <a:cs typeface="Calibri"/>
              <a:sym typeface="Calibri"/>
            </a:endParaRPr>
          </a:p>
        </p:txBody>
      </p:sp>
      <p:sp>
        <p:nvSpPr>
          <p:cNvPr id="609" name="Google Shape;609;p31"/>
          <p:cNvSpPr/>
          <p:nvPr/>
        </p:nvSpPr>
        <p:spPr>
          <a:xfrm>
            <a:off x="7498080" y="4343400"/>
            <a:ext cx="4023360" cy="2057400"/>
          </a:xfrm>
          <a:prstGeom prst="roundRect">
            <a:avLst>
              <a:gd fmla="val 4000" name="adj"/>
            </a:avLst>
          </a:prstGeom>
          <a:solidFill>
            <a:srgbClr val="F7E4E3"/>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1"/>
          <p:cNvSpPr/>
          <p:nvPr/>
        </p:nvSpPr>
        <p:spPr>
          <a:xfrm>
            <a:off x="7772400" y="452628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500"/>
              <a:buFont typeface="Arial"/>
              <a:buNone/>
            </a:pPr>
            <a:r>
              <a:rPr b="1" i="0" lang="en-US" sz="1500" u="none" cap="none" strike="noStrike">
                <a:solidFill>
                  <a:srgbClr val="B3261E"/>
                </a:solidFill>
                <a:latin typeface="Arial"/>
                <a:ea typeface="Arial"/>
                <a:cs typeface="Arial"/>
                <a:sym typeface="Arial"/>
              </a:rPr>
              <a:t>Error común</a:t>
            </a:r>
            <a:endParaRPr b="0" i="0" sz="1500" u="none" cap="none" strike="noStrike">
              <a:solidFill>
                <a:schemeClr val="dk1"/>
              </a:solidFill>
              <a:latin typeface="Calibri"/>
              <a:ea typeface="Calibri"/>
              <a:cs typeface="Calibri"/>
              <a:sym typeface="Calibri"/>
            </a:endParaRPr>
          </a:p>
        </p:txBody>
      </p:sp>
      <p:sp>
        <p:nvSpPr>
          <p:cNvPr id="611" name="Google Shape;611;p31"/>
          <p:cNvSpPr/>
          <p:nvPr/>
        </p:nvSpPr>
        <p:spPr>
          <a:xfrm>
            <a:off x="7772400" y="4892040"/>
            <a:ext cx="3520440" cy="1371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Objetivos con verbos no medibles (‘conocer’); hipótesis que no se pueden contrastar.</a:t>
            </a:r>
            <a:endParaRPr b="0" i="0" sz="1400" u="none" cap="none" strike="noStrike">
              <a:solidFill>
                <a:schemeClr val="dk1"/>
              </a:solidFill>
              <a:latin typeface="Calibri"/>
              <a:ea typeface="Calibri"/>
              <a:cs typeface="Calibri"/>
              <a:sym typeface="Calibri"/>
            </a:endParaRPr>
          </a:p>
        </p:txBody>
      </p:sp>
      <p:sp>
        <p:nvSpPr>
          <p:cNvPr id="612" name="Google Shape;612;p31"/>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613" name="Google Shape;613;p31"/>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29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8" name="Shape 618"/>
        <p:cNvGrpSpPr/>
        <p:nvPr/>
      </p:nvGrpSpPr>
      <p:grpSpPr>
        <a:xfrm>
          <a:off x="0" y="0"/>
          <a:ext cx="0" cy="0"/>
          <a:chOff x="0" y="0"/>
          <a:chExt cx="0" cy="0"/>
        </a:xfrm>
      </p:grpSpPr>
      <p:sp>
        <p:nvSpPr>
          <p:cNvPr id="619" name="Google Shape;619;p32"/>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LABORATORIO 3 · 18 MIN</a:t>
            </a:r>
            <a:endParaRPr b="0" i="0" sz="1200" u="none" cap="none" strike="noStrike">
              <a:solidFill>
                <a:schemeClr val="dk1"/>
              </a:solidFill>
              <a:latin typeface="Calibri"/>
              <a:ea typeface="Calibri"/>
              <a:cs typeface="Calibri"/>
              <a:sym typeface="Calibri"/>
            </a:endParaRPr>
          </a:p>
        </p:txBody>
      </p:sp>
      <p:sp>
        <p:nvSpPr>
          <p:cNvPr id="620" name="Google Shape;620;p32"/>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Variables y operacionalización</a:t>
            </a:r>
            <a:endParaRPr b="0" i="0" sz="3000" u="none" cap="none" strike="noStrike">
              <a:solidFill>
                <a:schemeClr val="dk1"/>
              </a:solidFill>
              <a:latin typeface="Calibri"/>
              <a:ea typeface="Calibri"/>
              <a:cs typeface="Calibri"/>
              <a:sym typeface="Calibri"/>
            </a:endParaRPr>
          </a:p>
        </p:txBody>
      </p:sp>
      <p:sp>
        <p:nvSpPr>
          <p:cNvPr id="621" name="Google Shape;621;p32"/>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2"/>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18 min</a:t>
            </a:r>
            <a:endParaRPr b="0" i="0" sz="1200" u="none" cap="none" strike="noStrike">
              <a:solidFill>
                <a:schemeClr val="dk1"/>
              </a:solidFill>
              <a:latin typeface="Calibri"/>
              <a:ea typeface="Calibri"/>
              <a:cs typeface="Calibri"/>
              <a:sym typeface="Calibri"/>
            </a:endParaRPr>
          </a:p>
        </p:txBody>
      </p:sp>
      <p:sp>
        <p:nvSpPr>
          <p:cNvPr id="623" name="Google Shape;623;p32"/>
          <p:cNvSpPr/>
          <p:nvPr/>
        </p:nvSpPr>
        <p:spPr>
          <a:xfrm>
            <a:off x="548640" y="1783080"/>
            <a:ext cx="6766560" cy="4617720"/>
          </a:xfrm>
          <a:prstGeom prst="roundRect">
            <a:avLst>
              <a:gd fmla="val 1782"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2"/>
          <p:cNvSpPr/>
          <p:nvPr/>
        </p:nvSpPr>
        <p:spPr>
          <a:xfrm>
            <a:off x="822960" y="196596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Objetivo</a:t>
            </a:r>
            <a:endParaRPr b="0" i="0" sz="1500" u="none" cap="none" strike="noStrike">
              <a:solidFill>
                <a:schemeClr val="dk1"/>
              </a:solidFill>
              <a:latin typeface="Calibri"/>
              <a:ea typeface="Calibri"/>
              <a:cs typeface="Calibri"/>
              <a:sym typeface="Calibri"/>
            </a:endParaRPr>
          </a:p>
        </p:txBody>
      </p:sp>
      <p:sp>
        <p:nvSpPr>
          <p:cNvPr id="625" name="Google Shape;625;p32"/>
          <p:cNvSpPr/>
          <p:nvPr/>
        </p:nvSpPr>
        <p:spPr>
          <a:xfrm>
            <a:off x="822960" y="2331720"/>
            <a:ext cx="630936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Identificar variables y descomponerlas en dimensiones, indicadores y escalas.</a:t>
            </a:r>
            <a:endParaRPr b="0" i="0" sz="1450" u="none" cap="none" strike="noStrike">
              <a:solidFill>
                <a:schemeClr val="dk1"/>
              </a:solidFill>
              <a:latin typeface="Calibri"/>
              <a:ea typeface="Calibri"/>
              <a:cs typeface="Calibri"/>
              <a:sym typeface="Calibri"/>
            </a:endParaRPr>
          </a:p>
        </p:txBody>
      </p:sp>
      <p:sp>
        <p:nvSpPr>
          <p:cNvPr id="626" name="Google Shape;626;p32"/>
          <p:cNvSpPr/>
          <p:nvPr/>
        </p:nvSpPr>
        <p:spPr>
          <a:xfrm>
            <a:off x="822960" y="324612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Pasos</a:t>
            </a:r>
            <a:endParaRPr b="0" i="0" sz="1500" u="none" cap="none" strike="noStrike">
              <a:solidFill>
                <a:schemeClr val="dk1"/>
              </a:solidFill>
              <a:latin typeface="Calibri"/>
              <a:ea typeface="Calibri"/>
              <a:cs typeface="Calibri"/>
              <a:sym typeface="Calibri"/>
            </a:endParaRPr>
          </a:p>
        </p:txBody>
      </p:sp>
      <p:sp>
        <p:nvSpPr>
          <p:cNvPr id="627" name="Google Shape;627;p32"/>
          <p:cNvSpPr/>
          <p:nvPr/>
        </p:nvSpPr>
        <p:spPr>
          <a:xfrm>
            <a:off x="822960" y="3657600"/>
            <a:ext cx="6309360" cy="2651760"/>
          </a:xfrm>
          <a:prstGeom prst="rect">
            <a:avLst/>
          </a:prstGeom>
          <a:noFill/>
          <a:ln>
            <a:noFill/>
          </a:ln>
        </p:spPr>
        <p:txBody>
          <a:bodyPr anchorCtr="0" anchor="ctr" bIns="0" lIns="0" spcFirstLastPara="1" rIns="0" wrap="square" tIns="0">
            <a:noAutofit/>
          </a:bodyPr>
          <a:lstStyle/>
          <a:p>
            <a:pPr indent="-279400" lvl="0" marL="279400" marR="0" rtl="0" algn="l">
              <a:spcBef>
                <a:spcPts val="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Identifica variable independiente, dependiente e intervinientes.</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Escribe la definición conceptual de cada una.</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Escribe la definición operacional (cómo se mide).</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Descompón en dimensiones e indicadores con su escala.</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Completa la tabla de operacionalización (Anexo B).</a:t>
            </a:r>
            <a:endParaRPr b="0" i="0" sz="1400" u="none" cap="none" strike="noStrike">
              <a:solidFill>
                <a:schemeClr val="dk1"/>
              </a:solidFill>
              <a:latin typeface="Calibri"/>
              <a:ea typeface="Calibri"/>
              <a:cs typeface="Calibri"/>
              <a:sym typeface="Calibri"/>
            </a:endParaRPr>
          </a:p>
        </p:txBody>
      </p:sp>
      <p:sp>
        <p:nvSpPr>
          <p:cNvPr id="628" name="Google Shape;628;p32"/>
          <p:cNvSpPr/>
          <p:nvPr/>
        </p:nvSpPr>
        <p:spPr>
          <a:xfrm>
            <a:off x="7498080" y="1783080"/>
            <a:ext cx="4023360" cy="2377440"/>
          </a:xfrm>
          <a:prstGeom prst="roundRect">
            <a:avLst>
              <a:gd fmla="val 3462" name="adj"/>
            </a:avLst>
          </a:prstGeom>
          <a:solidFill>
            <a:srgbClr val="E7F0E9"/>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2"/>
          <p:cNvSpPr/>
          <p:nvPr/>
        </p:nvSpPr>
        <p:spPr>
          <a:xfrm>
            <a:off x="7772400" y="196596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500"/>
              <a:buFont typeface="Arial"/>
              <a:buNone/>
            </a:pPr>
            <a:r>
              <a:rPr b="1" i="0" lang="en-US" sz="1500" u="none" cap="none" strike="noStrike">
                <a:solidFill>
                  <a:srgbClr val="2E7D32"/>
                </a:solidFill>
                <a:latin typeface="Arial"/>
                <a:ea typeface="Arial"/>
                <a:cs typeface="Arial"/>
                <a:sym typeface="Arial"/>
              </a:rPr>
              <a:t>Entregable</a:t>
            </a:r>
            <a:endParaRPr b="0" i="0" sz="1500" u="none" cap="none" strike="noStrike">
              <a:solidFill>
                <a:schemeClr val="dk1"/>
              </a:solidFill>
              <a:latin typeface="Calibri"/>
              <a:ea typeface="Calibri"/>
              <a:cs typeface="Calibri"/>
              <a:sym typeface="Calibri"/>
            </a:endParaRPr>
          </a:p>
        </p:txBody>
      </p:sp>
      <p:sp>
        <p:nvSpPr>
          <p:cNvPr id="630" name="Google Shape;630;p32"/>
          <p:cNvSpPr/>
          <p:nvPr/>
        </p:nvSpPr>
        <p:spPr>
          <a:xfrm>
            <a:off x="7772400" y="2331720"/>
            <a:ext cx="3520440" cy="17373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Tabla de operacionalización de variables (Anexo B).</a:t>
            </a:r>
            <a:endParaRPr b="0" i="0" sz="1400" u="none" cap="none" strike="noStrike">
              <a:solidFill>
                <a:schemeClr val="dk1"/>
              </a:solidFill>
              <a:latin typeface="Calibri"/>
              <a:ea typeface="Calibri"/>
              <a:cs typeface="Calibri"/>
              <a:sym typeface="Calibri"/>
            </a:endParaRPr>
          </a:p>
        </p:txBody>
      </p:sp>
      <p:sp>
        <p:nvSpPr>
          <p:cNvPr id="631" name="Google Shape;631;p32"/>
          <p:cNvSpPr/>
          <p:nvPr/>
        </p:nvSpPr>
        <p:spPr>
          <a:xfrm>
            <a:off x="7498080" y="4343400"/>
            <a:ext cx="4023360" cy="2057400"/>
          </a:xfrm>
          <a:prstGeom prst="roundRect">
            <a:avLst>
              <a:gd fmla="val 4000" name="adj"/>
            </a:avLst>
          </a:prstGeom>
          <a:solidFill>
            <a:srgbClr val="F7E4E3"/>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2"/>
          <p:cNvSpPr/>
          <p:nvPr/>
        </p:nvSpPr>
        <p:spPr>
          <a:xfrm>
            <a:off x="7772400" y="452628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500"/>
              <a:buFont typeface="Arial"/>
              <a:buNone/>
            </a:pPr>
            <a:r>
              <a:rPr b="1" i="0" lang="en-US" sz="1500" u="none" cap="none" strike="noStrike">
                <a:solidFill>
                  <a:srgbClr val="B3261E"/>
                </a:solidFill>
                <a:latin typeface="Arial"/>
                <a:ea typeface="Arial"/>
                <a:cs typeface="Arial"/>
                <a:sym typeface="Arial"/>
              </a:rPr>
              <a:t>Error común</a:t>
            </a:r>
            <a:endParaRPr b="0" i="0" sz="1500" u="none" cap="none" strike="noStrike">
              <a:solidFill>
                <a:schemeClr val="dk1"/>
              </a:solidFill>
              <a:latin typeface="Calibri"/>
              <a:ea typeface="Calibri"/>
              <a:cs typeface="Calibri"/>
              <a:sym typeface="Calibri"/>
            </a:endParaRPr>
          </a:p>
        </p:txBody>
      </p:sp>
      <p:sp>
        <p:nvSpPr>
          <p:cNvPr id="633" name="Google Shape;633;p32"/>
          <p:cNvSpPr/>
          <p:nvPr/>
        </p:nvSpPr>
        <p:spPr>
          <a:xfrm>
            <a:off x="7772400" y="4892040"/>
            <a:ext cx="3520440" cy="1371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Confundir concepto con medida; indicadores que no se pueden medir.</a:t>
            </a:r>
            <a:endParaRPr b="0" i="0" sz="1400" u="none" cap="none" strike="noStrike">
              <a:solidFill>
                <a:schemeClr val="dk1"/>
              </a:solidFill>
              <a:latin typeface="Calibri"/>
              <a:ea typeface="Calibri"/>
              <a:cs typeface="Calibri"/>
              <a:sym typeface="Calibri"/>
            </a:endParaRPr>
          </a:p>
        </p:txBody>
      </p:sp>
      <p:sp>
        <p:nvSpPr>
          <p:cNvPr id="634" name="Google Shape;634;p32"/>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635" name="Google Shape;635;p32"/>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0" name="Shape 640"/>
        <p:cNvGrpSpPr/>
        <p:nvPr/>
      </p:nvGrpSpPr>
      <p:grpSpPr>
        <a:xfrm>
          <a:off x="0" y="0"/>
          <a:ext cx="0" cy="0"/>
          <a:chOff x="0" y="0"/>
          <a:chExt cx="0" cy="0"/>
        </a:xfrm>
      </p:grpSpPr>
      <p:sp>
        <p:nvSpPr>
          <p:cNvPr id="641" name="Google Shape;641;p33"/>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LABORATORIO 4 · 18 MIN</a:t>
            </a:r>
            <a:endParaRPr b="0" i="0" sz="1200" u="none" cap="none" strike="noStrike">
              <a:solidFill>
                <a:schemeClr val="dk1"/>
              </a:solidFill>
              <a:latin typeface="Calibri"/>
              <a:ea typeface="Calibri"/>
              <a:cs typeface="Calibri"/>
              <a:sym typeface="Calibri"/>
            </a:endParaRPr>
          </a:p>
        </p:txBody>
      </p:sp>
      <p:sp>
        <p:nvSpPr>
          <p:cNvPr id="642" name="Google Shape;642;p33"/>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Diseño metodológico</a:t>
            </a:r>
            <a:endParaRPr b="0" i="0" sz="3000" u="none" cap="none" strike="noStrike">
              <a:solidFill>
                <a:schemeClr val="dk1"/>
              </a:solidFill>
              <a:latin typeface="Calibri"/>
              <a:ea typeface="Calibri"/>
              <a:cs typeface="Calibri"/>
              <a:sym typeface="Calibri"/>
            </a:endParaRPr>
          </a:p>
        </p:txBody>
      </p:sp>
      <p:sp>
        <p:nvSpPr>
          <p:cNvPr id="643" name="Google Shape;643;p33"/>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3"/>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18 min</a:t>
            </a:r>
            <a:endParaRPr b="0" i="0" sz="1200" u="none" cap="none" strike="noStrike">
              <a:solidFill>
                <a:schemeClr val="dk1"/>
              </a:solidFill>
              <a:latin typeface="Calibri"/>
              <a:ea typeface="Calibri"/>
              <a:cs typeface="Calibri"/>
              <a:sym typeface="Calibri"/>
            </a:endParaRPr>
          </a:p>
        </p:txBody>
      </p:sp>
      <p:sp>
        <p:nvSpPr>
          <p:cNvPr id="645" name="Google Shape;645;p33"/>
          <p:cNvSpPr/>
          <p:nvPr/>
        </p:nvSpPr>
        <p:spPr>
          <a:xfrm>
            <a:off x="548640" y="1783080"/>
            <a:ext cx="6766560" cy="4617720"/>
          </a:xfrm>
          <a:prstGeom prst="roundRect">
            <a:avLst>
              <a:gd fmla="val 1782"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3"/>
          <p:cNvSpPr/>
          <p:nvPr/>
        </p:nvSpPr>
        <p:spPr>
          <a:xfrm>
            <a:off x="822960" y="196596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Objetivo</a:t>
            </a:r>
            <a:endParaRPr b="0" i="0" sz="1500" u="none" cap="none" strike="noStrike">
              <a:solidFill>
                <a:schemeClr val="dk1"/>
              </a:solidFill>
              <a:latin typeface="Calibri"/>
              <a:ea typeface="Calibri"/>
              <a:cs typeface="Calibri"/>
              <a:sym typeface="Calibri"/>
            </a:endParaRPr>
          </a:p>
        </p:txBody>
      </p:sp>
      <p:sp>
        <p:nvSpPr>
          <p:cNvPr id="647" name="Google Shape;647;p33"/>
          <p:cNvSpPr/>
          <p:nvPr/>
        </p:nvSpPr>
        <p:spPr>
          <a:xfrm>
            <a:off x="822960" y="2331720"/>
            <a:ext cx="630936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Definir y justificar enfoque, tipo, nivel, diseño, población, muestra e instrumentos.</a:t>
            </a:r>
            <a:endParaRPr b="0" i="0" sz="1450" u="none" cap="none" strike="noStrike">
              <a:solidFill>
                <a:schemeClr val="dk1"/>
              </a:solidFill>
              <a:latin typeface="Calibri"/>
              <a:ea typeface="Calibri"/>
              <a:cs typeface="Calibri"/>
              <a:sym typeface="Calibri"/>
            </a:endParaRPr>
          </a:p>
        </p:txBody>
      </p:sp>
      <p:sp>
        <p:nvSpPr>
          <p:cNvPr id="648" name="Google Shape;648;p33"/>
          <p:cNvSpPr/>
          <p:nvPr/>
        </p:nvSpPr>
        <p:spPr>
          <a:xfrm>
            <a:off x="822960" y="324612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Pasos</a:t>
            </a:r>
            <a:endParaRPr b="0" i="0" sz="1500" u="none" cap="none" strike="noStrike">
              <a:solidFill>
                <a:schemeClr val="dk1"/>
              </a:solidFill>
              <a:latin typeface="Calibri"/>
              <a:ea typeface="Calibri"/>
              <a:cs typeface="Calibri"/>
              <a:sym typeface="Calibri"/>
            </a:endParaRPr>
          </a:p>
        </p:txBody>
      </p:sp>
      <p:sp>
        <p:nvSpPr>
          <p:cNvPr id="649" name="Google Shape;649;p33"/>
          <p:cNvSpPr/>
          <p:nvPr/>
        </p:nvSpPr>
        <p:spPr>
          <a:xfrm>
            <a:off x="822960" y="3657600"/>
            <a:ext cx="6309360" cy="2651760"/>
          </a:xfrm>
          <a:prstGeom prst="rect">
            <a:avLst/>
          </a:prstGeom>
          <a:noFill/>
          <a:ln>
            <a:noFill/>
          </a:ln>
        </p:spPr>
        <p:txBody>
          <a:bodyPr anchorCtr="0" anchor="ctr" bIns="0" lIns="0" spcFirstLastPara="1" rIns="0" wrap="square" tIns="0">
            <a:noAutofit/>
          </a:bodyPr>
          <a:lstStyle/>
          <a:p>
            <a:pPr indent="-279400" lvl="0" marL="279400" marR="0" rtl="0" algn="l">
              <a:spcBef>
                <a:spcPts val="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Elige enfoque (cuant/cual/mixto) y justifícalo.</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Define tipo, nivel y diseño según tu problema.</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Determina población, muestra y tipo de muestreo.</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Elige técnicas e instrumentos por cada indicador.</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Anota cómo asegurarás validez y confiabilidad.</a:t>
            </a:r>
            <a:endParaRPr b="0" i="0" sz="1400" u="none" cap="none" strike="noStrike">
              <a:solidFill>
                <a:schemeClr val="dk1"/>
              </a:solidFill>
              <a:latin typeface="Calibri"/>
              <a:ea typeface="Calibri"/>
              <a:cs typeface="Calibri"/>
              <a:sym typeface="Calibri"/>
            </a:endParaRPr>
          </a:p>
        </p:txBody>
      </p:sp>
      <p:sp>
        <p:nvSpPr>
          <p:cNvPr id="650" name="Google Shape;650;p33"/>
          <p:cNvSpPr/>
          <p:nvPr/>
        </p:nvSpPr>
        <p:spPr>
          <a:xfrm>
            <a:off x="7498080" y="1783080"/>
            <a:ext cx="4023360" cy="2377440"/>
          </a:xfrm>
          <a:prstGeom prst="roundRect">
            <a:avLst>
              <a:gd fmla="val 3462" name="adj"/>
            </a:avLst>
          </a:prstGeom>
          <a:solidFill>
            <a:srgbClr val="E7F0E9"/>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3"/>
          <p:cNvSpPr/>
          <p:nvPr/>
        </p:nvSpPr>
        <p:spPr>
          <a:xfrm>
            <a:off x="7772400" y="196596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500"/>
              <a:buFont typeface="Arial"/>
              <a:buNone/>
            </a:pPr>
            <a:r>
              <a:rPr b="1" i="0" lang="en-US" sz="1500" u="none" cap="none" strike="noStrike">
                <a:solidFill>
                  <a:srgbClr val="2E7D32"/>
                </a:solidFill>
                <a:latin typeface="Arial"/>
                <a:ea typeface="Arial"/>
                <a:cs typeface="Arial"/>
                <a:sym typeface="Arial"/>
              </a:rPr>
              <a:t>Entregable</a:t>
            </a:r>
            <a:endParaRPr b="0" i="0" sz="1500" u="none" cap="none" strike="noStrike">
              <a:solidFill>
                <a:schemeClr val="dk1"/>
              </a:solidFill>
              <a:latin typeface="Calibri"/>
              <a:ea typeface="Calibri"/>
              <a:cs typeface="Calibri"/>
              <a:sym typeface="Calibri"/>
            </a:endParaRPr>
          </a:p>
        </p:txBody>
      </p:sp>
      <p:sp>
        <p:nvSpPr>
          <p:cNvPr id="652" name="Google Shape;652;p33"/>
          <p:cNvSpPr/>
          <p:nvPr/>
        </p:nvSpPr>
        <p:spPr>
          <a:xfrm>
            <a:off x="7772400" y="2331720"/>
            <a:ext cx="3520440" cy="17373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Sección de diseño metodológico esbozada y justificada.</a:t>
            </a:r>
            <a:endParaRPr b="0" i="0" sz="1400" u="none" cap="none" strike="noStrike">
              <a:solidFill>
                <a:schemeClr val="dk1"/>
              </a:solidFill>
              <a:latin typeface="Calibri"/>
              <a:ea typeface="Calibri"/>
              <a:cs typeface="Calibri"/>
              <a:sym typeface="Calibri"/>
            </a:endParaRPr>
          </a:p>
        </p:txBody>
      </p:sp>
      <p:sp>
        <p:nvSpPr>
          <p:cNvPr id="653" name="Google Shape;653;p33"/>
          <p:cNvSpPr/>
          <p:nvPr/>
        </p:nvSpPr>
        <p:spPr>
          <a:xfrm>
            <a:off x="7498080" y="4343400"/>
            <a:ext cx="4023360" cy="2057400"/>
          </a:xfrm>
          <a:prstGeom prst="roundRect">
            <a:avLst>
              <a:gd fmla="val 4000" name="adj"/>
            </a:avLst>
          </a:prstGeom>
          <a:solidFill>
            <a:srgbClr val="F7E4E3"/>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3"/>
          <p:cNvSpPr/>
          <p:nvPr/>
        </p:nvSpPr>
        <p:spPr>
          <a:xfrm>
            <a:off x="7772400" y="452628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500"/>
              <a:buFont typeface="Arial"/>
              <a:buNone/>
            </a:pPr>
            <a:r>
              <a:rPr b="1" i="0" lang="en-US" sz="1500" u="none" cap="none" strike="noStrike">
                <a:solidFill>
                  <a:srgbClr val="B3261E"/>
                </a:solidFill>
                <a:latin typeface="Arial"/>
                <a:ea typeface="Arial"/>
                <a:cs typeface="Arial"/>
                <a:sym typeface="Arial"/>
              </a:rPr>
              <a:t>Error común</a:t>
            </a:r>
            <a:endParaRPr b="0" i="0" sz="1500" u="none" cap="none" strike="noStrike">
              <a:solidFill>
                <a:schemeClr val="dk1"/>
              </a:solidFill>
              <a:latin typeface="Calibri"/>
              <a:ea typeface="Calibri"/>
              <a:cs typeface="Calibri"/>
              <a:sym typeface="Calibri"/>
            </a:endParaRPr>
          </a:p>
        </p:txBody>
      </p:sp>
      <p:sp>
        <p:nvSpPr>
          <p:cNvPr id="655" name="Google Shape;655;p33"/>
          <p:cNvSpPr/>
          <p:nvPr/>
        </p:nvSpPr>
        <p:spPr>
          <a:xfrm>
            <a:off x="7772400" y="4892040"/>
            <a:ext cx="3520440" cy="1371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Elegir un diseño ‘porque sí’ sin justificarlo con el problema.</a:t>
            </a:r>
            <a:endParaRPr b="0" i="0" sz="1400" u="none" cap="none" strike="noStrike">
              <a:solidFill>
                <a:schemeClr val="dk1"/>
              </a:solidFill>
              <a:latin typeface="Calibri"/>
              <a:ea typeface="Calibri"/>
              <a:cs typeface="Calibri"/>
              <a:sym typeface="Calibri"/>
            </a:endParaRPr>
          </a:p>
        </p:txBody>
      </p:sp>
      <p:sp>
        <p:nvSpPr>
          <p:cNvPr id="656" name="Google Shape;656;p33"/>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657" name="Google Shape;657;p33"/>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2" name="Shape 662"/>
        <p:cNvGrpSpPr/>
        <p:nvPr/>
      </p:nvGrpSpPr>
      <p:grpSpPr>
        <a:xfrm>
          <a:off x="0" y="0"/>
          <a:ext cx="0" cy="0"/>
          <a:chOff x="0" y="0"/>
          <a:chExt cx="0" cy="0"/>
        </a:xfrm>
      </p:grpSpPr>
      <p:sp>
        <p:nvSpPr>
          <p:cNvPr id="663" name="Google Shape;663;p34"/>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LABORATORIO 5 · 20 MIN</a:t>
            </a:r>
            <a:endParaRPr b="0" i="0" sz="1200" u="none" cap="none" strike="noStrike">
              <a:solidFill>
                <a:schemeClr val="dk1"/>
              </a:solidFill>
              <a:latin typeface="Calibri"/>
              <a:ea typeface="Calibri"/>
              <a:cs typeface="Calibri"/>
              <a:sym typeface="Calibri"/>
            </a:endParaRPr>
          </a:p>
        </p:txBody>
      </p:sp>
      <p:sp>
        <p:nvSpPr>
          <p:cNvPr id="664" name="Google Shape;664;p34"/>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Matriz de consistencia v1</a:t>
            </a:r>
            <a:endParaRPr b="0" i="0" sz="3000" u="none" cap="none" strike="noStrike">
              <a:solidFill>
                <a:schemeClr val="dk1"/>
              </a:solidFill>
              <a:latin typeface="Calibri"/>
              <a:ea typeface="Calibri"/>
              <a:cs typeface="Calibri"/>
              <a:sym typeface="Calibri"/>
            </a:endParaRPr>
          </a:p>
        </p:txBody>
      </p:sp>
      <p:sp>
        <p:nvSpPr>
          <p:cNvPr id="665" name="Google Shape;665;p34"/>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4"/>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20 min</a:t>
            </a:r>
            <a:endParaRPr b="0" i="0" sz="1200" u="none" cap="none" strike="noStrike">
              <a:solidFill>
                <a:schemeClr val="dk1"/>
              </a:solidFill>
              <a:latin typeface="Calibri"/>
              <a:ea typeface="Calibri"/>
              <a:cs typeface="Calibri"/>
              <a:sym typeface="Calibri"/>
            </a:endParaRPr>
          </a:p>
        </p:txBody>
      </p:sp>
      <p:sp>
        <p:nvSpPr>
          <p:cNvPr id="667" name="Google Shape;667;p34"/>
          <p:cNvSpPr/>
          <p:nvPr/>
        </p:nvSpPr>
        <p:spPr>
          <a:xfrm>
            <a:off x="548640" y="1783080"/>
            <a:ext cx="6766560" cy="4617720"/>
          </a:xfrm>
          <a:prstGeom prst="roundRect">
            <a:avLst>
              <a:gd fmla="val 1782"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4"/>
          <p:cNvSpPr/>
          <p:nvPr/>
        </p:nvSpPr>
        <p:spPr>
          <a:xfrm>
            <a:off x="822960" y="196596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Objetivo</a:t>
            </a:r>
            <a:endParaRPr b="0" i="0" sz="1500" u="none" cap="none" strike="noStrike">
              <a:solidFill>
                <a:schemeClr val="dk1"/>
              </a:solidFill>
              <a:latin typeface="Calibri"/>
              <a:ea typeface="Calibri"/>
              <a:cs typeface="Calibri"/>
              <a:sym typeface="Calibri"/>
            </a:endParaRPr>
          </a:p>
        </p:txBody>
      </p:sp>
      <p:sp>
        <p:nvSpPr>
          <p:cNvPr id="669" name="Google Shape;669;p34"/>
          <p:cNvSpPr/>
          <p:nvPr/>
        </p:nvSpPr>
        <p:spPr>
          <a:xfrm>
            <a:off x="822960" y="2331720"/>
            <a:ext cx="630936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Integrar todo en una matriz de consistencia coherente (el producto final).</a:t>
            </a:r>
            <a:endParaRPr b="0" i="0" sz="1450" u="none" cap="none" strike="noStrike">
              <a:solidFill>
                <a:schemeClr val="dk1"/>
              </a:solidFill>
              <a:latin typeface="Calibri"/>
              <a:ea typeface="Calibri"/>
              <a:cs typeface="Calibri"/>
              <a:sym typeface="Calibri"/>
            </a:endParaRPr>
          </a:p>
        </p:txBody>
      </p:sp>
      <p:sp>
        <p:nvSpPr>
          <p:cNvPr id="670" name="Google Shape;670;p34"/>
          <p:cNvSpPr/>
          <p:nvPr/>
        </p:nvSpPr>
        <p:spPr>
          <a:xfrm>
            <a:off x="822960" y="324612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Pasos</a:t>
            </a:r>
            <a:endParaRPr b="0" i="0" sz="1500" u="none" cap="none" strike="noStrike">
              <a:solidFill>
                <a:schemeClr val="dk1"/>
              </a:solidFill>
              <a:latin typeface="Calibri"/>
              <a:ea typeface="Calibri"/>
              <a:cs typeface="Calibri"/>
              <a:sym typeface="Calibri"/>
            </a:endParaRPr>
          </a:p>
        </p:txBody>
      </p:sp>
      <p:sp>
        <p:nvSpPr>
          <p:cNvPr id="671" name="Google Shape;671;p34"/>
          <p:cNvSpPr/>
          <p:nvPr/>
        </p:nvSpPr>
        <p:spPr>
          <a:xfrm>
            <a:off x="822960" y="3657600"/>
            <a:ext cx="6309360" cy="2651760"/>
          </a:xfrm>
          <a:prstGeom prst="rect">
            <a:avLst/>
          </a:prstGeom>
          <a:noFill/>
          <a:ln>
            <a:noFill/>
          </a:ln>
        </p:spPr>
        <p:txBody>
          <a:bodyPr anchorCtr="0" anchor="ctr" bIns="0" lIns="0" spcFirstLastPara="1" rIns="0" wrap="square" tIns="0">
            <a:noAutofit/>
          </a:bodyPr>
          <a:lstStyle/>
          <a:p>
            <a:pPr indent="-279400" lvl="0" marL="279400" marR="0" rtl="0" algn="l">
              <a:spcBef>
                <a:spcPts val="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Abre la plantilla de matriz de consistencia.</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Llena la fila general: problema-objetivo-hipótesis-variables-método.</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Llena una fila por cada específico.</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Verifica la coherencia horizontal de cada fila.</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Revisa la coherencia vertical (los específicos suman al general).</a:t>
            </a:r>
            <a:endParaRPr b="0" i="0" sz="1400" u="none" cap="none" strike="noStrike">
              <a:solidFill>
                <a:schemeClr val="dk1"/>
              </a:solidFill>
              <a:latin typeface="Calibri"/>
              <a:ea typeface="Calibri"/>
              <a:cs typeface="Calibri"/>
              <a:sym typeface="Calibri"/>
            </a:endParaRPr>
          </a:p>
        </p:txBody>
      </p:sp>
      <p:sp>
        <p:nvSpPr>
          <p:cNvPr id="672" name="Google Shape;672;p34"/>
          <p:cNvSpPr/>
          <p:nvPr/>
        </p:nvSpPr>
        <p:spPr>
          <a:xfrm>
            <a:off x="7498080" y="1783080"/>
            <a:ext cx="4023360" cy="2377440"/>
          </a:xfrm>
          <a:prstGeom prst="roundRect">
            <a:avLst>
              <a:gd fmla="val 3462" name="adj"/>
            </a:avLst>
          </a:prstGeom>
          <a:solidFill>
            <a:srgbClr val="E7F0E9"/>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4"/>
          <p:cNvSpPr/>
          <p:nvPr/>
        </p:nvSpPr>
        <p:spPr>
          <a:xfrm>
            <a:off x="7772400" y="196596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500"/>
              <a:buFont typeface="Arial"/>
              <a:buNone/>
            </a:pPr>
            <a:r>
              <a:rPr b="1" i="0" lang="en-US" sz="1500" u="none" cap="none" strike="noStrike">
                <a:solidFill>
                  <a:srgbClr val="2E7D32"/>
                </a:solidFill>
                <a:latin typeface="Arial"/>
                <a:ea typeface="Arial"/>
                <a:cs typeface="Arial"/>
                <a:sym typeface="Arial"/>
              </a:rPr>
              <a:t>Entregable</a:t>
            </a:r>
            <a:endParaRPr b="0" i="0" sz="1500" u="none" cap="none" strike="noStrike">
              <a:solidFill>
                <a:schemeClr val="dk1"/>
              </a:solidFill>
              <a:latin typeface="Calibri"/>
              <a:ea typeface="Calibri"/>
              <a:cs typeface="Calibri"/>
              <a:sym typeface="Calibri"/>
            </a:endParaRPr>
          </a:p>
        </p:txBody>
      </p:sp>
      <p:sp>
        <p:nvSpPr>
          <p:cNvPr id="674" name="Google Shape;674;p34"/>
          <p:cNvSpPr/>
          <p:nvPr/>
        </p:nvSpPr>
        <p:spPr>
          <a:xfrm>
            <a:off x="7772400" y="2331720"/>
            <a:ext cx="3520440" cy="17373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Matriz de consistencia v1 completa (Anexo A) — producto final de la unidad.</a:t>
            </a:r>
            <a:endParaRPr b="0" i="0" sz="1400" u="none" cap="none" strike="noStrike">
              <a:solidFill>
                <a:schemeClr val="dk1"/>
              </a:solidFill>
              <a:latin typeface="Calibri"/>
              <a:ea typeface="Calibri"/>
              <a:cs typeface="Calibri"/>
              <a:sym typeface="Calibri"/>
            </a:endParaRPr>
          </a:p>
        </p:txBody>
      </p:sp>
      <p:sp>
        <p:nvSpPr>
          <p:cNvPr id="675" name="Google Shape;675;p34"/>
          <p:cNvSpPr/>
          <p:nvPr/>
        </p:nvSpPr>
        <p:spPr>
          <a:xfrm>
            <a:off x="7498080" y="4343400"/>
            <a:ext cx="4023360" cy="2057400"/>
          </a:xfrm>
          <a:prstGeom prst="roundRect">
            <a:avLst>
              <a:gd fmla="val 4000" name="adj"/>
            </a:avLst>
          </a:prstGeom>
          <a:solidFill>
            <a:srgbClr val="F7E4E3"/>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4"/>
          <p:cNvSpPr/>
          <p:nvPr/>
        </p:nvSpPr>
        <p:spPr>
          <a:xfrm>
            <a:off x="7772400" y="452628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500"/>
              <a:buFont typeface="Arial"/>
              <a:buNone/>
            </a:pPr>
            <a:r>
              <a:rPr b="1" i="0" lang="en-US" sz="1500" u="none" cap="none" strike="noStrike">
                <a:solidFill>
                  <a:srgbClr val="B3261E"/>
                </a:solidFill>
                <a:latin typeface="Arial"/>
                <a:ea typeface="Arial"/>
                <a:cs typeface="Arial"/>
                <a:sym typeface="Arial"/>
              </a:rPr>
              <a:t>Error común</a:t>
            </a:r>
            <a:endParaRPr b="0" i="0" sz="1500" u="none" cap="none" strike="noStrike">
              <a:solidFill>
                <a:schemeClr val="dk1"/>
              </a:solidFill>
              <a:latin typeface="Calibri"/>
              <a:ea typeface="Calibri"/>
              <a:cs typeface="Calibri"/>
              <a:sym typeface="Calibri"/>
            </a:endParaRPr>
          </a:p>
        </p:txBody>
      </p:sp>
      <p:sp>
        <p:nvSpPr>
          <p:cNvPr id="677" name="Google Shape;677;p34"/>
          <p:cNvSpPr/>
          <p:nvPr/>
        </p:nvSpPr>
        <p:spPr>
          <a:xfrm>
            <a:off x="7772400" y="4892040"/>
            <a:ext cx="3520440" cy="1371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Filas que no cierran en horizontal; método que no permite contrastar la hipótesis.</a:t>
            </a:r>
            <a:endParaRPr b="0" i="0" sz="1400" u="none" cap="none" strike="noStrike">
              <a:solidFill>
                <a:schemeClr val="dk1"/>
              </a:solidFill>
              <a:latin typeface="Calibri"/>
              <a:ea typeface="Calibri"/>
              <a:cs typeface="Calibri"/>
              <a:sym typeface="Calibri"/>
            </a:endParaRPr>
          </a:p>
        </p:txBody>
      </p:sp>
      <p:sp>
        <p:nvSpPr>
          <p:cNvPr id="678" name="Google Shape;678;p34"/>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679" name="Google Shape;679;p34"/>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4" name="Shape 684"/>
        <p:cNvGrpSpPr/>
        <p:nvPr/>
      </p:nvGrpSpPr>
      <p:grpSpPr>
        <a:xfrm>
          <a:off x="0" y="0"/>
          <a:ext cx="0" cy="0"/>
          <a:chOff x="0" y="0"/>
          <a:chExt cx="0" cy="0"/>
        </a:xfrm>
      </p:grpSpPr>
      <p:sp>
        <p:nvSpPr>
          <p:cNvPr id="685" name="Google Shape;685;p35"/>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LABORATORIO 6 · 12 MIN</a:t>
            </a:r>
            <a:endParaRPr b="0" i="0" sz="1200" u="none" cap="none" strike="noStrike">
              <a:solidFill>
                <a:schemeClr val="dk1"/>
              </a:solidFill>
              <a:latin typeface="Calibri"/>
              <a:ea typeface="Calibri"/>
              <a:cs typeface="Calibri"/>
              <a:sym typeface="Calibri"/>
            </a:endParaRPr>
          </a:p>
        </p:txBody>
      </p:sp>
      <p:sp>
        <p:nvSpPr>
          <p:cNvPr id="686" name="Google Shape;686;p35"/>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Auditoría de coherencia con IA</a:t>
            </a:r>
            <a:endParaRPr b="0" i="0" sz="3000" u="none" cap="none" strike="noStrike">
              <a:solidFill>
                <a:schemeClr val="dk1"/>
              </a:solidFill>
              <a:latin typeface="Calibri"/>
              <a:ea typeface="Calibri"/>
              <a:cs typeface="Calibri"/>
              <a:sym typeface="Calibri"/>
            </a:endParaRPr>
          </a:p>
        </p:txBody>
      </p:sp>
      <p:sp>
        <p:nvSpPr>
          <p:cNvPr id="687" name="Google Shape;687;p35"/>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5"/>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12 min</a:t>
            </a:r>
            <a:endParaRPr b="0" i="0" sz="1200" u="none" cap="none" strike="noStrike">
              <a:solidFill>
                <a:schemeClr val="dk1"/>
              </a:solidFill>
              <a:latin typeface="Calibri"/>
              <a:ea typeface="Calibri"/>
              <a:cs typeface="Calibri"/>
              <a:sym typeface="Calibri"/>
            </a:endParaRPr>
          </a:p>
        </p:txBody>
      </p:sp>
      <p:sp>
        <p:nvSpPr>
          <p:cNvPr id="689" name="Google Shape;689;p35"/>
          <p:cNvSpPr/>
          <p:nvPr/>
        </p:nvSpPr>
        <p:spPr>
          <a:xfrm>
            <a:off x="548640" y="1783080"/>
            <a:ext cx="6766560" cy="4617720"/>
          </a:xfrm>
          <a:prstGeom prst="roundRect">
            <a:avLst>
              <a:gd fmla="val 1782"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5"/>
          <p:cNvSpPr/>
          <p:nvPr/>
        </p:nvSpPr>
        <p:spPr>
          <a:xfrm>
            <a:off x="822960" y="196596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Objetivo</a:t>
            </a:r>
            <a:endParaRPr b="0" i="0" sz="1500" u="none" cap="none" strike="noStrike">
              <a:solidFill>
                <a:schemeClr val="dk1"/>
              </a:solidFill>
              <a:latin typeface="Calibri"/>
              <a:ea typeface="Calibri"/>
              <a:cs typeface="Calibri"/>
              <a:sym typeface="Calibri"/>
            </a:endParaRPr>
          </a:p>
        </p:txBody>
      </p:sp>
      <p:sp>
        <p:nvSpPr>
          <p:cNvPr id="691" name="Google Shape;691;p35"/>
          <p:cNvSpPr/>
          <p:nvPr/>
        </p:nvSpPr>
        <p:spPr>
          <a:xfrm>
            <a:off x="822960" y="2331720"/>
            <a:ext cx="630936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Usar la IA como auditor para detectar incoherencias, sin delegar la decisión.</a:t>
            </a:r>
            <a:endParaRPr b="0" i="0" sz="1450" u="none" cap="none" strike="noStrike">
              <a:solidFill>
                <a:schemeClr val="dk1"/>
              </a:solidFill>
              <a:latin typeface="Calibri"/>
              <a:ea typeface="Calibri"/>
              <a:cs typeface="Calibri"/>
              <a:sym typeface="Calibri"/>
            </a:endParaRPr>
          </a:p>
        </p:txBody>
      </p:sp>
      <p:sp>
        <p:nvSpPr>
          <p:cNvPr id="692" name="Google Shape;692;p35"/>
          <p:cNvSpPr/>
          <p:nvPr/>
        </p:nvSpPr>
        <p:spPr>
          <a:xfrm>
            <a:off x="822960" y="324612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Pasos</a:t>
            </a:r>
            <a:endParaRPr b="0" i="0" sz="1500" u="none" cap="none" strike="noStrike">
              <a:solidFill>
                <a:schemeClr val="dk1"/>
              </a:solidFill>
              <a:latin typeface="Calibri"/>
              <a:ea typeface="Calibri"/>
              <a:cs typeface="Calibri"/>
              <a:sym typeface="Calibri"/>
            </a:endParaRPr>
          </a:p>
        </p:txBody>
      </p:sp>
      <p:sp>
        <p:nvSpPr>
          <p:cNvPr id="693" name="Google Shape;693;p35"/>
          <p:cNvSpPr/>
          <p:nvPr/>
        </p:nvSpPr>
        <p:spPr>
          <a:xfrm>
            <a:off x="822960" y="3657600"/>
            <a:ext cx="6309360" cy="2651760"/>
          </a:xfrm>
          <a:prstGeom prst="rect">
            <a:avLst/>
          </a:prstGeom>
          <a:noFill/>
          <a:ln>
            <a:noFill/>
          </a:ln>
        </p:spPr>
        <p:txBody>
          <a:bodyPr anchorCtr="0" anchor="ctr" bIns="0" lIns="0" spcFirstLastPara="1" rIns="0" wrap="square" tIns="0">
            <a:noAutofit/>
          </a:bodyPr>
          <a:lstStyle/>
          <a:p>
            <a:pPr indent="-279400" lvl="0" marL="279400" marR="0" rtl="0" algn="l">
              <a:spcBef>
                <a:spcPts val="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Pega tu matriz al agente/IA con el prompt de auditoría.</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Pídele que señale desalineaciones fila por fila.</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Pregunta qué variable no está operacionalizada o qué método no contrasta.</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Evalúa cada observación: acepta o justifica por qué no.</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Corrige tu matriz y anota los cambios.</a:t>
            </a:r>
            <a:endParaRPr b="0" i="0" sz="1400" u="none" cap="none" strike="noStrike">
              <a:solidFill>
                <a:schemeClr val="dk1"/>
              </a:solidFill>
              <a:latin typeface="Calibri"/>
              <a:ea typeface="Calibri"/>
              <a:cs typeface="Calibri"/>
              <a:sym typeface="Calibri"/>
            </a:endParaRPr>
          </a:p>
        </p:txBody>
      </p:sp>
      <p:sp>
        <p:nvSpPr>
          <p:cNvPr id="694" name="Google Shape;694;p35"/>
          <p:cNvSpPr/>
          <p:nvPr/>
        </p:nvSpPr>
        <p:spPr>
          <a:xfrm>
            <a:off x="7498080" y="1783080"/>
            <a:ext cx="4023360" cy="2377440"/>
          </a:xfrm>
          <a:prstGeom prst="roundRect">
            <a:avLst>
              <a:gd fmla="val 3462" name="adj"/>
            </a:avLst>
          </a:prstGeom>
          <a:solidFill>
            <a:srgbClr val="E7F0E9"/>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5"/>
          <p:cNvSpPr/>
          <p:nvPr/>
        </p:nvSpPr>
        <p:spPr>
          <a:xfrm>
            <a:off x="7772400" y="196596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500"/>
              <a:buFont typeface="Arial"/>
              <a:buNone/>
            </a:pPr>
            <a:r>
              <a:rPr b="1" i="0" lang="en-US" sz="1500" u="none" cap="none" strike="noStrike">
                <a:solidFill>
                  <a:srgbClr val="2E7D32"/>
                </a:solidFill>
                <a:latin typeface="Arial"/>
                <a:ea typeface="Arial"/>
                <a:cs typeface="Arial"/>
                <a:sym typeface="Arial"/>
              </a:rPr>
              <a:t>Entregable</a:t>
            </a:r>
            <a:endParaRPr b="0" i="0" sz="1500" u="none" cap="none" strike="noStrike">
              <a:solidFill>
                <a:schemeClr val="dk1"/>
              </a:solidFill>
              <a:latin typeface="Calibri"/>
              <a:ea typeface="Calibri"/>
              <a:cs typeface="Calibri"/>
              <a:sym typeface="Calibri"/>
            </a:endParaRPr>
          </a:p>
        </p:txBody>
      </p:sp>
      <p:sp>
        <p:nvSpPr>
          <p:cNvPr id="696" name="Google Shape;696;p35"/>
          <p:cNvSpPr/>
          <p:nvPr/>
        </p:nvSpPr>
        <p:spPr>
          <a:xfrm>
            <a:off x="7772400" y="2331720"/>
            <a:ext cx="3520440" cy="17373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Matriz revisada + lista de incoherencias detectadas y cómo las resolviste.</a:t>
            </a:r>
            <a:endParaRPr b="0" i="0" sz="1400" u="none" cap="none" strike="noStrike">
              <a:solidFill>
                <a:schemeClr val="dk1"/>
              </a:solidFill>
              <a:latin typeface="Calibri"/>
              <a:ea typeface="Calibri"/>
              <a:cs typeface="Calibri"/>
              <a:sym typeface="Calibri"/>
            </a:endParaRPr>
          </a:p>
        </p:txBody>
      </p:sp>
      <p:sp>
        <p:nvSpPr>
          <p:cNvPr id="697" name="Google Shape;697;p35"/>
          <p:cNvSpPr/>
          <p:nvPr/>
        </p:nvSpPr>
        <p:spPr>
          <a:xfrm>
            <a:off x="7498080" y="4343400"/>
            <a:ext cx="4023360" cy="2057400"/>
          </a:xfrm>
          <a:prstGeom prst="roundRect">
            <a:avLst>
              <a:gd fmla="val 4000" name="adj"/>
            </a:avLst>
          </a:prstGeom>
          <a:solidFill>
            <a:srgbClr val="F7E4E3"/>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5"/>
          <p:cNvSpPr/>
          <p:nvPr/>
        </p:nvSpPr>
        <p:spPr>
          <a:xfrm>
            <a:off x="7772400" y="452628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500"/>
              <a:buFont typeface="Arial"/>
              <a:buNone/>
            </a:pPr>
            <a:r>
              <a:rPr b="1" i="0" lang="en-US" sz="1500" u="none" cap="none" strike="noStrike">
                <a:solidFill>
                  <a:srgbClr val="B3261E"/>
                </a:solidFill>
                <a:latin typeface="Arial"/>
                <a:ea typeface="Arial"/>
                <a:cs typeface="Arial"/>
                <a:sym typeface="Arial"/>
              </a:rPr>
              <a:t>Error común</a:t>
            </a:r>
            <a:endParaRPr b="0" i="0" sz="1500" u="none" cap="none" strike="noStrike">
              <a:solidFill>
                <a:schemeClr val="dk1"/>
              </a:solidFill>
              <a:latin typeface="Calibri"/>
              <a:ea typeface="Calibri"/>
              <a:cs typeface="Calibri"/>
              <a:sym typeface="Calibri"/>
            </a:endParaRPr>
          </a:p>
        </p:txBody>
      </p:sp>
      <p:sp>
        <p:nvSpPr>
          <p:cNvPr id="699" name="Google Shape;699;p35"/>
          <p:cNvSpPr/>
          <p:nvPr/>
        </p:nvSpPr>
        <p:spPr>
          <a:xfrm>
            <a:off x="7772400" y="4892040"/>
            <a:ext cx="3520440" cy="1371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Aceptar los cambios de la IA sin evaluarlos ni poder justificarlos.</a:t>
            </a:r>
            <a:endParaRPr b="0" i="0" sz="1400" u="none" cap="none" strike="noStrike">
              <a:solidFill>
                <a:schemeClr val="dk1"/>
              </a:solidFill>
              <a:latin typeface="Calibri"/>
              <a:ea typeface="Calibri"/>
              <a:cs typeface="Calibri"/>
              <a:sym typeface="Calibri"/>
            </a:endParaRPr>
          </a:p>
        </p:txBody>
      </p:sp>
      <p:sp>
        <p:nvSpPr>
          <p:cNvPr id="700" name="Google Shape;700;p35"/>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701" name="Google Shape;701;p35"/>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6" name="Shape 706"/>
        <p:cNvGrpSpPr/>
        <p:nvPr/>
      </p:nvGrpSpPr>
      <p:grpSpPr>
        <a:xfrm>
          <a:off x="0" y="0"/>
          <a:ext cx="0" cy="0"/>
          <a:chOff x="0" y="0"/>
          <a:chExt cx="0" cy="0"/>
        </a:xfrm>
      </p:grpSpPr>
      <p:sp>
        <p:nvSpPr>
          <p:cNvPr id="707" name="Google Shape;707;p36"/>
          <p:cNvSpPr/>
          <p:nvPr/>
        </p:nvSpPr>
        <p:spPr>
          <a:xfrm>
            <a:off x="548640" y="38404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200"/>
              <a:buFont typeface="Arial"/>
              <a:buNone/>
            </a:pPr>
            <a:r>
              <a:rPr b="1" i="0" lang="en-US" sz="1200" u="none" cap="none" strike="noStrike">
                <a:solidFill>
                  <a:srgbClr val="7A1420"/>
                </a:solidFill>
                <a:latin typeface="Arial"/>
                <a:ea typeface="Arial"/>
                <a:cs typeface="Arial"/>
                <a:sym typeface="Arial"/>
              </a:rPr>
              <a:t>LABORATORIO 7 · 10 MIN</a:t>
            </a:r>
            <a:endParaRPr b="0" i="0" sz="1200" u="none" cap="none" strike="noStrike">
              <a:solidFill>
                <a:schemeClr val="dk1"/>
              </a:solidFill>
              <a:latin typeface="Calibri"/>
              <a:ea typeface="Calibri"/>
              <a:cs typeface="Calibri"/>
              <a:sym typeface="Calibri"/>
            </a:endParaRPr>
          </a:p>
        </p:txBody>
      </p:sp>
      <p:sp>
        <p:nvSpPr>
          <p:cNvPr id="708" name="Google Shape;708;p36"/>
          <p:cNvSpPr/>
          <p:nvPr/>
        </p:nvSpPr>
        <p:spPr>
          <a:xfrm>
            <a:off x="530352" y="658368"/>
            <a:ext cx="9326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4B"/>
              </a:buClr>
              <a:buSzPts val="3000"/>
              <a:buFont typeface="Arial"/>
              <a:buNone/>
            </a:pPr>
            <a:r>
              <a:rPr b="1" i="0" lang="en-US" sz="3000" u="none" cap="none" strike="noStrike">
                <a:solidFill>
                  <a:srgbClr val="13294B"/>
                </a:solidFill>
                <a:latin typeface="Arial"/>
                <a:ea typeface="Arial"/>
                <a:cs typeface="Arial"/>
                <a:sym typeface="Arial"/>
              </a:rPr>
              <a:t>Viabilidad, ética y evaluación</a:t>
            </a:r>
            <a:endParaRPr b="0" i="0" sz="3000" u="none" cap="none" strike="noStrike">
              <a:solidFill>
                <a:schemeClr val="dk1"/>
              </a:solidFill>
              <a:latin typeface="Calibri"/>
              <a:ea typeface="Calibri"/>
              <a:cs typeface="Calibri"/>
              <a:sym typeface="Calibri"/>
            </a:endParaRPr>
          </a:p>
        </p:txBody>
      </p:sp>
      <p:sp>
        <p:nvSpPr>
          <p:cNvPr id="709" name="Google Shape;709;p36"/>
          <p:cNvSpPr/>
          <p:nvPr/>
        </p:nvSpPr>
        <p:spPr>
          <a:xfrm>
            <a:off x="10378440" y="420624"/>
            <a:ext cx="1280160" cy="457200"/>
          </a:xfrm>
          <a:prstGeom prst="roundRect">
            <a:avLst>
              <a:gd fmla="val 16000" name="adj"/>
            </a:avLst>
          </a:prstGeom>
          <a:solidFill>
            <a:srgbClr val="EDEFF2"/>
          </a:solidFill>
          <a:ln cap="flat" cmpd="sng" w="12700">
            <a:solidFill>
              <a:srgbClr val="DDE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6"/>
          <p:cNvSpPr/>
          <p:nvPr/>
        </p:nvSpPr>
        <p:spPr>
          <a:xfrm>
            <a:off x="10378440" y="420624"/>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4B"/>
              </a:buClr>
              <a:buSzPts val="1200"/>
              <a:buFont typeface="Arial"/>
              <a:buNone/>
            </a:pPr>
            <a:r>
              <a:rPr b="1" i="0" lang="en-US" sz="1200" u="none" cap="none" strike="noStrike">
                <a:solidFill>
                  <a:srgbClr val="13294B"/>
                </a:solidFill>
                <a:latin typeface="Arial"/>
                <a:ea typeface="Arial"/>
                <a:cs typeface="Arial"/>
                <a:sym typeface="Arial"/>
              </a:rPr>
              <a:t>10 min</a:t>
            </a:r>
            <a:endParaRPr b="0" i="0" sz="1200" u="none" cap="none" strike="noStrike">
              <a:solidFill>
                <a:schemeClr val="dk1"/>
              </a:solidFill>
              <a:latin typeface="Calibri"/>
              <a:ea typeface="Calibri"/>
              <a:cs typeface="Calibri"/>
              <a:sym typeface="Calibri"/>
            </a:endParaRPr>
          </a:p>
        </p:txBody>
      </p:sp>
      <p:sp>
        <p:nvSpPr>
          <p:cNvPr id="711" name="Google Shape;711;p36"/>
          <p:cNvSpPr/>
          <p:nvPr/>
        </p:nvSpPr>
        <p:spPr>
          <a:xfrm>
            <a:off x="548640" y="1783080"/>
            <a:ext cx="6766560" cy="4617720"/>
          </a:xfrm>
          <a:prstGeom prst="roundRect">
            <a:avLst>
              <a:gd fmla="val 1782" name="adj"/>
            </a:avLst>
          </a:prstGeom>
          <a:solidFill>
            <a:srgbClr val="EDEFF2"/>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6"/>
          <p:cNvSpPr/>
          <p:nvPr/>
        </p:nvSpPr>
        <p:spPr>
          <a:xfrm>
            <a:off x="822960" y="196596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Objetivo</a:t>
            </a:r>
            <a:endParaRPr b="0" i="0" sz="1500" u="none" cap="none" strike="noStrike">
              <a:solidFill>
                <a:schemeClr val="dk1"/>
              </a:solidFill>
              <a:latin typeface="Calibri"/>
              <a:ea typeface="Calibri"/>
              <a:cs typeface="Calibri"/>
              <a:sym typeface="Calibri"/>
            </a:endParaRPr>
          </a:p>
        </p:txBody>
      </p:sp>
      <p:sp>
        <p:nvSpPr>
          <p:cNvPr id="713" name="Google Shape;713;p36"/>
          <p:cNvSpPr/>
          <p:nvPr/>
        </p:nvSpPr>
        <p:spPr>
          <a:xfrm>
            <a:off x="822960" y="2331720"/>
            <a:ext cx="630936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2733"/>
              </a:buClr>
              <a:buSzPts val="1450"/>
              <a:buFont typeface="Arial"/>
              <a:buNone/>
            </a:pPr>
            <a:r>
              <a:rPr b="0" i="0" lang="en-US" sz="1450" u="none" cap="none" strike="noStrike">
                <a:solidFill>
                  <a:srgbClr val="1F2733"/>
                </a:solidFill>
                <a:latin typeface="Arial"/>
                <a:ea typeface="Arial"/>
                <a:cs typeface="Arial"/>
                <a:sym typeface="Arial"/>
              </a:rPr>
              <a:t>Verificar que el diseño es viable y ético, y demostrar dominio de la coherencia.</a:t>
            </a:r>
            <a:endParaRPr b="0" i="0" sz="1450" u="none" cap="none" strike="noStrike">
              <a:solidFill>
                <a:schemeClr val="dk1"/>
              </a:solidFill>
              <a:latin typeface="Calibri"/>
              <a:ea typeface="Calibri"/>
              <a:cs typeface="Calibri"/>
              <a:sym typeface="Calibri"/>
            </a:endParaRPr>
          </a:p>
        </p:txBody>
      </p:sp>
      <p:sp>
        <p:nvSpPr>
          <p:cNvPr id="714" name="Google Shape;714;p36"/>
          <p:cNvSpPr/>
          <p:nvPr/>
        </p:nvSpPr>
        <p:spPr>
          <a:xfrm>
            <a:off x="822960" y="324612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420"/>
              </a:buClr>
              <a:buSzPts val="1500"/>
              <a:buFont typeface="Arial"/>
              <a:buNone/>
            </a:pPr>
            <a:r>
              <a:rPr b="1" i="0" lang="en-US" sz="1500" u="none" cap="none" strike="noStrike">
                <a:solidFill>
                  <a:srgbClr val="7A1420"/>
                </a:solidFill>
                <a:latin typeface="Arial"/>
                <a:ea typeface="Arial"/>
                <a:cs typeface="Arial"/>
                <a:sym typeface="Arial"/>
              </a:rPr>
              <a:t>Pasos</a:t>
            </a:r>
            <a:endParaRPr b="0" i="0" sz="1500" u="none" cap="none" strike="noStrike">
              <a:solidFill>
                <a:schemeClr val="dk1"/>
              </a:solidFill>
              <a:latin typeface="Calibri"/>
              <a:ea typeface="Calibri"/>
              <a:cs typeface="Calibri"/>
              <a:sym typeface="Calibri"/>
            </a:endParaRPr>
          </a:p>
        </p:txBody>
      </p:sp>
      <p:sp>
        <p:nvSpPr>
          <p:cNvPr id="715" name="Google Shape;715;p36"/>
          <p:cNvSpPr/>
          <p:nvPr/>
        </p:nvSpPr>
        <p:spPr>
          <a:xfrm>
            <a:off x="822960" y="3657600"/>
            <a:ext cx="6309360" cy="2651760"/>
          </a:xfrm>
          <a:prstGeom prst="rect">
            <a:avLst/>
          </a:prstGeom>
          <a:noFill/>
          <a:ln>
            <a:noFill/>
          </a:ln>
        </p:spPr>
        <p:txBody>
          <a:bodyPr anchorCtr="0" anchor="ctr" bIns="0" lIns="0" spcFirstLastPara="1" rIns="0" wrap="square" tIns="0">
            <a:noAutofit/>
          </a:bodyPr>
          <a:lstStyle/>
          <a:p>
            <a:pPr indent="-279400" lvl="0" marL="279400" marR="0" rtl="0" algn="l">
              <a:spcBef>
                <a:spcPts val="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Revisa viabilidad: ¿tienes acceso a los datos/muestra y al tiempo?</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Revisa ética: consentimiento, datos personales, normas de la facultad.</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Responde las 5 preguntas de la rúbrica.</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Explica cómo usaste (y no delegaste) la IA.</a:t>
            </a:r>
            <a:endParaRPr b="0" i="0" sz="1400" u="none" cap="none" strike="noStrike">
              <a:solidFill>
                <a:schemeClr val="dk1"/>
              </a:solidFill>
              <a:latin typeface="Calibri"/>
              <a:ea typeface="Calibri"/>
              <a:cs typeface="Calibri"/>
              <a:sym typeface="Calibri"/>
            </a:endParaRPr>
          </a:p>
          <a:p>
            <a:pPr indent="-279400" lvl="0" marL="279400" marR="0" rtl="0" algn="l">
              <a:spcBef>
                <a:spcPts val="700"/>
              </a:spcBef>
              <a:spcAft>
                <a:spcPts val="0"/>
              </a:spcAft>
              <a:buClr>
                <a:srgbClr val="1F2733"/>
              </a:buClr>
              <a:buSzPts val="1400"/>
              <a:buFont typeface="Calibri"/>
              <a:buAutoNum type="arabicPeriod"/>
            </a:pPr>
            <a:r>
              <a:rPr b="0" i="0" lang="en-US" sz="1400" u="none" cap="none" strike="noStrike">
                <a:solidFill>
                  <a:srgbClr val="1F2733"/>
                </a:solidFill>
                <a:latin typeface="Arial"/>
                <a:ea typeface="Arial"/>
                <a:cs typeface="Arial"/>
                <a:sym typeface="Arial"/>
              </a:rPr>
              <a:t>Entrega tu paquete: Capítulo I v1 + matriz de consistencia.</a:t>
            </a:r>
            <a:endParaRPr b="0" i="0" sz="1400" u="none" cap="none" strike="noStrike">
              <a:solidFill>
                <a:schemeClr val="dk1"/>
              </a:solidFill>
              <a:latin typeface="Calibri"/>
              <a:ea typeface="Calibri"/>
              <a:cs typeface="Calibri"/>
              <a:sym typeface="Calibri"/>
            </a:endParaRPr>
          </a:p>
        </p:txBody>
      </p:sp>
      <p:sp>
        <p:nvSpPr>
          <p:cNvPr id="716" name="Google Shape;716;p36"/>
          <p:cNvSpPr/>
          <p:nvPr/>
        </p:nvSpPr>
        <p:spPr>
          <a:xfrm>
            <a:off x="7498080" y="1783080"/>
            <a:ext cx="4023360" cy="2377440"/>
          </a:xfrm>
          <a:prstGeom prst="roundRect">
            <a:avLst>
              <a:gd fmla="val 3462" name="adj"/>
            </a:avLst>
          </a:prstGeom>
          <a:solidFill>
            <a:srgbClr val="E7F0E9"/>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6"/>
          <p:cNvSpPr/>
          <p:nvPr/>
        </p:nvSpPr>
        <p:spPr>
          <a:xfrm>
            <a:off x="7772400" y="196596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500"/>
              <a:buFont typeface="Arial"/>
              <a:buNone/>
            </a:pPr>
            <a:r>
              <a:rPr b="1" i="0" lang="en-US" sz="1500" u="none" cap="none" strike="noStrike">
                <a:solidFill>
                  <a:srgbClr val="2E7D32"/>
                </a:solidFill>
                <a:latin typeface="Arial"/>
                <a:ea typeface="Arial"/>
                <a:cs typeface="Arial"/>
                <a:sym typeface="Arial"/>
              </a:rPr>
              <a:t>Entregable</a:t>
            </a:r>
            <a:endParaRPr b="0" i="0" sz="1500" u="none" cap="none" strike="noStrike">
              <a:solidFill>
                <a:schemeClr val="dk1"/>
              </a:solidFill>
              <a:latin typeface="Calibri"/>
              <a:ea typeface="Calibri"/>
              <a:cs typeface="Calibri"/>
              <a:sym typeface="Calibri"/>
            </a:endParaRPr>
          </a:p>
        </p:txBody>
      </p:sp>
      <p:sp>
        <p:nvSpPr>
          <p:cNvPr id="718" name="Google Shape;718;p36"/>
          <p:cNvSpPr/>
          <p:nvPr/>
        </p:nvSpPr>
        <p:spPr>
          <a:xfrm>
            <a:off x="7772400" y="2331720"/>
            <a:ext cx="3520440" cy="17373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Checklist de viabilidad/ética + autoevaluación + Capítulo I v1.</a:t>
            </a:r>
            <a:endParaRPr b="0" i="0" sz="1400" u="none" cap="none" strike="noStrike">
              <a:solidFill>
                <a:schemeClr val="dk1"/>
              </a:solidFill>
              <a:latin typeface="Calibri"/>
              <a:ea typeface="Calibri"/>
              <a:cs typeface="Calibri"/>
              <a:sym typeface="Calibri"/>
            </a:endParaRPr>
          </a:p>
        </p:txBody>
      </p:sp>
      <p:sp>
        <p:nvSpPr>
          <p:cNvPr id="719" name="Google Shape;719;p36"/>
          <p:cNvSpPr/>
          <p:nvPr/>
        </p:nvSpPr>
        <p:spPr>
          <a:xfrm>
            <a:off x="7498080" y="4343400"/>
            <a:ext cx="4023360" cy="2057400"/>
          </a:xfrm>
          <a:prstGeom prst="roundRect">
            <a:avLst>
              <a:gd fmla="val 4000" name="adj"/>
            </a:avLst>
          </a:prstGeom>
          <a:solidFill>
            <a:srgbClr val="F7E4E3"/>
          </a:solidFill>
          <a:ln>
            <a:noFill/>
          </a:ln>
          <a:effectLst>
            <a:outerShdw blurRad="76200" rotWithShape="0" algn="bl" dir="5400000" dist="25400">
              <a:srgbClr val="9AA0A6">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6"/>
          <p:cNvSpPr/>
          <p:nvPr/>
        </p:nvSpPr>
        <p:spPr>
          <a:xfrm>
            <a:off x="7772400" y="452628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500"/>
              <a:buFont typeface="Arial"/>
              <a:buNone/>
            </a:pPr>
            <a:r>
              <a:rPr b="1" i="0" lang="en-US" sz="1500" u="none" cap="none" strike="noStrike">
                <a:solidFill>
                  <a:srgbClr val="B3261E"/>
                </a:solidFill>
                <a:latin typeface="Arial"/>
                <a:ea typeface="Arial"/>
                <a:cs typeface="Arial"/>
                <a:sym typeface="Arial"/>
              </a:rPr>
              <a:t>Error común</a:t>
            </a:r>
            <a:endParaRPr b="0" i="0" sz="1500" u="none" cap="none" strike="noStrike">
              <a:solidFill>
                <a:schemeClr val="dk1"/>
              </a:solidFill>
              <a:latin typeface="Calibri"/>
              <a:ea typeface="Calibri"/>
              <a:cs typeface="Calibri"/>
              <a:sym typeface="Calibri"/>
            </a:endParaRPr>
          </a:p>
        </p:txBody>
      </p:sp>
      <p:sp>
        <p:nvSpPr>
          <p:cNvPr id="721" name="Google Shape;721;p36"/>
          <p:cNvSpPr/>
          <p:nvPr/>
        </p:nvSpPr>
        <p:spPr>
          <a:xfrm>
            <a:off x="7772400" y="4892040"/>
            <a:ext cx="3520440" cy="1371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2733"/>
              </a:buClr>
              <a:buSzPts val="1400"/>
              <a:buFont typeface="Arial"/>
              <a:buNone/>
            </a:pPr>
            <a:r>
              <a:rPr b="0" i="0" lang="en-US" sz="1400" u="none" cap="none" strike="noStrike">
                <a:solidFill>
                  <a:srgbClr val="1F2733"/>
                </a:solidFill>
                <a:latin typeface="Arial"/>
                <a:ea typeface="Arial"/>
                <a:cs typeface="Arial"/>
                <a:sym typeface="Arial"/>
              </a:rPr>
              <a:t>Diseñar una investigación inviable (sin acceso a datos) o sin considerar la ética.</a:t>
            </a:r>
            <a:endParaRPr b="0" i="0" sz="1400" u="none" cap="none" strike="noStrike">
              <a:solidFill>
                <a:schemeClr val="dk1"/>
              </a:solidFill>
              <a:latin typeface="Calibri"/>
              <a:ea typeface="Calibri"/>
              <a:cs typeface="Calibri"/>
              <a:sym typeface="Calibri"/>
            </a:endParaRPr>
          </a:p>
        </p:txBody>
      </p:sp>
      <p:sp>
        <p:nvSpPr>
          <p:cNvPr id="722" name="Google Shape;722;p36"/>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UNIDAD 3 · Metodología de la investigación con IA</a:t>
            </a:r>
            <a:endParaRPr b="0" i="0" sz="900" u="none" cap="none" strike="noStrike">
              <a:solidFill>
                <a:schemeClr val="dk1"/>
              </a:solidFill>
              <a:latin typeface="Calibri"/>
              <a:ea typeface="Calibri"/>
              <a:cs typeface="Calibri"/>
              <a:sym typeface="Calibri"/>
            </a:endParaRPr>
          </a:p>
        </p:txBody>
      </p:sp>
      <p:sp>
        <p:nvSpPr>
          <p:cNvPr id="723" name="Google Shape;723;p36"/>
          <p:cNvSpPr/>
          <p:nvPr/>
        </p:nvSpPr>
        <p:spPr>
          <a:xfrm>
            <a:off x="11338560"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34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A1420"/>
        </a:solidFill>
      </p:bgPr>
    </p:bg>
    <p:spTree>
      <p:nvGrpSpPr>
        <p:cNvPr id="728" name="Shape 728"/>
        <p:cNvGrpSpPr/>
        <p:nvPr/>
      </p:nvGrpSpPr>
      <p:grpSpPr>
        <a:xfrm>
          <a:off x="0" y="0"/>
          <a:ext cx="0" cy="0"/>
          <a:chOff x="0" y="0"/>
          <a:chExt cx="0" cy="0"/>
        </a:xfrm>
      </p:grpSpPr>
      <p:sp>
        <p:nvSpPr>
          <p:cNvPr id="729" name="Google Shape;729;p37"/>
          <p:cNvSpPr/>
          <p:nvPr/>
        </p:nvSpPr>
        <p:spPr>
          <a:xfrm>
            <a:off x="0" y="5989320"/>
            <a:ext cx="12188952" cy="868680"/>
          </a:xfrm>
          <a:prstGeom prst="rect">
            <a:avLst/>
          </a:prstGeom>
          <a:solidFill>
            <a:srgbClr val="132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uni_fim.png" id="730" name="Google Shape;730;p37"/>
          <p:cNvPicPr preferRelativeResize="0"/>
          <p:nvPr/>
        </p:nvPicPr>
        <p:blipFill rotWithShape="1">
          <a:blip r:embed="rId3">
            <a:alphaModFix/>
          </a:blip>
          <a:srcRect b="0" l="0" r="0" t="0"/>
          <a:stretch/>
        </p:blipFill>
        <p:spPr>
          <a:xfrm>
            <a:off x="10287000" y="457200"/>
            <a:ext cx="1371600" cy="1737360"/>
          </a:xfrm>
          <a:prstGeom prst="rect">
            <a:avLst/>
          </a:prstGeom>
          <a:noFill/>
          <a:ln>
            <a:noFill/>
          </a:ln>
        </p:spPr>
      </p:pic>
      <p:sp>
        <p:nvSpPr>
          <p:cNvPr id="731" name="Google Shape;731;p37"/>
          <p:cNvSpPr/>
          <p:nvPr/>
        </p:nvSpPr>
        <p:spPr>
          <a:xfrm>
            <a:off x="640080" y="1371600"/>
            <a:ext cx="9326880" cy="1463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“Hoy diseñé el Capítulo I de mi tesis.”</a:t>
            </a:r>
            <a:endParaRPr b="0" i="0" sz="3400" u="none" cap="none" strike="noStrike">
              <a:solidFill>
                <a:schemeClr val="dk1"/>
              </a:solidFill>
              <a:latin typeface="Calibri"/>
              <a:ea typeface="Calibri"/>
              <a:cs typeface="Calibri"/>
              <a:sym typeface="Calibri"/>
            </a:endParaRPr>
          </a:p>
        </p:txBody>
      </p:sp>
      <p:sp>
        <p:nvSpPr>
          <p:cNvPr id="732" name="Google Shape;732;p37"/>
          <p:cNvSpPr/>
          <p:nvPr/>
        </p:nvSpPr>
        <p:spPr>
          <a:xfrm>
            <a:off x="658368" y="2880360"/>
            <a:ext cx="905256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3D6DA"/>
              </a:buClr>
              <a:buSzPts val="1600"/>
              <a:buFont typeface="Arial"/>
              <a:buNone/>
            </a:pPr>
            <a:r>
              <a:rPr b="0" i="0" lang="en-US" sz="1600" u="none" cap="none" strike="noStrike">
                <a:solidFill>
                  <a:srgbClr val="F3D6DA"/>
                </a:solidFill>
                <a:latin typeface="Arial"/>
                <a:ea typeface="Arial"/>
                <a:cs typeface="Arial"/>
                <a:sym typeface="Arial"/>
              </a:rPr>
              <a:t>Te llevas: tu problema, objetivos, hipótesis, variables operacionalizadas y tu matriz de consistencia — el esqueleto de tu tesis.</a:t>
            </a:r>
            <a:endParaRPr b="0" i="0" sz="1600" u="none" cap="none" strike="noStrike">
              <a:solidFill>
                <a:schemeClr val="dk1"/>
              </a:solidFill>
              <a:latin typeface="Calibri"/>
              <a:ea typeface="Calibri"/>
              <a:cs typeface="Calibri"/>
              <a:sym typeface="Calibri"/>
            </a:endParaRPr>
          </a:p>
        </p:txBody>
      </p:sp>
      <p:sp>
        <p:nvSpPr>
          <p:cNvPr id="733" name="Google Shape;733;p37"/>
          <p:cNvSpPr/>
          <p:nvPr/>
        </p:nvSpPr>
        <p:spPr>
          <a:xfrm>
            <a:off x="658368" y="4069080"/>
            <a:ext cx="10058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C9CE"/>
              </a:buClr>
              <a:buSzPts val="1800"/>
              <a:buFont typeface="Arial"/>
              <a:buNone/>
            </a:pPr>
            <a:r>
              <a:rPr b="0" i="0" lang="en-US" sz="1800" u="none" cap="none" strike="noStrike">
                <a:solidFill>
                  <a:srgbClr val="F0C9CE"/>
                </a:solidFill>
                <a:latin typeface="Arial"/>
                <a:ea typeface="Arial"/>
                <a:cs typeface="Arial"/>
                <a:sym typeface="Arial"/>
              </a:rPr>
              <a:t>Coherencia total:  </a:t>
            </a:r>
            <a:r>
              <a:rPr b="1" i="0" lang="en-US" sz="1800" u="none" cap="none" strike="noStrike">
                <a:solidFill>
                  <a:srgbClr val="FFFFFF"/>
                </a:solidFill>
                <a:latin typeface="Arial"/>
                <a:ea typeface="Arial"/>
                <a:cs typeface="Arial"/>
                <a:sym typeface="Arial"/>
              </a:rPr>
              <a:t>problema → objetivos → hipótesis → variables → método.</a:t>
            </a:r>
            <a:endParaRPr b="0" i="0" sz="1800" u="none" cap="none" strike="noStrike">
              <a:solidFill>
                <a:schemeClr val="dk1"/>
              </a:solidFill>
              <a:latin typeface="Calibri"/>
              <a:ea typeface="Calibri"/>
              <a:cs typeface="Calibri"/>
              <a:sym typeface="Calibri"/>
            </a:endParaRPr>
          </a:p>
        </p:txBody>
      </p:sp>
      <p:pic>
        <p:nvPicPr>
          <p:cNvPr descr="img/qr_linkedin.png" id="734" name="Google Shape;734;p37"/>
          <p:cNvPicPr preferRelativeResize="0"/>
          <p:nvPr/>
        </p:nvPicPr>
        <p:blipFill rotWithShape="1">
          <a:blip r:embed="rId4">
            <a:alphaModFix/>
          </a:blip>
          <a:srcRect b="0" l="0" r="0" t="0"/>
          <a:stretch/>
        </p:blipFill>
        <p:spPr>
          <a:xfrm>
            <a:off x="658368" y="4754880"/>
            <a:ext cx="1051560" cy="1051560"/>
          </a:xfrm>
          <a:prstGeom prst="rect">
            <a:avLst/>
          </a:prstGeom>
          <a:noFill/>
          <a:ln>
            <a:noFill/>
          </a:ln>
        </p:spPr>
      </p:pic>
      <p:sp>
        <p:nvSpPr>
          <p:cNvPr id="735" name="Google Shape;735;p37"/>
          <p:cNvSpPr/>
          <p:nvPr/>
        </p:nvSpPr>
        <p:spPr>
          <a:xfrm>
            <a:off x="1874520" y="4800600"/>
            <a:ext cx="5486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Corina Lazo Arroyo</a:t>
            </a:r>
            <a:br>
              <a:rPr b="1" i="0" lang="en-US" sz="1600" u="none" cap="none" strike="noStrike">
                <a:solidFill>
                  <a:srgbClr val="FFFFFF"/>
                </a:solidFill>
                <a:latin typeface="Arial"/>
                <a:ea typeface="Arial"/>
                <a:cs typeface="Arial"/>
                <a:sym typeface="Arial"/>
              </a:rPr>
            </a:br>
            <a:r>
              <a:rPr b="0" i="0" lang="en-US" sz="1400" u="none" cap="none" strike="noStrike">
                <a:solidFill>
                  <a:srgbClr val="F3D6DA"/>
                </a:solidFill>
                <a:latin typeface="Arial"/>
                <a:ea typeface="Arial"/>
                <a:cs typeface="Arial"/>
                <a:sym typeface="Arial"/>
              </a:rPr>
              <a:t>linkedin.com/in/corina-lazo-arroyo</a:t>
            </a:r>
            <a:br>
              <a:rPr b="0" i="0" lang="en-US" sz="1400" u="none" cap="none" strike="noStrike">
                <a:solidFill>
                  <a:srgbClr val="F3D6DA"/>
                </a:solidFill>
                <a:latin typeface="Arial"/>
                <a:ea typeface="Arial"/>
                <a:cs typeface="Arial"/>
                <a:sym typeface="Arial"/>
              </a:rPr>
            </a:br>
            <a:r>
              <a:rPr b="0" i="0" lang="en-US" sz="1400" u="none" cap="none" strike="noStrike">
                <a:solidFill>
                  <a:srgbClr val="F3D6DA"/>
                </a:solidFill>
                <a:latin typeface="Arial"/>
                <a:ea typeface="Arial"/>
                <a:cs typeface="Arial"/>
                <a:sym typeface="Arial"/>
              </a:rPr>
              <a:t>github.com/920052859</a:t>
            </a:r>
            <a:endParaRPr b="0" i="0" sz="1600" u="none" cap="none" strike="noStrike">
              <a:solidFill>
                <a:schemeClr val="dk1"/>
              </a:solidFill>
              <a:latin typeface="Calibri"/>
              <a:ea typeface="Calibri"/>
              <a:cs typeface="Calibri"/>
              <a:sym typeface="Calibri"/>
            </a:endParaRPr>
          </a:p>
        </p:txBody>
      </p:sp>
      <p:sp>
        <p:nvSpPr>
          <p:cNvPr id="736" name="Google Shape;736;p37"/>
          <p:cNvSpPr/>
          <p:nvPr/>
        </p:nvSpPr>
        <p:spPr>
          <a:xfrm>
            <a:off x="658368" y="6144768"/>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¡Gracias! Conéctate conmigo — escanea el QR.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