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1191D0-2AE4-4676-A2FF-BD8D1220C5F3}">
  <a:tblStyle styleId="{4F1191D0-2AE4-4676-A2FF-BD8D1220C5F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Bienvenida (30-60 s). Con U1-U3 el estudiante tiene agente, revisión de literatura, matriz de literatura y matriz de consistencia. La U4 convierte todo eso en TEXTO: un marco teórico bien escrito, citado con integridad y con su voz. Es el Capítulo II del TSP. La IA es asistente de redacción, no autor.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~60 s. Conecta con tu experiencia en reportería técnica: escribir para que otro entienda y confíe. Invita a conectar por LinkedIn.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min. Tienen todo el material de U1-U3 pero sin redactar. Hoy se vuelve texto: el Capítulo II. La calidad de redacción impacta todo el documento y la percepción del jurado.</a:t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min. El principio 1 marca el límite: la IA ayuda a mejorar, no a autorar. El 2 ataca el patchwriting. El 3 fija la jerarquía de la escritura académica: primero que se entienda y sea correcto, después que suene bien.</a:t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definas plagio aún. Muestra la fuente y la ‘paráfrasis’ del tesista (traducción casi literal, con cita). Muchos votarán ‘no es plagio, está citado’. Deja la tensión.</a:t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min. Revela: es patchwriting (plagio de estructura), y citar no lo salva. El plagio no es solo copiar sin citar; también es reproducir la forma ajena. La solución es comprender y reformular. Esa es la habilidad central de hoy.</a:t>
            </a:r>
            <a:endParaRPr/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min. Da el mapa, 40/60. El producto es texto redactado de verdad, no ‘generado’. Promete: se van con el Capítulo II empezado.</a:t>
            </a:r>
            <a:endParaRPr/>
          </a:p>
        </p:txBody>
      </p:sp>
      <p:sp>
        <p:nvSpPr>
          <p:cNvPr id="114" name="Google Shape;11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min. Los cinco rasgos definen el registro. Contrasta con el ‘sabor IA’ (texto fluido pero vacío). En ingeniería, precisión y objetividad mandan. Da ejemplos de frases de relleno a evitar.</a:t>
            </a:r>
            <a:endParaRPr/>
          </a:p>
        </p:txBody>
      </p:sp>
      <p:sp>
        <p:nvSpPr>
          <p:cNvPr id="131" name="Google Shape;13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Estructura del párrafo: idea → evidencia → cierre. Regla de oro: una idea por párrafo. Esta plantilla es la que aplicarán en el LAB 1 para convertir cada fila de su matriz de literatura en un párrafo.</a:t>
            </a:r>
            <a:endParaRPr/>
          </a:p>
        </p:txBody>
      </p:sp>
      <p:sp>
        <p:nvSpPr>
          <p:cNvPr id="169" name="Google Shape;16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El Capítulo II tiene bases teóricas (teorías que sustentan variables) y marco conceptual (definición de términos). Enfatiza: contrastar autores, no enumerarlos, y alinear los términos con las variables de la U3. Transición: ¿cómo pasar del material al texto?</a:t>
            </a:r>
            <a:endParaRPr/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El error más común del marco teórico: enumerar (‘X hizo, Y hizo’) en vez de sintetizar. Muestra el contraste. La lectura por columnas de la matriz (U2) da la síntesis. Cita varios autores en una misma idea.</a:t>
            </a:r>
            <a:endParaRPr/>
          </a:p>
        </p:txBody>
      </p:sp>
      <p:sp>
        <p:nvSpPr>
          <p:cNvPr id="210" name="Google Shape;21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2-3 min. Los conectores son las ‘soldaduras’ del texto. Recorre las categorías. Un uso pobre de conectores es la marca de un texto sin hilo. Transición a paráfrasis y citación.</a:t>
            </a:r>
            <a:endParaRPr/>
          </a:p>
        </p:txBody>
      </p:sp>
      <p:sp>
        <p:nvSpPr>
          <p:cNvPr id="229" name="Google Shape;22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Tres formas: cita directa (mínima), paráfrasis (la mayoría), resumen. En ingeniería la cita directa es rara; se usa para definiciones. Abusar de comillas señala falta de comprensión. Todas llevan cita.</a:t>
            </a:r>
            <a:endParaRPr/>
          </a:p>
        </p:txBody>
      </p:sp>
      <p:sp>
        <p:nvSpPr>
          <p:cNvPr id="258" name="Google Shape;25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La técnica: leer, cerrar la fuente, escribir de memoria, comparar y citar. Si necesitas mirar la fuente para escribir, aún no la comprendiste. Esta es la habilidad que se practica en el LAB 2.</a:t>
            </a:r>
            <a:endParaRPr/>
          </a:p>
        </p:txBody>
      </p:sp>
      <p:sp>
        <p:nvSpPr>
          <p:cNvPr id="272" name="Google Shape;27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Compara APA (nombre-año) e IEEE (numérico). La FIM suele usar IEEE, pero confirma con el asesor. Con el gestor de la U1/U2 se automatiza; verifica cada referencia. En el LAB 4 lo aplican.</a:t>
            </a:r>
            <a:endParaRPr/>
          </a:p>
        </p:txBody>
      </p:sp>
      <p:sp>
        <p:nvSpPr>
          <p:cNvPr id="289" name="Google Shape;28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La IA es correctora de estilo, no autora. Escribe TÚ el borrador (con tus fuentes) y pide a la IA que lo mejore. Recuerda U1: puede inventar citas. Nunca entregues texto que no puedas explicar.</a:t>
            </a:r>
            <a:endParaRPr/>
          </a:p>
        </p:txBody>
      </p:sp>
      <p:sp>
        <p:nvSpPr>
          <p:cNvPr id="301" name="Google Shape;30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Prompts clave: siempre sobre TU texto y con la instrucción de no inventar ni cambiar citas. El prompt de ‘crítica’ (que señale, no reescriba) es el más formativo. En los labs los usarán.</a:t>
            </a:r>
            <a:endParaRPr/>
          </a:p>
        </p:txBody>
      </p:sp>
      <p:sp>
        <p:nvSpPr>
          <p:cNvPr id="318" name="Google Shape;31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2-3 min. Enseña a reconocer el ‘sabor IA’ para eliminarlo. Un texto con cifras, citas concretas y términos técnicos bien usados suena a autor, no a modelo. Regla: si no puedes explicar una frase, bórrala o reescríbela.</a:t>
            </a:r>
            <a:endParaRPr/>
          </a:p>
        </p:txBody>
      </p:sp>
      <p:sp>
        <p:nvSpPr>
          <p:cNvPr id="339" name="Google Shape;33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Cuatro tipos: directo, patchwriting (el más común e ‘inocente’), mosaico y autoplagio. Todos se evitan comprendiendo y citando. Insiste en la gravedad: el plagio puede invalidar la tesis.</a:t>
            </a:r>
            <a:endParaRPr/>
          </a:p>
        </p:txBody>
      </p:sp>
      <p:sp>
        <p:nvSpPr>
          <p:cNvPr id="354" name="Google Shape;35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El reporte de similitud (Turnitin u otro) mide coincidencia, no plagio. Enseña a leerlo: un 15% de términos técnicos y citas puede ser normal; un 8% de una sola fuente puede ser grave. Nunca uses ‘spinners’. Confirma el umbral de la FIM.</a:t>
            </a:r>
            <a:endParaRPr/>
          </a:p>
        </p:txBody>
      </p:sp>
      <p:sp>
        <p:nvSpPr>
          <p:cNvPr id="383" name="Google Shape;38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Los detectores de IA no son confiables (falsos positivos, sesgo contra no nativos). No te defiendas ‘pasando el detector’: defiéndete con transparencia — declara el uso, guarda borradores, y escribe lo que puedas explicar. Esa es la integridad real.</a:t>
            </a:r>
            <a:endParaRPr/>
          </a:p>
        </p:txBody>
      </p:sp>
      <p:sp>
        <p:nvSpPr>
          <p:cNvPr id="398" name="Google Shape;39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Revisa de lo grande a lo pequeño: no corrijas comas si el orden de ideas está mal. Cinco capas: contenido, estructura, párrafo, oración, palabra. La IA ayuda sobre todo en las capas 3-5, tú diriges las 1-2.</a:t>
            </a:r>
            <a:endParaRPr/>
          </a:p>
        </p:txBody>
      </p:sp>
      <p:sp>
        <p:nvSpPr>
          <p:cNvPr id="412" name="Google Shape;41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2-3 min. Checklist final. Recorre errores comunes: párrafos-monstruo, enumeración, afirmaciones sin fuente, exceso de comillas, informalidad. Lo aplican en el LAB 7.</a:t>
            </a:r>
            <a:endParaRPr/>
          </a:p>
        </p:txBody>
      </p:sp>
      <p:sp>
        <p:nvSpPr>
          <p:cNvPr id="444" name="Google Shape;44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El semáforo aplicado a la redacción. AMARILLO domina: la IA reescribe TU texto, tú verificas sentido y fuentes. ROJO: generar el marco teórico o disfrazar para el detector es fraude. Pide ejemplos.</a:t>
            </a:r>
            <a:endParaRPr/>
          </a:p>
        </p:txBody>
      </p:sp>
      <p:sp>
        <p:nvSpPr>
          <p:cNvPr id="459" name="Google Shape;45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2-3 min. Cierre ético. La IA no diluye la autoría: la concentra. Comprender, atribuir, declarar y firmar. El jurado te preguntará por tu texto; debes poder defenderlo palabra por palabra.</a:t>
            </a:r>
            <a:endParaRPr/>
          </a:p>
        </p:txBody>
      </p:sp>
      <p:sp>
        <p:nvSpPr>
          <p:cNvPr id="480" name="Google Shape;48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30-60 s. Frase-bisagra. Pide su matriz de literatura y de consistencia. A partir de aquí eres facilitador.</a:t>
            </a:r>
            <a:endParaRPr/>
          </a:p>
        </p:txBody>
      </p:sp>
      <p:sp>
        <p:nvSpPr>
          <p:cNvPr id="501" name="Google Shape;50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min. El LAB 3 (redacción del marco teórico) es el corazón. Cada estación deja evidencia. Reloj visible.</a:t>
            </a:r>
            <a:endParaRPr/>
          </a:p>
        </p:txBody>
      </p:sp>
      <p:sp>
        <p:nvSpPr>
          <p:cNvPr id="511" name="Google Shape;51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 min. Aplican la plantilla del párrafo (slide 9). Circula verificando que empiecen por la idea, no por ‘Autor dijo’. Es el ladrillo del marco teórico.</a:t>
            </a:r>
            <a:endParaRPr/>
          </a:p>
        </p:txBody>
      </p:sp>
      <p:sp>
        <p:nvSpPr>
          <p:cNvPr id="555" name="Google Shape;55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 min. La técnica ‘leer-cerrar-escribir’ (slide 14). Circula detectando patchwriting. Pídeles comparar su versión con la fuente para autoevaluar la distancia.</a:t>
            </a:r>
            <a:endParaRPr/>
          </a:p>
        </p:txBody>
      </p:sp>
      <p:sp>
        <p:nvSpPr>
          <p:cNvPr id="577" name="Google Shape;57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 — corazón. Escriben ellos, con sus fuentes; la IA solo pule. Verifica que sinteticen (no enumeren) y que cada afirmación tenga cita. Prioriza que TODOS avancen 2 secciones.</a:t>
            </a:r>
            <a:endParaRPr/>
          </a:p>
        </p:txBody>
      </p:sp>
      <p:sp>
        <p:nvSpPr>
          <p:cNvPr id="599" name="Google Shape;59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 min. Aplican el gestor de U1/U2 al estilo correcto. La correspondencia texto↔lista es lo que revisa el jurado. Verificar DOI evita citas inventadas.</a:t>
            </a:r>
            <a:endParaRPr/>
          </a:p>
        </p:txBody>
      </p:sp>
      <p:sp>
        <p:nvSpPr>
          <p:cNvPr id="621" name="Google Shape;62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 min. Revisión de mayor a menor (slide 22). El prompt de ‘crítica’ (que señale, no reescriba) es el más formativo. Circula revisando cohesión.</a:t>
            </a:r>
            <a:endParaRPr/>
          </a:p>
        </p:txBody>
      </p:sp>
      <p:sp>
        <p:nvSpPr>
          <p:cNvPr id="643" name="Google Shape;64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 min. Originalidad = comprensión, no un número. Leer el reporte, no solo el %. La declaración de uso de IA y los borradores son tu defensa. Nunca ‘spinners’.</a:t>
            </a:r>
            <a:endParaRPr/>
          </a:p>
        </p:txBody>
      </p:sp>
      <p:sp>
        <p:nvSpPr>
          <p:cNvPr id="665" name="Google Shape;66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" name="Google Shape;68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 min. Aplica la rúbrica. Lo esencial: que puedan explicar y defender cada frase, y demostrar que la IA fue asistente, no autor. Reconoce el avance en el Capítulo II.</a:t>
            </a:r>
            <a:endParaRPr/>
          </a:p>
        </p:txBody>
      </p:sp>
      <p:sp>
        <p:nvSpPr>
          <p:cNvPr id="687" name="Google Shape;687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Cierre (1-2 min). Refuerza: escribieron con integridad y con su voz, no ‘generaron’ texto. Repite la frase-ancla. Invita a conectar y a entregar el paquete. Adelanta la siguiente unidad (análisis de datos / discusión y defensa).</a:t>
            </a:r>
            <a:endParaRPr/>
          </a:p>
        </p:txBody>
      </p:sp>
      <p:sp>
        <p:nvSpPr>
          <p:cNvPr id="709" name="Google Shape;709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https://920052859.github.io/trabajo-suficiencia-profesional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14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uni_fim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411480"/>
            <a:ext cx="1463040" cy="187452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640080" y="68580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9C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0C9CE"/>
                </a:solidFill>
                <a:latin typeface="Arial"/>
                <a:ea typeface="Arial"/>
                <a:cs typeface="Arial"/>
                <a:sym typeface="Arial"/>
              </a:rPr>
              <a:t>UNIVERSIDAD NACIONAL DE INGENIERÍA  ·  FACULTAD DE INGENIERÍA MECÁNICA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A9B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4A9B0"/>
                </a:solidFill>
                <a:latin typeface="Arial"/>
                <a:ea typeface="Arial"/>
                <a:cs typeface="Arial"/>
                <a:sym typeface="Arial"/>
              </a:rPr>
              <a:t>TITULACIÓN PROFESIONAL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2011680"/>
            <a:ext cx="10607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Redacción académica con IA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58368" y="379476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UNIDAD 4 — </a:t>
            </a:r>
            <a:r>
              <a:rPr b="0" i="0" lang="en-US" sz="2000" u="none" cap="none" strike="noStrike">
                <a:solidFill>
                  <a:srgbClr val="F3D6DA"/>
                </a:solidFill>
                <a:latin typeface="Arial"/>
                <a:ea typeface="Arial"/>
                <a:cs typeface="Arial"/>
                <a:sym typeface="Arial"/>
              </a:rPr>
              <a:t>Del diseño al texto: marco teórico, paráfrasis con integridad y citación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58368" y="6144768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180 minutos  ·  40% teoría  +  60% laboratorio  ·  Producto final: “Mi Marco Teórico v1”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502920" y="6400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4D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9FB4D0"/>
                </a:solidFill>
                <a:latin typeface="Arial"/>
                <a:ea typeface="Arial"/>
                <a:cs typeface="Arial"/>
                <a:sym typeface="Arial"/>
              </a:rPr>
              <a:t>DOCENTE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960120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Corina Lazo Arroyo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02920" y="2057400"/>
            <a:ext cx="3566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Ing. Mecatrónica — UNI</a:t>
            </a:r>
            <a:br>
              <a:rPr b="1" i="0" lang="en-US" sz="1350" u="none" cap="none" strike="noStrik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Doctoranda en Ciencia de Datos — UNSA</a:t>
            </a:r>
            <a:br>
              <a:rPr b="0" i="0" lang="en-US" sz="1350" u="none" cap="none" strike="noStrik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MSc. Gerencia de Proyectos — ESAN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qr_linkedin.pn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9523" y="4682825"/>
            <a:ext cx="966049" cy="96604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502920" y="57607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D0E6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BFD0E6"/>
                </a:solidFill>
                <a:latin typeface="Arial"/>
                <a:ea typeface="Arial"/>
                <a:cs typeface="Arial"/>
                <a:sym typeface="Arial"/>
              </a:rPr>
              <a:t>Escanéame → LinkedIn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709160" y="822960"/>
            <a:ext cx="6949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Escribir bien es pensar dos veces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709160" y="1737360"/>
            <a:ext cx="6903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lang="en-US">
                <a:solidFill>
                  <a:srgbClr val="1F2733"/>
                </a:solidFill>
              </a:rPr>
              <a:t>Un</a:t>
            </a: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 buen documento no ‘adorna’ los datos: los explica con claridad para que otro los use y los crea. Tu tesis es igual. Hoy escribimos con precisión y con integridad — y usamos la IA para mejorar TU texto, no para reemplazarlo.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709160" y="3429000"/>
            <a:ext cx="6903720" cy="822960"/>
          </a:xfrm>
          <a:prstGeom prst="roundRect">
            <a:avLst>
              <a:gd fmla="val 10000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983480" y="342900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LinkedIn  </a:t>
            </a: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linkedin.com/in/corina-lazo-arroyo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709160" y="4343400"/>
            <a:ext cx="6903720" cy="822960"/>
          </a:xfrm>
          <a:prstGeom prst="roundRect">
            <a:avLst>
              <a:gd fmla="val 10000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983480" y="434340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3294B"/>
                </a:solidFill>
              </a:rPr>
              <a:t>Web</a:t>
            </a:r>
            <a:r>
              <a:rPr b="1" i="0" lang="en-US" sz="13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https://920052859.github.io/trabajo-suficiencia-profesional/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709160" y="5257800"/>
            <a:ext cx="6903720" cy="868680"/>
          </a:xfrm>
          <a:prstGeom prst="roundRect">
            <a:avLst>
              <a:gd fmla="val 9474" name="adj"/>
            </a:avLst>
          </a:prstGeom>
          <a:solidFill>
            <a:srgbClr val="F3E1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983480" y="5257800"/>
            <a:ext cx="6400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1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“La IA te ayuda a escribir mejor; no te exime de entender lo que escribes.”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RETOMAMOS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Del diseño al texto de tu tesis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48640" y="1783080"/>
            <a:ext cx="5394960" cy="4023360"/>
          </a:xfrm>
          <a:prstGeom prst="roundRect">
            <a:avLst>
              <a:gd fmla="val 2045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822960" y="2011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Ya tienes (U1–U3)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22960" y="2468880"/>
            <a:ext cx="48920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Corpus verificado y agente (U1)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Matriz de literatura y estado del arte (U2)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Matriz de consistencia y variables (U3)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Todo el material… pero aún sin redactar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126480" y="1783080"/>
            <a:ext cx="5394960" cy="4023360"/>
          </a:xfrm>
          <a:prstGeom prst="roundRect">
            <a:avLst>
              <a:gd fmla="val 2045" name="adj"/>
            </a:avLst>
          </a:prstGeom>
          <a:solidFill>
            <a:srgbClr val="F3E1E4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6400800" y="2011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Hoy construyes (Unidad 4)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400800" y="2468880"/>
            <a:ext cx="48920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Párrafos académicos con hilo y cohesión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Paráfrasis con integridad y citas APA/IEEE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Tu marco teórico redactado (Cap. II)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Un texto original, revisado y con tu voz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5897880"/>
            <a:ext cx="10972800" cy="640080"/>
          </a:xfrm>
          <a:prstGeom prst="roundRect">
            <a:avLst>
              <a:gd fmla="val 12857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822960" y="589788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4D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FB4D0"/>
                </a:solidFill>
                <a:latin typeface="Arial"/>
                <a:ea typeface="Arial"/>
                <a:cs typeface="Arial"/>
                <a:sym typeface="Arial"/>
              </a:rPr>
              <a:t>Destino en tu TSP: 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Capítulo II (Marco teórico y marco conceptual) y la calidad de redacción de todo el documento.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4D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9FB4D0"/>
                </a:solidFill>
                <a:latin typeface="Arial"/>
                <a:ea typeface="Arial"/>
                <a:cs typeface="Arial"/>
                <a:sym typeface="Arial"/>
              </a:rPr>
              <a:t>CÓMO TRABAJAREMOS HOY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30352" y="8229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Tres principios de la escritura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48640" y="1920240"/>
            <a:ext cx="3566160" cy="2651760"/>
          </a:xfrm>
          <a:prstGeom prst="roundRect">
            <a:avLst>
              <a:gd fmla="val 310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822960" y="2194560"/>
            <a:ext cx="777240" cy="777240"/>
          </a:xfrm>
          <a:prstGeom prst="roundRect">
            <a:avLst>
              <a:gd fmla="val 14118" name="adj"/>
            </a:avLst>
          </a:prstGeom>
          <a:solidFill>
            <a:srgbClr val="7A1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822960" y="21945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822960" y="3154680"/>
            <a:ext cx="3063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La IA redacta borradores; el autor escribe la tesis.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315968" y="1920240"/>
            <a:ext cx="3566160" cy="2651760"/>
          </a:xfrm>
          <a:prstGeom prst="roundRect">
            <a:avLst>
              <a:gd fmla="val 310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4590288" y="2194560"/>
            <a:ext cx="777240" cy="777240"/>
          </a:xfrm>
          <a:prstGeom prst="roundRect">
            <a:avLst>
              <a:gd fmla="val 14118" name="adj"/>
            </a:avLst>
          </a:prstGeom>
          <a:solidFill>
            <a:srgbClr val="9B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4590288" y="21945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4590288" y="3154680"/>
            <a:ext cx="3063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Parafrasear no es disfrazar: es comprender y citar.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8083296" y="1920240"/>
            <a:ext cx="3566160" cy="2651760"/>
          </a:xfrm>
          <a:prstGeom prst="roundRect">
            <a:avLst>
              <a:gd fmla="val 310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8357616" y="2194560"/>
            <a:ext cx="777240" cy="777240"/>
          </a:xfrm>
          <a:prstGeom prst="roundRect">
            <a:avLst>
              <a:gd fmla="val 14118" name="adj"/>
            </a:avLst>
          </a:prstGeom>
          <a:solidFill>
            <a:srgbClr val="1F40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8357616" y="21945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8357616" y="3154680"/>
            <a:ext cx="3063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Claridad, precisión y evidencia — en ese orden.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48640" y="4892040"/>
            <a:ext cx="10917936" cy="1234440"/>
          </a:xfrm>
          <a:prstGeom prst="roundRect">
            <a:avLst>
              <a:gd fmla="val 6667" name="adj"/>
            </a:avLst>
          </a:prstGeom>
          <a:solidFill>
            <a:srgbClr val="7A1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914400" y="4892040"/>
            <a:ext cx="10149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D6D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3D6DA"/>
                </a:solidFill>
                <a:latin typeface="Arial"/>
                <a:ea typeface="Arial"/>
                <a:cs typeface="Arial"/>
                <a:sym typeface="Arial"/>
              </a:rPr>
              <a:t>Objetivo de hoy:  </a:t>
            </a: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‘generas’ texto —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redactas tu marco teórico con integridad y con tu voz.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BLOQUE A · IMPACTO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¿Esto es plagio?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fmla="val 16000" name="adj"/>
            </a:avLst>
          </a:prstGeom>
          <a:solidFill>
            <a:srgbClr val="EDEFF2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0–8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548640" y="1691640"/>
            <a:ext cx="10972800" cy="1371600"/>
          </a:xfrm>
          <a:prstGeom prst="roundRect">
            <a:avLst>
              <a:gd fmla="val 6000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914400" y="16916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Fuente original:  </a:t>
            </a:r>
            <a:r>
              <a:rPr b="0" i="1" lang="en-US" sz="16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“Predictive maintenance based on deep learning significantly reduces unplanned failures by anticipating anomalies in sensor signals.”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548640" y="3246120"/>
            <a:ext cx="10972800" cy="1554480"/>
          </a:xfrm>
          <a:prstGeom prst="roundRect">
            <a:avLst>
              <a:gd fmla="val 5294" name="adj"/>
            </a:avLst>
          </a:prstGeom>
          <a:solidFill>
            <a:srgbClr val="FBF3E0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914400" y="3246120"/>
            <a:ext cx="102412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Versión del tesista (con cita):  </a:t>
            </a:r>
            <a:r>
              <a:rPr b="0" i="1" lang="en-US" sz="16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“El mantenimiento predictivo basado en deep learning reduce significativamente las fallas no planificadas al anticipar anomalías en las señales de sensores (Autor, 2021).”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48640" y="5074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Vota:   ✋ es plagio        ✋ no es plagio (está citado)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142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Citar no basta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658368" y="2514600"/>
            <a:ext cx="10789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DDE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6DDE1"/>
                </a:solidFill>
                <a:latin typeface="Arial"/>
                <a:ea typeface="Arial"/>
                <a:cs typeface="Arial"/>
                <a:sym typeface="Arial"/>
              </a:rPr>
              <a:t>Copiar la estructura y las palabras de la fuente —aunque cambies el idioma o algún término— es patchwriting: una forma de plagio, incluso con la cita.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640080" y="3977640"/>
            <a:ext cx="10881360" cy="1737360"/>
          </a:xfrm>
          <a:prstGeom prst="roundRect">
            <a:avLst>
              <a:gd fmla="val 4737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/>
          <p:nvPr/>
        </p:nvSpPr>
        <p:spPr>
          <a:xfrm>
            <a:off x="1005840" y="3977640"/>
            <a:ext cx="101498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B4D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9FB4D0"/>
                </a:solidFill>
                <a:latin typeface="Arial"/>
                <a:ea typeface="Arial"/>
                <a:cs typeface="Arial"/>
                <a:sym typeface="Arial"/>
              </a:rPr>
              <a:t>Parafrasear de verdad = </a:t>
            </a: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comprender la idea, reformularla con tu propia estructura y palabras, y citar la fuente.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RUTA DE LA SESIÓN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El mapa de hoy — 180 minutos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548640" y="1691640"/>
            <a:ext cx="5394960" cy="3977640"/>
          </a:xfrm>
          <a:prstGeom prst="roundRect">
            <a:avLst>
              <a:gd fmla="val 2069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822960" y="192024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TEORÍA · 72 min (40%)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822960" y="2377440"/>
            <a:ext cx="48920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A · ¿Esto es plagio? (integridad)</a:t>
            </a:r>
            <a:b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B · Escritura académica y el párrafo</a:t>
            </a:r>
            <a:b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 · De la matriz de literatura al texto</a:t>
            </a:r>
            <a:b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D · Paráfrasis y citación (APA/IEEE)</a:t>
            </a:r>
            <a:b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E · La IA como asistente de redacción</a:t>
            </a:r>
            <a:b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F · Originalidad y detección de IA</a:t>
            </a:r>
            <a:b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G · Revisión en capas y estilo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6126480" y="1691640"/>
            <a:ext cx="5394960" cy="3977640"/>
          </a:xfrm>
          <a:prstGeom prst="roundRect">
            <a:avLst>
              <a:gd fmla="val 2069" name="adj"/>
            </a:avLst>
          </a:prstGeom>
          <a:solidFill>
            <a:srgbClr val="F3E1E4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6400800" y="192024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LABORATORIO · 108 min (60%)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6400800" y="2377440"/>
            <a:ext cx="48920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1 · Del esquema al párrafo</a:t>
            </a:r>
            <a:b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2 · Paráfrasis con integridad</a:t>
            </a:r>
            <a:b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3 · Redacción del marco teórico v1</a:t>
            </a:r>
            <a:b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4 · Citación y referencias</a:t>
            </a:r>
            <a:b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5 · Revisión en capas y estilo</a:t>
            </a:r>
            <a:b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6 · Control de originalidad y detección de IA</a:t>
            </a:r>
            <a:b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7 · Pulido final y evaluación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548640" y="5806440"/>
            <a:ext cx="10972800" cy="685800"/>
          </a:xfrm>
          <a:prstGeom prst="roundRect">
            <a:avLst>
              <a:gd fmla="val 12000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822960" y="580644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4D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FB4D0"/>
                </a:solidFill>
                <a:latin typeface="Arial"/>
                <a:ea typeface="Arial"/>
                <a:cs typeface="Arial"/>
                <a:sym typeface="Arial"/>
              </a:rPr>
              <a:t>Producto final: 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“Mi Marco Teórico v1” — 2–3 secciones redactadas, citadas, revisadas, con reporte de originalidad y declaración de uso de IA.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BLOQUE B · ESCRITURA ACADÉMICA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Cinco rasgos del texto académico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fmla="val 16000" name="adj"/>
            </a:avLst>
          </a:prstGeom>
          <a:solidFill>
            <a:srgbClr val="EDEFF2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8–25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548640" y="2011680"/>
            <a:ext cx="2103120" cy="2377440"/>
          </a:xfrm>
          <a:prstGeom prst="roundRect">
            <a:avLst>
              <a:gd fmla="val 3913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1280160" y="2286000"/>
            <a:ext cx="640080" cy="640080"/>
          </a:xfrm>
          <a:prstGeom prst="roundRect">
            <a:avLst>
              <a:gd fmla="val 17143" name="adj"/>
            </a:avLst>
          </a:prstGeom>
          <a:solidFill>
            <a:srgbClr val="7A1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"/>
          <p:cNvSpPr/>
          <p:nvPr/>
        </p:nvSpPr>
        <p:spPr>
          <a:xfrm>
            <a:off x="1280160" y="2286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640080" y="306324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Claridad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685800" y="352044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Se entiende a la primera lectura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2779776" y="2011680"/>
            <a:ext cx="2103120" cy="2377440"/>
          </a:xfrm>
          <a:prstGeom prst="roundRect">
            <a:avLst>
              <a:gd fmla="val 3913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3511296" y="2286000"/>
            <a:ext cx="640080" cy="640080"/>
          </a:xfrm>
          <a:prstGeom prst="roundRect">
            <a:avLst>
              <a:gd fmla="val 17143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3511296" y="2286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2871216" y="306324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Precisión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2916936" y="352044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Términos exactos, sin ambigüedad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5010912" y="2011680"/>
            <a:ext cx="2103120" cy="2377440"/>
          </a:xfrm>
          <a:prstGeom prst="roundRect">
            <a:avLst>
              <a:gd fmla="val 3913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5742432" y="2286000"/>
            <a:ext cx="640080" cy="640080"/>
          </a:xfrm>
          <a:prstGeom prst="roundRect">
            <a:avLst>
              <a:gd fmla="val 17143" name="adj"/>
            </a:avLst>
          </a:prstGeom>
          <a:solidFill>
            <a:srgbClr val="7A1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5742432" y="2286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5102352" y="306324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Objetividad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5148072" y="352044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Basado en evidencia, no en opinión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7242048" y="2011680"/>
            <a:ext cx="2103120" cy="2377440"/>
          </a:xfrm>
          <a:prstGeom prst="roundRect">
            <a:avLst>
              <a:gd fmla="val 3913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7973568" y="2286000"/>
            <a:ext cx="640080" cy="640080"/>
          </a:xfrm>
          <a:prstGeom prst="roundRect">
            <a:avLst>
              <a:gd fmla="val 17143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7973568" y="2286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7333488" y="306324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Formalidad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7379208" y="352044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Registro impersonal y cuidado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9473184" y="2011680"/>
            <a:ext cx="2103120" cy="2377440"/>
          </a:xfrm>
          <a:prstGeom prst="roundRect">
            <a:avLst>
              <a:gd fmla="val 3913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10204704" y="2286000"/>
            <a:ext cx="640080" cy="640080"/>
          </a:xfrm>
          <a:prstGeom prst="roundRect">
            <a:avLst>
              <a:gd fmla="val 17143" name="adj"/>
            </a:avLst>
          </a:prstGeom>
          <a:solidFill>
            <a:srgbClr val="7A1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10204704" y="2286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9564624" y="306324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Cohesión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9610344" y="352044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Las ideas se enlazan con lógica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548640" y="4709160"/>
            <a:ext cx="10972800" cy="1371600"/>
          </a:xfrm>
          <a:prstGeom prst="roundRect">
            <a:avLst>
              <a:gd fmla="val 6000" name="adj"/>
            </a:avLst>
          </a:prstGeom>
          <a:solidFill>
            <a:srgbClr val="F3E1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914400" y="470916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Evita el ‘sabor IA’:  </a:t>
            </a:r>
            <a:r>
              <a:rPr b="0" i="0" lang="en-US" sz="15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frases genéricas, relleno, superlativos vacíos (‘es sumamente importante’) y afirmaciones sin fuente. En academia, menos adorno y más evidencia.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BLOQUE B · EL PÁRRAFO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Anatomía de un párrafo académico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548640" y="1920240"/>
            <a:ext cx="10972800" cy="1143000"/>
          </a:xfrm>
          <a:prstGeom prst="roundRect">
            <a:avLst>
              <a:gd fmla="val 7200" name="adj"/>
            </a:avLst>
          </a:prstGeom>
          <a:solidFill>
            <a:srgbClr val="EDEF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731520" y="2212848"/>
            <a:ext cx="548640" cy="548640"/>
          </a:xfrm>
          <a:prstGeom prst="roundRect">
            <a:avLst>
              <a:gd fmla="val 16667" name="adj"/>
            </a:avLst>
          </a:prstGeom>
          <a:solidFill>
            <a:srgbClr val="7A1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731520" y="22128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1508760" y="1920240"/>
            <a:ext cx="32918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Idea principal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4937760" y="1920240"/>
            <a:ext cx="6400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Una oración temática: qué afirma el párrafo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548640" y="3200400"/>
            <a:ext cx="10972800" cy="1143000"/>
          </a:xfrm>
          <a:prstGeom prst="roundRect">
            <a:avLst>
              <a:gd fmla="val 7200" name="adj"/>
            </a:avLst>
          </a:prstGeom>
          <a:solidFill>
            <a:srgbClr val="EDEF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731520" y="3493008"/>
            <a:ext cx="548640" cy="548640"/>
          </a:xfrm>
          <a:prstGeom prst="roundRect">
            <a:avLst>
              <a:gd fmla="val 16667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731520" y="34930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1508760" y="3200400"/>
            <a:ext cx="32918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Desarrollo + evidencia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4937760" y="3200400"/>
            <a:ext cx="6400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Explicación, datos y cita que la sostienen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548640" y="4480560"/>
            <a:ext cx="10972800" cy="1143000"/>
          </a:xfrm>
          <a:prstGeom prst="roundRect">
            <a:avLst>
              <a:gd fmla="val 7200" name="adj"/>
            </a:avLst>
          </a:prstGeom>
          <a:solidFill>
            <a:srgbClr val="EDEF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731520" y="4773168"/>
            <a:ext cx="548640" cy="548640"/>
          </a:xfrm>
          <a:prstGeom prst="roundRect">
            <a:avLst>
              <a:gd fmla="val 16667" name="adj"/>
            </a:avLst>
          </a:prstGeom>
          <a:solidFill>
            <a:srgbClr val="9B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731520" y="477316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1508760" y="4480560"/>
            <a:ext cx="32918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Cierre / enlace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4937760" y="4480560"/>
            <a:ext cx="6400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Conclusión parcial y puente al siguiente párrafo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548640" y="5806440"/>
            <a:ext cx="10972800" cy="594360"/>
          </a:xfrm>
          <a:prstGeom prst="roundRect">
            <a:avLst>
              <a:gd fmla="val 13846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548640" y="58064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Una idea por párrafo. Si hay dos ideas, hay dos párrafos.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BLOQUE B · MARCO TEÓRICO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Cómo se estructura el marco teórico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548640" y="1828800"/>
            <a:ext cx="5440680" cy="4023360"/>
          </a:xfrm>
          <a:prstGeom prst="roundRect">
            <a:avLst>
              <a:gd fmla="val 2045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/>
          <p:cNvSpPr/>
          <p:nvPr/>
        </p:nvSpPr>
        <p:spPr>
          <a:xfrm>
            <a:off x="868680" y="20574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Bases teóricas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868680" y="2514600"/>
            <a:ext cx="49377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Teorías y modelos que sustentan tus variables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Organizado por temas (de lo general a lo específico)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Cada afirmación con su fuente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Contrasta autores, no solo los enumera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6172200" y="1828800"/>
            <a:ext cx="5440680" cy="4023360"/>
          </a:xfrm>
          <a:prstGeom prst="roundRect">
            <a:avLst>
              <a:gd fmla="val 2045" name="adj"/>
            </a:avLst>
          </a:prstGeom>
          <a:solidFill>
            <a:srgbClr val="E7F0E9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6492240" y="20574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Marco conceptual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6492240" y="2514600"/>
            <a:ext cx="49377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Definición de los términos clave de tu tesis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Breve, preciso y con fuente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Evita definiciones de diccionario general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Alinea los términos con tus variables (U3)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BLOQUE C · DEL MATERIAL AL TEXTO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De la matriz de literatura al párrafo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fmla="val 16000" name="adj"/>
            </a:avLst>
          </a:prstGeom>
          <a:solidFill>
            <a:srgbClr val="EDEFF2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25–35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548640" y="1828800"/>
            <a:ext cx="5440680" cy="3108960"/>
          </a:xfrm>
          <a:prstGeom prst="roundRect">
            <a:avLst>
              <a:gd fmla="val 2647" name="adj"/>
            </a:avLst>
          </a:prstGeom>
          <a:solidFill>
            <a:srgbClr val="F7E4E3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"/>
          <p:cNvSpPr/>
          <p:nvPr/>
        </p:nvSpPr>
        <p:spPr>
          <a:xfrm>
            <a:off x="868680" y="20574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Resumen (lista) — evítalo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868680" y="2560320"/>
            <a:ext cx="48463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“López (2020) usó CNN. Pérez (2021) usó LSTM. Ruiz (2022) usó Random Forest.”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Enumera, no argumenta.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6172200" y="1828800"/>
            <a:ext cx="5440680" cy="3108960"/>
          </a:xfrm>
          <a:prstGeom prst="roundRect">
            <a:avLst>
              <a:gd fmla="val 2647" name="adj"/>
            </a:avLst>
          </a:prstGeom>
          <a:solidFill>
            <a:srgbClr val="E7F0E9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"/>
          <p:cNvSpPr/>
          <p:nvPr/>
        </p:nvSpPr>
        <p:spPr>
          <a:xfrm>
            <a:off x="6492240" y="20574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Síntesis (argumento) — busca esto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6492240" y="2560320"/>
            <a:ext cx="48463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“Las arquitecturas profundas han desplazado a los modelos clásicos por su mejor manejo de señales temporales, aunque persiste el reto de los datos reales (López, 2020; Pérez, 2021).”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548640" y="5166360"/>
            <a:ext cx="10972800" cy="960120"/>
          </a:xfrm>
          <a:prstGeom prst="roundRect">
            <a:avLst>
              <a:gd fmla="val 8571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"/>
          <p:cNvSpPr/>
          <p:nvPr/>
        </p:nvSpPr>
        <p:spPr>
          <a:xfrm>
            <a:off x="914400" y="51663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Sintetizar = agrupar por ideas y hacer dialogar a los autores, citando a varios en una misma afirmación.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BLOQUE C · COHESIÓN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Conectores que dan hilo al texto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548640" y="1828800"/>
            <a:ext cx="5349240" cy="1097280"/>
          </a:xfrm>
          <a:prstGeom prst="roundRect">
            <a:avLst>
              <a:gd fmla="val 7500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822960" y="196596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Adición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822960" y="23774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además, asimismo, por otra parte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6126480" y="1828800"/>
            <a:ext cx="5349240" cy="1097280"/>
          </a:xfrm>
          <a:prstGeom prst="roundRect">
            <a:avLst>
              <a:gd fmla="val 7500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6400800" y="196596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Contraste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6400800" y="23774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sin embargo, no obstante, en cambio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548640" y="3063240"/>
            <a:ext cx="5349240" cy="1097280"/>
          </a:xfrm>
          <a:prstGeom prst="roundRect">
            <a:avLst>
              <a:gd fmla="val 7500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"/>
          <p:cNvSpPr/>
          <p:nvPr/>
        </p:nvSpPr>
        <p:spPr>
          <a:xfrm>
            <a:off x="822960" y="32004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Causa / efecto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822960" y="36118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por lo tanto, en consecuencia, debido 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6126480" y="3063240"/>
            <a:ext cx="5349240" cy="1097280"/>
          </a:xfrm>
          <a:prstGeom prst="roundRect">
            <a:avLst>
              <a:gd fmla="val 7500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6400800" y="32004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6400800" y="36118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por ejemplo, en particular, tal como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548640" y="4297680"/>
            <a:ext cx="5349240" cy="1097280"/>
          </a:xfrm>
          <a:prstGeom prst="roundRect">
            <a:avLst>
              <a:gd fmla="val 7500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4"/>
          <p:cNvSpPr/>
          <p:nvPr/>
        </p:nvSpPr>
        <p:spPr>
          <a:xfrm>
            <a:off x="822960" y="443484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Secuencia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822960" y="484632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en primer lugar, luego, finalmente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6126480" y="4297680"/>
            <a:ext cx="5349240" cy="1097280"/>
          </a:xfrm>
          <a:prstGeom prst="roundRect">
            <a:avLst>
              <a:gd fmla="val 7500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4"/>
          <p:cNvSpPr/>
          <p:nvPr/>
        </p:nvSpPr>
        <p:spPr>
          <a:xfrm>
            <a:off x="6400800" y="443484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6400800" y="484632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en síntesis, en suma, se concluye que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548640" y="5669280"/>
            <a:ext cx="10972800" cy="640080"/>
          </a:xfrm>
          <a:prstGeom prst="roundRect">
            <a:avLst>
              <a:gd fmla="val 12857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914400" y="5669280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conectores muestran la relación entre ideas. Sin ellos, hay oraciones sueltas; con ellos, hay argumento.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BLOQUE D · PARÁFRASIS Y CITA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Tres formas de usar una fuente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fmla="val 16000" name="adj"/>
            </a:avLst>
          </a:prstGeom>
          <a:solidFill>
            <a:srgbClr val="EDEFF2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5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35–45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4" name="Google Shape;264;p15"/>
          <p:cNvGraphicFramePr/>
          <p:nvPr/>
        </p:nvGraphicFramePr>
        <p:xfrm>
          <a:off x="54864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{4F1191D0-2AE4-4676-A2FF-BD8D1220C5F3}</a:tableStyleId>
              </a:tblPr>
              <a:tblGrid>
                <a:gridCol w="2377450"/>
                <a:gridCol w="4206250"/>
                <a:gridCol w="45080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Qué es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Cuándo usarla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142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A14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Cita directa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F27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Palabras exactas entre comillas + página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F27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Definiciones clave o frases irrepetibles (poco)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142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A14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Paráfrasis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F27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 idea con TUS palabras + cita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F27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 mayoría del marco teórico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FF2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142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A14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Resumen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F27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Síntesis de un texto largo + cita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F27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Panorama de un estudio o postura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5" name="Google Shape;265;p15"/>
          <p:cNvSpPr/>
          <p:nvPr/>
        </p:nvSpPr>
        <p:spPr>
          <a:xfrm>
            <a:off x="548640" y="5532120"/>
            <a:ext cx="10972800" cy="777240"/>
          </a:xfrm>
          <a:prstGeom prst="roundRect">
            <a:avLst>
              <a:gd fmla="val 10588" name="adj"/>
            </a:avLst>
          </a:prstGeom>
          <a:solidFill>
            <a:srgbClr val="F3E1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5"/>
          <p:cNvSpPr/>
          <p:nvPr/>
        </p:nvSpPr>
        <p:spPr>
          <a:xfrm>
            <a:off x="914400" y="55321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Regla: la cita directa se reserva para lo esencial. Abusar de comillas es no haber comprendido.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BLOQUE D · PARÁFRASIS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Parafrasear bien, no maquillar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548640" y="1828800"/>
            <a:ext cx="5440680" cy="3200400"/>
          </a:xfrm>
          <a:prstGeom prst="roundRect">
            <a:avLst>
              <a:gd fmla="val 2571" name="adj"/>
            </a:avLst>
          </a:prstGeom>
          <a:solidFill>
            <a:srgbClr val="F7E4E3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6"/>
          <p:cNvSpPr/>
          <p:nvPr/>
        </p:nvSpPr>
        <p:spPr>
          <a:xfrm>
            <a:off x="868680" y="20574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Patchwriting (plagio)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868680" y="2560320"/>
            <a:ext cx="48463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Cambiar 2–3 palabras y el orden, manteniendo la estructura y el resto del texto de la fuente.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→ Sigue siendo plagio, aunque cites.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6172200" y="1828800"/>
            <a:ext cx="5440680" cy="3200400"/>
          </a:xfrm>
          <a:prstGeom prst="roundRect">
            <a:avLst>
              <a:gd fmla="val 2571" name="adj"/>
            </a:avLst>
          </a:prstGeom>
          <a:solidFill>
            <a:srgbClr val="E7F0E9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6"/>
          <p:cNvSpPr/>
          <p:nvPr/>
        </p:nvSpPr>
        <p:spPr>
          <a:xfrm>
            <a:off x="6492240" y="20574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Paráfrasis real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6492240" y="2560320"/>
            <a:ext cx="48463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Leer, cerrar la fuente, escribir la idea con tu propia estructura y palabras; luego citar.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→ Demuestra comprensión.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548640" y="5257800"/>
            <a:ext cx="10972800" cy="868680"/>
          </a:xfrm>
          <a:prstGeom prst="roundRect">
            <a:avLst>
              <a:gd fmla="val 9474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6"/>
          <p:cNvSpPr/>
          <p:nvPr/>
        </p:nvSpPr>
        <p:spPr>
          <a:xfrm>
            <a:off x="914400" y="5257800"/>
            <a:ext cx="10241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Truco: si no puedes explicar la idea sin mirar la fuente, aún no la comprendiste — no la parafrasees todavía.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BLOQUE D · CITACIÓN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APA e IEEE en 1 minuto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3" name="Google Shape;293;p17"/>
          <p:cNvGraphicFramePr/>
          <p:nvPr/>
        </p:nvGraphicFramePr>
        <p:xfrm>
          <a:off x="54864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{4F1191D0-2AE4-4676-A2FF-BD8D1220C5F3}</a:tableStyleId>
              </a:tblPr>
              <a:tblGrid>
                <a:gridCol w="2011675"/>
                <a:gridCol w="4114800"/>
                <a:gridCol w="49652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t/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APA (7.ª)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IEEE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142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7A14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el texto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F27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(Apellido, Año, p. X)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F27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[1]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142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7A14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Cita narrativa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F27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Apellido (Año) señala que…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F27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Apellido [1] señala que…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FF2"/>
                    </a:solidFill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142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7A14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Referencia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F27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Apellido, A. (Año). Título. Revista, vol(n.º), pp. DOI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F27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[1] A. Apellido, “Título,” Revista, vol. X, no. Y, pp. Z, Año.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142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7A14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usa en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F27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Ciencias sociales, gestión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F27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Ingeniería eléctrica/electrónica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2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  <p:sp>
        <p:nvSpPr>
          <p:cNvPr id="294" name="Google Shape;294;p17"/>
          <p:cNvSpPr/>
          <p:nvPr/>
        </p:nvSpPr>
        <p:spPr>
          <a:xfrm>
            <a:off x="548640" y="5532120"/>
            <a:ext cx="10972800" cy="777240"/>
          </a:xfrm>
          <a:prstGeom prst="roundRect">
            <a:avLst>
              <a:gd fmla="val 10588" name="adj"/>
            </a:avLst>
          </a:prstGeom>
          <a:solidFill>
            <a:srgbClr val="F3E1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7"/>
          <p:cNvSpPr/>
          <p:nvPr/>
        </p:nvSpPr>
        <p:spPr>
          <a:xfrm>
            <a:off x="914400" y="55321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Con Zotero/Mendeley:  </a:t>
            </a: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elige el estilo (APA o IEEE) y las citas y la lista se generan solas. Verifica cada una contra la fuente real.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8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BLOQUE E · LA IA COMO ASISTENTE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La IA mejora tu texto, no lo crea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8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fmla="val 16000" name="adj"/>
            </a:avLst>
          </a:prstGeom>
          <a:solidFill>
            <a:srgbClr val="EDEFF2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8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45–55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548640" y="1828800"/>
            <a:ext cx="5440680" cy="4023360"/>
          </a:xfrm>
          <a:prstGeom prst="roundRect">
            <a:avLst>
              <a:gd fmla="val 2045" name="adj"/>
            </a:avLst>
          </a:prstGeom>
          <a:solidFill>
            <a:srgbClr val="E7F0E9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8"/>
          <p:cNvSpPr/>
          <p:nvPr/>
        </p:nvSpPr>
        <p:spPr>
          <a:xfrm>
            <a:off x="868680" y="20574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Úsala para…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868680" y="2514600"/>
            <a:ext cx="49377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Mejorar claridad y concisión de TU párrafo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Sugerir conectores y transiciones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Detectar redundancias y frases largas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Corregir gramática y ortografía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Traducir manteniendo el sentido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6172200" y="1828800"/>
            <a:ext cx="5440680" cy="4023360"/>
          </a:xfrm>
          <a:prstGeom prst="roundRect">
            <a:avLst>
              <a:gd fmla="val 2045" name="adj"/>
            </a:avLst>
          </a:prstGeom>
          <a:solidFill>
            <a:srgbClr val="F3E1E4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8"/>
          <p:cNvSpPr/>
          <p:nvPr/>
        </p:nvSpPr>
        <p:spPr>
          <a:xfrm>
            <a:off x="6492240" y="20574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No dejes que…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6492240" y="2514600"/>
            <a:ext cx="49377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Escriba el marco teórico por ti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Invente citas, autores o datos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Afirme cosas sin tu fuente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Borre tu voz y estilo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Te haga entregar texto que no entiendes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4D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FB4D0"/>
                </a:solidFill>
                <a:latin typeface="Arial"/>
                <a:ea typeface="Arial"/>
                <a:cs typeface="Arial"/>
                <a:sym typeface="Arial"/>
              </a:rPr>
              <a:t>BLOQUE E · PROMPTS DE REDACCIÓN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530352" y="822960"/>
            <a:ext cx="8686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Pide que mejore TU texto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640080" y="1965960"/>
            <a:ext cx="10881360" cy="914400"/>
          </a:xfrm>
          <a:prstGeom prst="roundRect">
            <a:avLst>
              <a:gd fmla="val 9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9"/>
          <p:cNvSpPr/>
          <p:nvPr/>
        </p:nvSpPr>
        <p:spPr>
          <a:xfrm>
            <a:off x="868680" y="196596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Claridad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9"/>
          <p:cNvSpPr/>
          <p:nvPr/>
        </p:nvSpPr>
        <p:spPr>
          <a:xfrm>
            <a:off x="3017520" y="1965960"/>
            <a:ext cx="8321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“Mejora la claridad de este párrafo sin cambiar su sentido ni sus citas.”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640080" y="2971800"/>
            <a:ext cx="10881360" cy="914400"/>
          </a:xfrm>
          <a:prstGeom prst="roundRect">
            <a:avLst>
              <a:gd fmla="val 9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9"/>
          <p:cNvSpPr/>
          <p:nvPr/>
        </p:nvSpPr>
        <p:spPr>
          <a:xfrm>
            <a:off x="868680" y="297180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Concisión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3017520" y="2971800"/>
            <a:ext cx="8321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“Acorta este texto eliminando redundancias; conserva las ideas y las fuentes.”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640080" y="3977640"/>
            <a:ext cx="10881360" cy="914400"/>
          </a:xfrm>
          <a:prstGeom prst="roundRect">
            <a:avLst>
              <a:gd fmla="val 9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9"/>
          <p:cNvSpPr/>
          <p:nvPr/>
        </p:nvSpPr>
        <p:spPr>
          <a:xfrm>
            <a:off x="868680" y="397764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Cohesión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3017520" y="3977640"/>
            <a:ext cx="8321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“Sugiere conectores para enlazar estos párrafos; no agregues información nueva.”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640080" y="4983480"/>
            <a:ext cx="10881360" cy="914400"/>
          </a:xfrm>
          <a:prstGeom prst="roundRect">
            <a:avLst>
              <a:gd fmla="val 9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9"/>
          <p:cNvSpPr/>
          <p:nvPr/>
        </p:nvSpPr>
        <p:spPr>
          <a:xfrm>
            <a:off x="868680" y="498348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Crítica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3017520" y="4983480"/>
            <a:ext cx="8321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“Señala afirmaciones sin respaldo o poco claras; no las reescribas, solo indícalas.”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BLOQUE E · TU VOZ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0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Que suene a ti, no a un modelo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548640" y="1828800"/>
            <a:ext cx="5440680" cy="4023360"/>
          </a:xfrm>
          <a:prstGeom prst="roundRect">
            <a:avLst>
              <a:gd fmla="val 2045" name="adj"/>
            </a:avLst>
          </a:prstGeom>
          <a:solidFill>
            <a:srgbClr val="F7E4E3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0"/>
          <p:cNvSpPr/>
          <p:nvPr/>
        </p:nvSpPr>
        <p:spPr>
          <a:xfrm>
            <a:off x="868680" y="20574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Señales de ‘texto IA’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868680" y="2514600"/>
            <a:ext cx="49377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Frases genéricas y grandilocuentes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Repetición de ideas con otras palabras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Listas vagas sin fuente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‘En el mundo actual…’, ‘es crucial…’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Cero cifras, cero citas concretas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6172200" y="1828800"/>
            <a:ext cx="5440680" cy="4023360"/>
          </a:xfrm>
          <a:prstGeom prst="roundRect">
            <a:avLst>
              <a:gd fmla="val 2045" name="adj"/>
            </a:avLst>
          </a:prstGeom>
          <a:solidFill>
            <a:srgbClr val="E7F0E9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0"/>
          <p:cNvSpPr/>
          <p:nvPr/>
        </p:nvSpPr>
        <p:spPr>
          <a:xfrm>
            <a:off x="6492240" y="20574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Tu voz académica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6492240" y="2514600"/>
            <a:ext cx="49377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Afirmaciones concretas con datos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Cada idea con su fuente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Términos de tu campo, bien usados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Oraciones directas y precisas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Tú puedes explicar cada frase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BLOQUE F · ORIGINALIDAD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Cuatro formas de plagio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fmla="val 16000" name="adj"/>
            </a:avLst>
          </a:prstGeom>
          <a:solidFill>
            <a:srgbClr val="EDEFF2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1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55–62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548640" y="1828800"/>
            <a:ext cx="5349240" cy="1417320"/>
          </a:xfrm>
          <a:prstGeom prst="roundRect">
            <a:avLst>
              <a:gd fmla="val 5806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1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1"/>
          <p:cNvSpPr/>
          <p:nvPr/>
        </p:nvSpPr>
        <p:spPr>
          <a:xfrm>
            <a:off x="1554480" y="201168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Directo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1"/>
          <p:cNvSpPr/>
          <p:nvPr/>
        </p:nvSpPr>
        <p:spPr>
          <a:xfrm>
            <a:off x="1554480" y="2468880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Copiar y pegar sin comillas ni cita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6126480" y="1828800"/>
            <a:ext cx="5349240" cy="1417320"/>
          </a:xfrm>
          <a:prstGeom prst="roundRect">
            <a:avLst>
              <a:gd fmla="val 5806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1"/>
          <p:cNvSpPr/>
          <p:nvPr/>
        </p:nvSpPr>
        <p:spPr>
          <a:xfrm>
            <a:off x="6400800" y="2240280"/>
            <a:ext cx="548640" cy="54864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1"/>
          <p:cNvSpPr/>
          <p:nvPr/>
        </p:nvSpPr>
        <p:spPr>
          <a:xfrm>
            <a:off x="7132320" y="201168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Patchwriting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1"/>
          <p:cNvSpPr/>
          <p:nvPr/>
        </p:nvSpPr>
        <p:spPr>
          <a:xfrm>
            <a:off x="7132320" y="2468880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Cambiar palabras manteniendo la estructura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548640" y="3383280"/>
            <a:ext cx="5349240" cy="1417320"/>
          </a:xfrm>
          <a:prstGeom prst="roundRect">
            <a:avLst>
              <a:gd fmla="val 5806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1"/>
          <p:cNvSpPr/>
          <p:nvPr/>
        </p:nvSpPr>
        <p:spPr>
          <a:xfrm>
            <a:off x="822960" y="3794760"/>
            <a:ext cx="548640" cy="548640"/>
          </a:xfrm>
          <a:prstGeom prst="ellipse">
            <a:avLst/>
          </a:prstGeom>
          <a:solidFill>
            <a:srgbClr val="C8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1"/>
          <p:cNvSpPr/>
          <p:nvPr/>
        </p:nvSpPr>
        <p:spPr>
          <a:xfrm>
            <a:off x="1554480" y="356616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Mosaico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1554480" y="4023360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Mezclar fragmentos de varias fuentes sin citar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1"/>
          <p:cNvSpPr/>
          <p:nvPr/>
        </p:nvSpPr>
        <p:spPr>
          <a:xfrm>
            <a:off x="6126480" y="3383280"/>
            <a:ext cx="5349240" cy="1417320"/>
          </a:xfrm>
          <a:prstGeom prst="roundRect">
            <a:avLst>
              <a:gd fmla="val 5806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1"/>
          <p:cNvSpPr/>
          <p:nvPr/>
        </p:nvSpPr>
        <p:spPr>
          <a:xfrm>
            <a:off x="6400800" y="3794760"/>
            <a:ext cx="548640" cy="548640"/>
          </a:xfrm>
          <a:prstGeom prst="ellipse">
            <a:avLst/>
          </a:prstGeom>
          <a:solidFill>
            <a:srgbClr val="C8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1"/>
          <p:cNvSpPr/>
          <p:nvPr/>
        </p:nvSpPr>
        <p:spPr>
          <a:xfrm>
            <a:off x="7132320" y="356616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Autoplagio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7132320" y="4023360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Reusar tu propio texto ya publicado sin declararlo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1"/>
          <p:cNvSpPr/>
          <p:nvPr/>
        </p:nvSpPr>
        <p:spPr>
          <a:xfrm>
            <a:off x="548640" y="5029200"/>
            <a:ext cx="10972800" cy="1005840"/>
          </a:xfrm>
          <a:prstGeom prst="roundRect">
            <a:avLst>
              <a:gd fmla="val 8182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914400" y="5029200"/>
            <a:ext cx="10241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Todas se evitan igual: comprender, reformular con tu voz y citar cada fuente. El plagio puede anular la titulación.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2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BLOQUE F · DETECCIÓN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Similitud: qué mide y qué no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548640" y="1828800"/>
            <a:ext cx="5440680" cy="4023360"/>
          </a:xfrm>
          <a:prstGeom prst="roundRect">
            <a:avLst>
              <a:gd fmla="val 2045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2"/>
          <p:cNvSpPr/>
          <p:nvPr/>
        </p:nvSpPr>
        <p:spPr>
          <a:xfrm>
            <a:off x="868680" y="20574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Reporte de similitud (Turnitin)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868680" y="2514600"/>
            <a:ext cx="49377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Mide coincidencia con fuentes, no plagio en sí</a:t>
            </a:r>
            <a:b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Excluye citas y bibliografía bien marcadas</a:t>
            </a:r>
            <a:b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Un % bajo no garantiza originalidad de ideas</a:t>
            </a:r>
            <a:b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Un % alto puede ser solo términos técnicos</a:t>
            </a:r>
            <a:b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Lee el reporte, no solo el número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6172200" y="1828800"/>
            <a:ext cx="5440680" cy="4023360"/>
          </a:xfrm>
          <a:prstGeom prst="roundRect">
            <a:avLst>
              <a:gd fmla="val 2045" name="adj"/>
            </a:avLst>
          </a:prstGeom>
          <a:solidFill>
            <a:srgbClr val="F3E1E4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2"/>
          <p:cNvSpPr/>
          <p:nvPr/>
        </p:nvSpPr>
        <p:spPr>
          <a:xfrm>
            <a:off x="6492240" y="20574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Cómo bajar la similitud (bien)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6492240" y="2514600"/>
            <a:ext cx="49377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Parafrasea de verdad (comprende y reformula)</a:t>
            </a:r>
            <a:b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Marca correctamente citas y comillas</a:t>
            </a:r>
            <a:b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Cita todas las fuentes</a:t>
            </a:r>
            <a:b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No uses ‘spinners’ que ‘disfrazan’ el texto</a:t>
            </a:r>
            <a:b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Consulta el umbral de tu facultad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3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BLOQUE F · TEXTO 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Detectores de IA y su límite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548640" y="1828800"/>
            <a:ext cx="10972800" cy="1737360"/>
          </a:xfrm>
          <a:prstGeom prst="roundRect">
            <a:avLst>
              <a:gd fmla="val 4737" name="adj"/>
            </a:avLst>
          </a:prstGeom>
          <a:solidFill>
            <a:srgbClr val="FBF3E0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3"/>
          <p:cNvSpPr/>
          <p:nvPr/>
        </p:nvSpPr>
        <p:spPr>
          <a:xfrm>
            <a:off x="914400" y="1828800"/>
            <a:ext cx="10241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8A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88A00"/>
                </a:solidFill>
                <a:latin typeface="Arial"/>
                <a:ea typeface="Arial"/>
                <a:cs typeface="Arial"/>
                <a:sym typeface="Arial"/>
              </a:rPr>
              <a:t>Cuidado:  </a:t>
            </a:r>
            <a:r>
              <a:rPr b="0" i="0" lang="en-US" sz="15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los detectores de ‘texto IA’ son poco fiables: dan falsos positivos (marcan como IA texto humano bien escrito) y se equivocan con no nativos. No son prueba concluyente.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548640" y="3749040"/>
            <a:ext cx="10972800" cy="2286000"/>
          </a:xfrm>
          <a:prstGeom prst="roundRect">
            <a:avLst>
              <a:gd fmla="val 3600" name="adj"/>
            </a:avLst>
          </a:prstGeom>
          <a:solidFill>
            <a:srgbClr val="E7F0E9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3"/>
          <p:cNvSpPr/>
          <p:nvPr/>
        </p:nvSpPr>
        <p:spPr>
          <a:xfrm>
            <a:off x="868680" y="393192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La verdadera defensa: transparencia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868680" y="4389120"/>
            <a:ext cx="10149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Declara cómo usaste la IA (según la norma de tu facultad).</a:t>
            </a:r>
            <a:br>
              <a:rPr b="0" i="0" lang="en-US" sz="15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Conserva tus borradores y fuentes: prueban tu proceso.</a:t>
            </a:r>
            <a:br>
              <a:rPr b="0" i="0" lang="en-US" sz="15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Escribe de forma que puedas explicar y defender cada afirmación.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4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BLOQUE G · REVISIÓN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Revisa en capas, de mayor a menor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fmla="val 16000" name="adj"/>
            </a:avLst>
          </a:prstGeom>
          <a:solidFill>
            <a:srgbClr val="EDEFF2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4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62–72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4"/>
          <p:cNvSpPr/>
          <p:nvPr/>
        </p:nvSpPr>
        <p:spPr>
          <a:xfrm>
            <a:off x="548640" y="1828800"/>
            <a:ext cx="10972800" cy="786384"/>
          </a:xfrm>
          <a:prstGeom prst="roundRect">
            <a:avLst>
              <a:gd fmla="val 10465" name="adj"/>
            </a:avLst>
          </a:prstGeom>
          <a:solidFill>
            <a:srgbClr val="EDEF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4"/>
          <p:cNvSpPr/>
          <p:nvPr/>
        </p:nvSpPr>
        <p:spPr>
          <a:xfrm>
            <a:off x="731520" y="1947672"/>
            <a:ext cx="2194560" cy="548640"/>
          </a:xfrm>
          <a:prstGeom prst="roundRect">
            <a:avLst>
              <a:gd fmla="val 13333" name="adj"/>
            </a:avLst>
          </a:prstGeom>
          <a:solidFill>
            <a:srgbClr val="7A1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4"/>
          <p:cNvSpPr/>
          <p:nvPr/>
        </p:nvSpPr>
        <p:spPr>
          <a:xfrm>
            <a:off x="731520" y="1947672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· Contenido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3200400" y="1828800"/>
            <a:ext cx="81381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¿Dice lo correcto y con evidencia?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548640" y="2697480"/>
            <a:ext cx="10972800" cy="786384"/>
          </a:xfrm>
          <a:prstGeom prst="roundRect">
            <a:avLst>
              <a:gd fmla="val 10465" name="adj"/>
            </a:avLst>
          </a:prstGeom>
          <a:solidFill>
            <a:srgbClr val="EDEF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4"/>
          <p:cNvSpPr/>
          <p:nvPr/>
        </p:nvSpPr>
        <p:spPr>
          <a:xfrm>
            <a:off x="731520" y="2816352"/>
            <a:ext cx="2194560" cy="548640"/>
          </a:xfrm>
          <a:prstGeom prst="roundRect">
            <a:avLst>
              <a:gd fmla="val 13333" name="adj"/>
            </a:avLst>
          </a:prstGeom>
          <a:solidFill>
            <a:srgbClr val="7A1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>
            <a:off x="731520" y="2816352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· Estructura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3200400" y="2697480"/>
            <a:ext cx="81381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¿El orden de ideas tiene lógica?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548640" y="3566160"/>
            <a:ext cx="10972800" cy="786384"/>
          </a:xfrm>
          <a:prstGeom prst="roundRect">
            <a:avLst>
              <a:gd fmla="val 10465" name="adj"/>
            </a:avLst>
          </a:prstGeom>
          <a:solidFill>
            <a:srgbClr val="EDEF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731520" y="3685032"/>
            <a:ext cx="2194560" cy="548640"/>
          </a:xfrm>
          <a:prstGeom prst="roundRect">
            <a:avLst>
              <a:gd fmla="val 13333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731520" y="3685032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· Párrafo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3200400" y="3566160"/>
            <a:ext cx="81381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¿Una idea por párrafo, con cierre?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548640" y="4434840"/>
            <a:ext cx="10972800" cy="786384"/>
          </a:xfrm>
          <a:prstGeom prst="roundRect">
            <a:avLst>
              <a:gd fmla="val 10465" name="adj"/>
            </a:avLst>
          </a:prstGeom>
          <a:solidFill>
            <a:srgbClr val="EDEF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4"/>
          <p:cNvSpPr/>
          <p:nvPr/>
        </p:nvSpPr>
        <p:spPr>
          <a:xfrm>
            <a:off x="731520" y="4553712"/>
            <a:ext cx="2194560" cy="548640"/>
          </a:xfrm>
          <a:prstGeom prst="roundRect">
            <a:avLst>
              <a:gd fmla="val 13333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4"/>
          <p:cNvSpPr/>
          <p:nvPr/>
        </p:nvSpPr>
        <p:spPr>
          <a:xfrm>
            <a:off x="731520" y="4553712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· Oración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4"/>
          <p:cNvSpPr/>
          <p:nvPr/>
        </p:nvSpPr>
        <p:spPr>
          <a:xfrm>
            <a:off x="3200400" y="4434840"/>
            <a:ext cx="81381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¿Clara, directa, sin ambigüedad?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4"/>
          <p:cNvSpPr/>
          <p:nvPr/>
        </p:nvSpPr>
        <p:spPr>
          <a:xfrm>
            <a:off x="548640" y="5303520"/>
            <a:ext cx="10972800" cy="786384"/>
          </a:xfrm>
          <a:prstGeom prst="roundRect">
            <a:avLst>
              <a:gd fmla="val 10465" name="adj"/>
            </a:avLst>
          </a:prstGeom>
          <a:solidFill>
            <a:srgbClr val="EDEF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731520" y="5422392"/>
            <a:ext cx="2194560" cy="548640"/>
          </a:xfrm>
          <a:prstGeom prst="roundRect">
            <a:avLst>
              <a:gd fmla="val 13333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4"/>
          <p:cNvSpPr/>
          <p:nvPr/>
        </p:nvSpPr>
        <p:spPr>
          <a:xfrm>
            <a:off x="731520" y="5422392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· Palabra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4"/>
          <p:cNvSpPr/>
          <p:nvPr/>
        </p:nvSpPr>
        <p:spPr>
          <a:xfrm>
            <a:off x="3200400" y="5303520"/>
            <a:ext cx="81381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¿Término preciso, sin muletillas?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4"/>
          <p:cNvSpPr/>
          <p:nvPr/>
        </p:nvSpPr>
        <p:spPr>
          <a:xfrm>
            <a:off x="548640" y="6263640"/>
            <a:ext cx="0" cy="0"/>
          </a:xfrm>
          <a:prstGeom prst="roundRect">
            <a:avLst>
              <a:gd fmla="val 16667" name="adj"/>
            </a:avLst>
          </a:prstGeom>
          <a:solidFill>
            <a:srgbClr val="EDEF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5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BLOQUE G · CALIDAD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5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Checklist antes de entregar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5"/>
          <p:cNvSpPr/>
          <p:nvPr/>
        </p:nvSpPr>
        <p:spPr>
          <a:xfrm>
            <a:off x="548640" y="1828800"/>
            <a:ext cx="5440680" cy="4023360"/>
          </a:xfrm>
          <a:prstGeom prst="roundRect">
            <a:avLst>
              <a:gd fmla="val 2045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5"/>
          <p:cNvSpPr/>
          <p:nvPr/>
        </p:nvSpPr>
        <p:spPr>
          <a:xfrm>
            <a:off x="868680" y="20574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Sí ✓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5"/>
          <p:cNvSpPr/>
          <p:nvPr/>
        </p:nvSpPr>
        <p:spPr>
          <a:xfrm>
            <a:off x="868680" y="2514600"/>
            <a:ext cx="49377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Una idea por párrafo, con evidencia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Cada afirmación con su cita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Autores en diálogo (síntesis)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Conectores entre ideas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Términos definidos y consistentes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5"/>
          <p:cNvSpPr/>
          <p:nvPr/>
        </p:nvSpPr>
        <p:spPr>
          <a:xfrm>
            <a:off x="6172200" y="1828800"/>
            <a:ext cx="5440680" cy="4023360"/>
          </a:xfrm>
          <a:prstGeom prst="roundRect">
            <a:avLst>
              <a:gd fmla="val 2045" name="adj"/>
            </a:avLst>
          </a:prstGeom>
          <a:solidFill>
            <a:srgbClr val="F7E4E3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5"/>
          <p:cNvSpPr/>
          <p:nvPr/>
        </p:nvSpPr>
        <p:spPr>
          <a:xfrm>
            <a:off x="6492240" y="20574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Errores comunes ✗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5"/>
          <p:cNvSpPr/>
          <p:nvPr/>
        </p:nvSpPr>
        <p:spPr>
          <a:xfrm>
            <a:off x="6492240" y="2514600"/>
            <a:ext cx="49377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Párrafos de una sola oración enorme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Enumerar autores sin sintetizar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Afirmaciones sin fuente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Comillas por todo el texto</a:t>
            </a:r>
            <a:b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Primera persona informal (‘yo creo’)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6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BLOQUE G · USO RESPONSABLE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6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Semáforo en la redacción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6"/>
          <p:cNvSpPr/>
          <p:nvPr/>
        </p:nvSpPr>
        <p:spPr>
          <a:xfrm>
            <a:off x="548640" y="1783080"/>
            <a:ext cx="3566160" cy="4114800"/>
          </a:xfrm>
          <a:prstGeom prst="roundRect">
            <a:avLst>
              <a:gd fmla="val 2308" name="adj"/>
            </a:avLst>
          </a:prstGeom>
          <a:solidFill>
            <a:srgbClr val="E7F0E9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6"/>
          <p:cNvSpPr/>
          <p:nvPr/>
        </p:nvSpPr>
        <p:spPr>
          <a:xfrm>
            <a:off x="1920240" y="2057400"/>
            <a:ext cx="822960" cy="8229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548640" y="29718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VERDE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6"/>
          <p:cNvSpPr/>
          <p:nvPr/>
        </p:nvSpPr>
        <p:spPr>
          <a:xfrm>
            <a:off x="822960" y="3520440"/>
            <a:ext cx="30175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Corregir gramática, mejorar claridad, sugerir conectores, traducir tu texto.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6"/>
          <p:cNvSpPr/>
          <p:nvPr/>
        </p:nvSpPr>
        <p:spPr>
          <a:xfrm>
            <a:off x="4251960" y="1783080"/>
            <a:ext cx="3566160" cy="4114800"/>
          </a:xfrm>
          <a:prstGeom prst="roundRect">
            <a:avLst>
              <a:gd fmla="val 2308" name="adj"/>
            </a:avLst>
          </a:prstGeom>
          <a:solidFill>
            <a:srgbClr val="FBF3E0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6"/>
          <p:cNvSpPr/>
          <p:nvPr/>
        </p:nvSpPr>
        <p:spPr>
          <a:xfrm>
            <a:off x="5623560" y="2057400"/>
            <a:ext cx="822960" cy="822960"/>
          </a:xfrm>
          <a:prstGeom prst="ellipse">
            <a:avLst/>
          </a:prstGeom>
          <a:solidFill>
            <a:srgbClr val="C8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6"/>
          <p:cNvSpPr/>
          <p:nvPr/>
        </p:nvSpPr>
        <p:spPr>
          <a:xfrm>
            <a:off x="4251960" y="29718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8A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88A00"/>
                </a:solidFill>
                <a:latin typeface="Arial"/>
                <a:ea typeface="Arial"/>
                <a:cs typeface="Arial"/>
                <a:sym typeface="Arial"/>
              </a:rPr>
              <a:t>AMARILLO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6"/>
          <p:cNvSpPr/>
          <p:nvPr/>
        </p:nvSpPr>
        <p:spPr>
          <a:xfrm>
            <a:off x="4526280" y="3520440"/>
            <a:ext cx="30175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Reestructurar un párrafo tuyo o resumir tu borrador: revisa que conserve tu sentido y tus fuentes.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7955280" y="1783080"/>
            <a:ext cx="3566160" cy="4114800"/>
          </a:xfrm>
          <a:prstGeom prst="roundRect">
            <a:avLst>
              <a:gd fmla="val 2308" name="adj"/>
            </a:avLst>
          </a:prstGeom>
          <a:solidFill>
            <a:srgbClr val="F7E4E3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6"/>
          <p:cNvSpPr/>
          <p:nvPr/>
        </p:nvSpPr>
        <p:spPr>
          <a:xfrm>
            <a:off x="9326880" y="2057400"/>
            <a:ext cx="822960" cy="82296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6"/>
          <p:cNvSpPr/>
          <p:nvPr/>
        </p:nvSpPr>
        <p:spPr>
          <a:xfrm>
            <a:off x="7955280" y="29718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ROJO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6"/>
          <p:cNvSpPr/>
          <p:nvPr/>
        </p:nvSpPr>
        <p:spPr>
          <a:xfrm>
            <a:off x="8229600" y="3520440"/>
            <a:ext cx="30175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Generar el marco teórico, inventar citas, entregar texto IA como propio, ‘disfrazar’ para el detector.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7"/>
          <p:cNvSpPr/>
          <p:nvPr/>
        </p:nvSpPr>
        <p:spPr>
          <a:xfrm>
            <a:off x="548640" y="5486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4D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FB4D0"/>
                </a:solidFill>
                <a:latin typeface="Arial"/>
                <a:ea typeface="Arial"/>
                <a:cs typeface="Arial"/>
                <a:sym typeface="Arial"/>
              </a:rPr>
              <a:t>INTEGRIDAD EN LA ESCRITURA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7"/>
          <p:cNvSpPr/>
          <p:nvPr/>
        </p:nvSpPr>
        <p:spPr>
          <a:xfrm>
            <a:off x="530352" y="86868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autor sigue siendo responsable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7"/>
          <p:cNvSpPr/>
          <p:nvPr/>
        </p:nvSpPr>
        <p:spPr>
          <a:xfrm>
            <a:off x="548640" y="2468880"/>
            <a:ext cx="5349240" cy="1463040"/>
          </a:xfrm>
          <a:prstGeom prst="roundRect">
            <a:avLst>
              <a:gd fmla="val 56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7"/>
          <p:cNvSpPr/>
          <p:nvPr/>
        </p:nvSpPr>
        <p:spPr>
          <a:xfrm>
            <a:off x="822960" y="2633472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Comprensión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7"/>
          <p:cNvSpPr/>
          <p:nvPr/>
        </p:nvSpPr>
        <p:spPr>
          <a:xfrm>
            <a:off x="822960" y="3035808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Solo escribes lo que entiendes y puedes explicar.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7"/>
          <p:cNvSpPr/>
          <p:nvPr/>
        </p:nvSpPr>
        <p:spPr>
          <a:xfrm>
            <a:off x="6126480" y="2468880"/>
            <a:ext cx="5349240" cy="1463040"/>
          </a:xfrm>
          <a:prstGeom prst="roundRect">
            <a:avLst>
              <a:gd fmla="val 56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7"/>
          <p:cNvSpPr/>
          <p:nvPr/>
        </p:nvSpPr>
        <p:spPr>
          <a:xfrm>
            <a:off x="6400800" y="2633472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Atribución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6400800" y="3035808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Cada idea ajena se cita; cada dato tiene fuente.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7"/>
          <p:cNvSpPr/>
          <p:nvPr/>
        </p:nvSpPr>
        <p:spPr>
          <a:xfrm>
            <a:off x="548640" y="4160520"/>
            <a:ext cx="5349240" cy="1463040"/>
          </a:xfrm>
          <a:prstGeom prst="roundRect">
            <a:avLst>
              <a:gd fmla="val 56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7"/>
          <p:cNvSpPr/>
          <p:nvPr/>
        </p:nvSpPr>
        <p:spPr>
          <a:xfrm>
            <a:off x="822960" y="4325112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Transparencia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7"/>
          <p:cNvSpPr/>
          <p:nvPr/>
        </p:nvSpPr>
        <p:spPr>
          <a:xfrm>
            <a:off x="822960" y="4727448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Declaras el uso de IA según tu facultad.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6126480" y="4160520"/>
            <a:ext cx="5349240" cy="1463040"/>
          </a:xfrm>
          <a:prstGeom prst="roundRect">
            <a:avLst>
              <a:gd fmla="val 56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7"/>
          <p:cNvSpPr/>
          <p:nvPr/>
        </p:nvSpPr>
        <p:spPr>
          <a:xfrm>
            <a:off x="6400800" y="4325112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Autoría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7"/>
          <p:cNvSpPr/>
          <p:nvPr/>
        </p:nvSpPr>
        <p:spPr>
          <a:xfrm>
            <a:off x="6400800" y="4727448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Tu voz y tu criterio: tú firmas cada página.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1420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8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DDE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6DDE1"/>
                </a:solidFill>
                <a:latin typeface="Arial"/>
                <a:ea typeface="Arial"/>
                <a:cs typeface="Arial"/>
                <a:sym typeface="Arial"/>
              </a:rPr>
              <a:t>Suficiente teoría.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8"/>
          <p:cNvSpPr/>
          <p:nvPr/>
        </p:nvSpPr>
        <p:spPr>
          <a:xfrm>
            <a:off x="731520" y="3246120"/>
            <a:ext cx="10698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Ahora escribe tu marco teórico.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8"/>
          <p:cNvSpPr/>
          <p:nvPr/>
        </p:nvSpPr>
        <p:spPr>
          <a:xfrm>
            <a:off x="749808" y="48006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D6D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3D6DA"/>
                </a:solidFill>
                <a:latin typeface="Arial"/>
                <a:ea typeface="Arial"/>
                <a:cs typeface="Arial"/>
                <a:sym typeface="Arial"/>
              </a:rPr>
              <a:t>Abre tu matriz de literatura (U2) y tu matriz de consistencia (U3). En 108 minutos tendrás tu Marco Teórico v1.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9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LABORATORIO · 108 MINUTOS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9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Siete estaciones, un marco teórico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9"/>
          <p:cNvSpPr/>
          <p:nvPr/>
        </p:nvSpPr>
        <p:spPr>
          <a:xfrm>
            <a:off x="548640" y="1737360"/>
            <a:ext cx="10972800" cy="603504"/>
          </a:xfrm>
          <a:prstGeom prst="roundRect">
            <a:avLst>
              <a:gd fmla="val 13636" name="adj"/>
            </a:avLst>
          </a:prstGeom>
          <a:solidFill>
            <a:srgbClr val="EDEF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9"/>
          <p:cNvSpPr/>
          <p:nvPr/>
        </p:nvSpPr>
        <p:spPr>
          <a:xfrm>
            <a:off x="685800" y="1810512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9"/>
          <p:cNvSpPr/>
          <p:nvPr/>
        </p:nvSpPr>
        <p:spPr>
          <a:xfrm>
            <a:off x="685800" y="1810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9"/>
          <p:cNvSpPr/>
          <p:nvPr/>
        </p:nvSpPr>
        <p:spPr>
          <a:xfrm>
            <a:off x="1371600" y="1737360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Del esquema al párrafo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9"/>
          <p:cNvSpPr/>
          <p:nvPr/>
        </p:nvSpPr>
        <p:spPr>
          <a:xfrm>
            <a:off x="9692640" y="1737360"/>
            <a:ext cx="1737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15 min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9"/>
          <p:cNvSpPr/>
          <p:nvPr/>
        </p:nvSpPr>
        <p:spPr>
          <a:xfrm>
            <a:off x="548640" y="2395728"/>
            <a:ext cx="10972800" cy="603504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9"/>
          <p:cNvSpPr/>
          <p:nvPr/>
        </p:nvSpPr>
        <p:spPr>
          <a:xfrm>
            <a:off x="685800" y="2468880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9"/>
          <p:cNvSpPr/>
          <p:nvPr/>
        </p:nvSpPr>
        <p:spPr>
          <a:xfrm>
            <a:off x="685800" y="2468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9"/>
          <p:cNvSpPr/>
          <p:nvPr/>
        </p:nvSpPr>
        <p:spPr>
          <a:xfrm>
            <a:off x="1371600" y="2395728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Paráfrasis con integridad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9"/>
          <p:cNvSpPr/>
          <p:nvPr/>
        </p:nvSpPr>
        <p:spPr>
          <a:xfrm>
            <a:off x="9692640" y="2395728"/>
            <a:ext cx="1737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15 min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9"/>
          <p:cNvSpPr/>
          <p:nvPr/>
        </p:nvSpPr>
        <p:spPr>
          <a:xfrm>
            <a:off x="548640" y="3054096"/>
            <a:ext cx="10972800" cy="603504"/>
          </a:xfrm>
          <a:prstGeom prst="roundRect">
            <a:avLst>
              <a:gd fmla="val 13636" name="adj"/>
            </a:avLst>
          </a:prstGeom>
          <a:solidFill>
            <a:srgbClr val="EDEF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9"/>
          <p:cNvSpPr/>
          <p:nvPr/>
        </p:nvSpPr>
        <p:spPr>
          <a:xfrm>
            <a:off x="685800" y="3127248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7A1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9"/>
          <p:cNvSpPr/>
          <p:nvPr/>
        </p:nvSpPr>
        <p:spPr>
          <a:xfrm>
            <a:off x="685800" y="3127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9"/>
          <p:cNvSpPr/>
          <p:nvPr/>
        </p:nvSpPr>
        <p:spPr>
          <a:xfrm>
            <a:off x="1371600" y="3054096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Redacción del marco teórico v1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9"/>
          <p:cNvSpPr/>
          <p:nvPr/>
        </p:nvSpPr>
        <p:spPr>
          <a:xfrm>
            <a:off x="9692640" y="3054096"/>
            <a:ext cx="1737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25 min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9"/>
          <p:cNvSpPr/>
          <p:nvPr/>
        </p:nvSpPr>
        <p:spPr>
          <a:xfrm>
            <a:off x="548640" y="3712464"/>
            <a:ext cx="10972800" cy="603504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9"/>
          <p:cNvSpPr/>
          <p:nvPr/>
        </p:nvSpPr>
        <p:spPr>
          <a:xfrm>
            <a:off x="685800" y="3785616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9"/>
          <p:cNvSpPr/>
          <p:nvPr/>
        </p:nvSpPr>
        <p:spPr>
          <a:xfrm>
            <a:off x="685800" y="37856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9"/>
          <p:cNvSpPr/>
          <p:nvPr/>
        </p:nvSpPr>
        <p:spPr>
          <a:xfrm>
            <a:off x="1371600" y="3712464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Citación y referencias (APA/IEEE)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9"/>
          <p:cNvSpPr/>
          <p:nvPr/>
        </p:nvSpPr>
        <p:spPr>
          <a:xfrm>
            <a:off x="9692640" y="3712464"/>
            <a:ext cx="1737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15 min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9"/>
          <p:cNvSpPr/>
          <p:nvPr/>
        </p:nvSpPr>
        <p:spPr>
          <a:xfrm>
            <a:off x="548640" y="4370832"/>
            <a:ext cx="10972800" cy="603504"/>
          </a:xfrm>
          <a:prstGeom prst="roundRect">
            <a:avLst>
              <a:gd fmla="val 13636" name="adj"/>
            </a:avLst>
          </a:prstGeom>
          <a:solidFill>
            <a:srgbClr val="EDEF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9"/>
          <p:cNvSpPr/>
          <p:nvPr/>
        </p:nvSpPr>
        <p:spPr>
          <a:xfrm>
            <a:off x="685800" y="4443984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9"/>
          <p:cNvSpPr/>
          <p:nvPr/>
        </p:nvSpPr>
        <p:spPr>
          <a:xfrm>
            <a:off x="685800" y="44439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9"/>
          <p:cNvSpPr/>
          <p:nvPr/>
        </p:nvSpPr>
        <p:spPr>
          <a:xfrm>
            <a:off x="1371600" y="4370832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Revisión en capas y estilo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9"/>
          <p:cNvSpPr/>
          <p:nvPr/>
        </p:nvSpPr>
        <p:spPr>
          <a:xfrm>
            <a:off x="9692640" y="4370832"/>
            <a:ext cx="1737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18 min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9"/>
          <p:cNvSpPr/>
          <p:nvPr/>
        </p:nvSpPr>
        <p:spPr>
          <a:xfrm>
            <a:off x="548640" y="5029200"/>
            <a:ext cx="10972800" cy="603504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9"/>
          <p:cNvSpPr/>
          <p:nvPr/>
        </p:nvSpPr>
        <p:spPr>
          <a:xfrm>
            <a:off x="685800" y="5102352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9"/>
          <p:cNvSpPr/>
          <p:nvPr/>
        </p:nvSpPr>
        <p:spPr>
          <a:xfrm>
            <a:off x="685800" y="51023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9"/>
          <p:cNvSpPr/>
          <p:nvPr/>
        </p:nvSpPr>
        <p:spPr>
          <a:xfrm>
            <a:off x="1371600" y="5029200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Control de originalidad y detección de 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9"/>
          <p:cNvSpPr/>
          <p:nvPr/>
        </p:nvSpPr>
        <p:spPr>
          <a:xfrm>
            <a:off x="9692640" y="5029200"/>
            <a:ext cx="1737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12 min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9"/>
          <p:cNvSpPr/>
          <p:nvPr/>
        </p:nvSpPr>
        <p:spPr>
          <a:xfrm>
            <a:off x="548640" y="5687568"/>
            <a:ext cx="10972800" cy="603504"/>
          </a:xfrm>
          <a:prstGeom prst="roundRect">
            <a:avLst>
              <a:gd fmla="val 13636" name="adj"/>
            </a:avLst>
          </a:prstGeom>
          <a:solidFill>
            <a:srgbClr val="EDEF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9"/>
          <p:cNvSpPr/>
          <p:nvPr/>
        </p:nvSpPr>
        <p:spPr>
          <a:xfrm>
            <a:off x="685800" y="5760720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9"/>
          <p:cNvSpPr/>
          <p:nvPr/>
        </p:nvSpPr>
        <p:spPr>
          <a:xfrm>
            <a:off x="685800" y="5760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9"/>
          <p:cNvSpPr/>
          <p:nvPr/>
        </p:nvSpPr>
        <p:spPr>
          <a:xfrm>
            <a:off x="1371600" y="5687568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Pulido final y evaluación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9"/>
          <p:cNvSpPr/>
          <p:nvPr/>
        </p:nvSpPr>
        <p:spPr>
          <a:xfrm>
            <a:off x="9692640" y="5687568"/>
            <a:ext cx="1737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8 min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LABORATORIO 1 · 15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0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Del esquema al párrafo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0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fmla="val 16000" name="adj"/>
            </a:avLst>
          </a:prstGeom>
          <a:solidFill>
            <a:srgbClr val="EDEFF2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0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15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0"/>
          <p:cNvSpPr/>
          <p:nvPr/>
        </p:nvSpPr>
        <p:spPr>
          <a:xfrm>
            <a:off x="548640" y="1783080"/>
            <a:ext cx="6766560" cy="4617720"/>
          </a:xfrm>
          <a:prstGeom prst="roundRect">
            <a:avLst>
              <a:gd fmla="val 1782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0"/>
          <p:cNvSpPr/>
          <p:nvPr/>
        </p:nvSpPr>
        <p:spPr>
          <a:xfrm>
            <a:off x="822960" y="196596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0"/>
          <p:cNvSpPr/>
          <p:nvPr/>
        </p:nvSpPr>
        <p:spPr>
          <a:xfrm>
            <a:off x="822960" y="2331720"/>
            <a:ext cx="6309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Convertir una fila de tu matriz de literatura (U2) en un párrafo académico bien estructurado.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0"/>
          <p:cNvSpPr/>
          <p:nvPr/>
        </p:nvSpPr>
        <p:spPr>
          <a:xfrm>
            <a:off x="822960" y="324612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Pasos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0"/>
          <p:cNvSpPr/>
          <p:nvPr/>
        </p:nvSpPr>
        <p:spPr>
          <a:xfrm>
            <a:off x="822960" y="3657600"/>
            <a:ext cx="63093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Elige una fila (o tema) de tu matriz de literatura.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Escribe la idea principal en una oración temática.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Desarrolla con evidencia y cita (paráfrasis).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Cierra con un enlace al siguiente párrafo.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Revisa: ¿una sola idea por párrafo?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0"/>
          <p:cNvSpPr/>
          <p:nvPr/>
        </p:nvSpPr>
        <p:spPr>
          <a:xfrm>
            <a:off x="7498080" y="1783080"/>
            <a:ext cx="4023360" cy="2377440"/>
          </a:xfrm>
          <a:prstGeom prst="roundRect">
            <a:avLst>
              <a:gd fmla="val 3462" name="adj"/>
            </a:avLst>
          </a:prstGeom>
          <a:solidFill>
            <a:srgbClr val="E7F0E9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0"/>
          <p:cNvSpPr/>
          <p:nvPr/>
        </p:nvSpPr>
        <p:spPr>
          <a:xfrm>
            <a:off x="7772400" y="19659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Entregable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0"/>
          <p:cNvSpPr/>
          <p:nvPr/>
        </p:nvSpPr>
        <p:spPr>
          <a:xfrm>
            <a:off x="7772400" y="2331720"/>
            <a:ext cx="3520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1 párrafo académico con idea principal, evidencia citada y cierre.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0"/>
          <p:cNvSpPr/>
          <p:nvPr/>
        </p:nvSpPr>
        <p:spPr>
          <a:xfrm>
            <a:off x="7498080" y="4343400"/>
            <a:ext cx="4023360" cy="2057400"/>
          </a:xfrm>
          <a:prstGeom prst="roundRect">
            <a:avLst>
              <a:gd fmla="val 4000" name="adj"/>
            </a:avLst>
          </a:prstGeom>
          <a:solidFill>
            <a:srgbClr val="F7E4E3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0"/>
          <p:cNvSpPr/>
          <p:nvPr/>
        </p:nvSpPr>
        <p:spPr>
          <a:xfrm>
            <a:off x="7772400" y="45262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Error común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0"/>
          <p:cNvSpPr/>
          <p:nvPr/>
        </p:nvSpPr>
        <p:spPr>
          <a:xfrm>
            <a:off x="7772400" y="4892040"/>
            <a:ext cx="3520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Empezar por lo que dijo cada autor en vez de por tu idea principal.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1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LABORATORIO 2 · 15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Paráfrasis con integridad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1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fmla="val 16000" name="adj"/>
            </a:avLst>
          </a:prstGeom>
          <a:solidFill>
            <a:srgbClr val="EDEFF2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1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15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1"/>
          <p:cNvSpPr/>
          <p:nvPr/>
        </p:nvSpPr>
        <p:spPr>
          <a:xfrm>
            <a:off x="548640" y="1783080"/>
            <a:ext cx="6766560" cy="4617720"/>
          </a:xfrm>
          <a:prstGeom prst="roundRect">
            <a:avLst>
              <a:gd fmla="val 1782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1"/>
          <p:cNvSpPr/>
          <p:nvPr/>
        </p:nvSpPr>
        <p:spPr>
          <a:xfrm>
            <a:off x="822960" y="196596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1"/>
          <p:cNvSpPr/>
          <p:nvPr/>
        </p:nvSpPr>
        <p:spPr>
          <a:xfrm>
            <a:off x="822960" y="2331720"/>
            <a:ext cx="6309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Practicar la paráfrasis real y distinguirla del patchwriting, citando correctamente.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1"/>
          <p:cNvSpPr/>
          <p:nvPr/>
        </p:nvSpPr>
        <p:spPr>
          <a:xfrm>
            <a:off x="822960" y="324612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Pasos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1"/>
          <p:cNvSpPr/>
          <p:nvPr/>
        </p:nvSpPr>
        <p:spPr>
          <a:xfrm>
            <a:off x="822960" y="3657600"/>
            <a:ext cx="63093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Toma una cita clave de una de tus fuentes.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Léela, ciérrala y escribe la idea de memoria.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Compara: ¿reformulaste estructura y palabras?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Añade la cita en APA o IEEE.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Marca en tu texto qué es paráfrasis y qué es cita directa.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1"/>
          <p:cNvSpPr/>
          <p:nvPr/>
        </p:nvSpPr>
        <p:spPr>
          <a:xfrm>
            <a:off x="7498080" y="1783080"/>
            <a:ext cx="4023360" cy="2377440"/>
          </a:xfrm>
          <a:prstGeom prst="roundRect">
            <a:avLst>
              <a:gd fmla="val 3462" name="adj"/>
            </a:avLst>
          </a:prstGeom>
          <a:solidFill>
            <a:srgbClr val="E7F0E9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1"/>
          <p:cNvSpPr/>
          <p:nvPr/>
        </p:nvSpPr>
        <p:spPr>
          <a:xfrm>
            <a:off x="7772400" y="19659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Entregable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1"/>
          <p:cNvSpPr/>
          <p:nvPr/>
        </p:nvSpPr>
        <p:spPr>
          <a:xfrm>
            <a:off x="7772400" y="2331720"/>
            <a:ext cx="3520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1 paráfrasis correcta + la cita directa original, ambas citadas.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1"/>
          <p:cNvSpPr/>
          <p:nvPr/>
        </p:nvSpPr>
        <p:spPr>
          <a:xfrm>
            <a:off x="7498080" y="4343400"/>
            <a:ext cx="4023360" cy="2057400"/>
          </a:xfrm>
          <a:prstGeom prst="roundRect">
            <a:avLst>
              <a:gd fmla="val 4000" name="adj"/>
            </a:avLst>
          </a:prstGeom>
          <a:solidFill>
            <a:srgbClr val="F7E4E3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1"/>
          <p:cNvSpPr/>
          <p:nvPr/>
        </p:nvSpPr>
        <p:spPr>
          <a:xfrm>
            <a:off x="7772400" y="45262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Error común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1"/>
          <p:cNvSpPr/>
          <p:nvPr/>
        </p:nvSpPr>
        <p:spPr>
          <a:xfrm>
            <a:off x="7772400" y="4892040"/>
            <a:ext cx="3520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Patchwriting: cambiar 2–3 palabras manteniendo la estructura de la fuente.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2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LABORATORIO 3 · 25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2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Redacción del marco teórico v1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2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fmla="val 16000" name="adj"/>
            </a:avLst>
          </a:prstGeom>
          <a:solidFill>
            <a:srgbClr val="EDEFF2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2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25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2"/>
          <p:cNvSpPr/>
          <p:nvPr/>
        </p:nvSpPr>
        <p:spPr>
          <a:xfrm>
            <a:off x="548640" y="1783080"/>
            <a:ext cx="6766560" cy="4617720"/>
          </a:xfrm>
          <a:prstGeom prst="roundRect">
            <a:avLst>
              <a:gd fmla="val 1782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2"/>
          <p:cNvSpPr/>
          <p:nvPr/>
        </p:nvSpPr>
        <p:spPr>
          <a:xfrm>
            <a:off x="822960" y="196596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2"/>
          <p:cNvSpPr/>
          <p:nvPr/>
        </p:nvSpPr>
        <p:spPr>
          <a:xfrm>
            <a:off x="822960" y="2331720"/>
            <a:ext cx="6309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Redactar 2–3 secciones del marco teórico con síntesis, cohesión y citas, usando la IA solo sobre tu texto.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2"/>
          <p:cNvSpPr/>
          <p:nvPr/>
        </p:nvSpPr>
        <p:spPr>
          <a:xfrm>
            <a:off x="822960" y="324612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Pasos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2"/>
          <p:cNvSpPr/>
          <p:nvPr/>
        </p:nvSpPr>
        <p:spPr>
          <a:xfrm>
            <a:off x="822960" y="3657600"/>
            <a:ext cx="63093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Ordena tus temas (de lo general a lo específico).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Redacta cada sección sintetizando (autores en diálogo).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Enlaza con conectores; una idea por párrafo.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Usa la IA para mejorar claridad de TU texto (no para generarlo).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Marca cada afirmación con su fuente.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2"/>
          <p:cNvSpPr/>
          <p:nvPr/>
        </p:nvSpPr>
        <p:spPr>
          <a:xfrm>
            <a:off x="7498080" y="1783080"/>
            <a:ext cx="4023360" cy="2377440"/>
          </a:xfrm>
          <a:prstGeom prst="roundRect">
            <a:avLst>
              <a:gd fmla="val 3462" name="adj"/>
            </a:avLst>
          </a:prstGeom>
          <a:solidFill>
            <a:srgbClr val="E7F0E9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2"/>
          <p:cNvSpPr/>
          <p:nvPr/>
        </p:nvSpPr>
        <p:spPr>
          <a:xfrm>
            <a:off x="7772400" y="19659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Entregable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2"/>
          <p:cNvSpPr/>
          <p:nvPr/>
        </p:nvSpPr>
        <p:spPr>
          <a:xfrm>
            <a:off x="7772400" y="2331720"/>
            <a:ext cx="3520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Borrador del marco teórico v1 (2–3 secciones) con citas.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2"/>
          <p:cNvSpPr/>
          <p:nvPr/>
        </p:nvSpPr>
        <p:spPr>
          <a:xfrm>
            <a:off x="7498080" y="4343400"/>
            <a:ext cx="4023360" cy="2057400"/>
          </a:xfrm>
          <a:prstGeom prst="roundRect">
            <a:avLst>
              <a:gd fmla="val 4000" name="adj"/>
            </a:avLst>
          </a:prstGeom>
          <a:solidFill>
            <a:srgbClr val="F7E4E3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2"/>
          <p:cNvSpPr/>
          <p:nvPr/>
        </p:nvSpPr>
        <p:spPr>
          <a:xfrm>
            <a:off x="7772400" y="45262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Error común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2"/>
          <p:cNvSpPr/>
          <p:nvPr/>
        </p:nvSpPr>
        <p:spPr>
          <a:xfrm>
            <a:off x="7772400" y="4892040"/>
            <a:ext cx="3520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Pedir a la IA que ‘escriba el marco teórico’: produce texto genérico y sin tus fuentes.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3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LABORATORIO 4 · 15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3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Citación y referencias (APA/IEEE)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3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fmla="val 16000" name="adj"/>
            </a:avLst>
          </a:prstGeom>
          <a:solidFill>
            <a:srgbClr val="EDEFF2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3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15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3"/>
          <p:cNvSpPr/>
          <p:nvPr/>
        </p:nvSpPr>
        <p:spPr>
          <a:xfrm>
            <a:off x="548640" y="1783080"/>
            <a:ext cx="6766560" cy="4617720"/>
          </a:xfrm>
          <a:prstGeom prst="roundRect">
            <a:avLst>
              <a:gd fmla="val 1782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3"/>
          <p:cNvSpPr/>
          <p:nvPr/>
        </p:nvSpPr>
        <p:spPr>
          <a:xfrm>
            <a:off x="822960" y="196596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3"/>
          <p:cNvSpPr/>
          <p:nvPr/>
        </p:nvSpPr>
        <p:spPr>
          <a:xfrm>
            <a:off x="822960" y="2331720"/>
            <a:ext cx="6309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Insertar citas en el texto y generar la lista de referencias con el estilo correcto.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3"/>
          <p:cNvSpPr/>
          <p:nvPr/>
        </p:nvSpPr>
        <p:spPr>
          <a:xfrm>
            <a:off x="822960" y="324612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Pasos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3"/>
          <p:cNvSpPr/>
          <p:nvPr/>
        </p:nvSpPr>
        <p:spPr>
          <a:xfrm>
            <a:off x="822960" y="3657600"/>
            <a:ext cx="63093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Confirma el estilo de tu facultad (APA o IEEE).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Inserta las citas en el texto desde Zotero/Mendeley.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Genera la lista de referencias automáticamente.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Verifica cada referencia contra la fuente (DOI).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Revisa que toda cita del texto esté en la lista y viceversa.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3"/>
          <p:cNvSpPr/>
          <p:nvPr/>
        </p:nvSpPr>
        <p:spPr>
          <a:xfrm>
            <a:off x="7498080" y="1783080"/>
            <a:ext cx="4023360" cy="2377440"/>
          </a:xfrm>
          <a:prstGeom prst="roundRect">
            <a:avLst>
              <a:gd fmla="val 3462" name="adj"/>
            </a:avLst>
          </a:prstGeom>
          <a:solidFill>
            <a:srgbClr val="E7F0E9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3"/>
          <p:cNvSpPr/>
          <p:nvPr/>
        </p:nvSpPr>
        <p:spPr>
          <a:xfrm>
            <a:off x="7772400" y="19659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Entregable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3"/>
          <p:cNvSpPr/>
          <p:nvPr/>
        </p:nvSpPr>
        <p:spPr>
          <a:xfrm>
            <a:off x="7772400" y="2331720"/>
            <a:ext cx="3520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Marco teórico con citas en el texto + lista de referencias verificada.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3"/>
          <p:cNvSpPr/>
          <p:nvPr/>
        </p:nvSpPr>
        <p:spPr>
          <a:xfrm>
            <a:off x="7498080" y="4343400"/>
            <a:ext cx="4023360" cy="2057400"/>
          </a:xfrm>
          <a:prstGeom prst="roundRect">
            <a:avLst>
              <a:gd fmla="val 4000" name="adj"/>
            </a:avLst>
          </a:prstGeom>
          <a:solidFill>
            <a:srgbClr val="F7E4E3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3"/>
          <p:cNvSpPr/>
          <p:nvPr/>
        </p:nvSpPr>
        <p:spPr>
          <a:xfrm>
            <a:off x="7772400" y="45262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Error común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3"/>
          <p:cNvSpPr/>
          <p:nvPr/>
        </p:nvSpPr>
        <p:spPr>
          <a:xfrm>
            <a:off x="7772400" y="4892040"/>
            <a:ext cx="3520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Citas en el texto que no están en la lista (o al revés); referencias inventadas.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4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LABORATORIO 5 · 18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4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Revisión en capas y estilo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4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fmla="val 16000" name="adj"/>
            </a:avLst>
          </a:prstGeom>
          <a:solidFill>
            <a:srgbClr val="EDEFF2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4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18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4"/>
          <p:cNvSpPr/>
          <p:nvPr/>
        </p:nvSpPr>
        <p:spPr>
          <a:xfrm>
            <a:off x="548640" y="1783080"/>
            <a:ext cx="6766560" cy="4617720"/>
          </a:xfrm>
          <a:prstGeom prst="roundRect">
            <a:avLst>
              <a:gd fmla="val 1782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4"/>
          <p:cNvSpPr/>
          <p:nvPr/>
        </p:nvSpPr>
        <p:spPr>
          <a:xfrm>
            <a:off x="822960" y="196596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4"/>
          <p:cNvSpPr/>
          <p:nvPr/>
        </p:nvSpPr>
        <p:spPr>
          <a:xfrm>
            <a:off x="822960" y="2331720"/>
            <a:ext cx="6309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Mejorar el texto revisando por niveles: contenido, estructura, párrafo, oración y palabra.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4"/>
          <p:cNvSpPr/>
          <p:nvPr/>
        </p:nvSpPr>
        <p:spPr>
          <a:xfrm>
            <a:off x="822960" y="324612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Pasos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4"/>
          <p:cNvSpPr/>
          <p:nvPr/>
        </p:nvSpPr>
        <p:spPr>
          <a:xfrm>
            <a:off x="822960" y="3657600"/>
            <a:ext cx="63093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Capa 1–2: revisa contenido y orden de ideas.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Capa 3: una idea por párrafo, con cierre.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Capa 4: oraciones claras y directas.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Capa 5: términos precisos; elimina muletillas.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Pide a la IA que señale (no reescriba) frases poco claras.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4"/>
          <p:cNvSpPr/>
          <p:nvPr/>
        </p:nvSpPr>
        <p:spPr>
          <a:xfrm>
            <a:off x="7498080" y="1783080"/>
            <a:ext cx="4023360" cy="2377440"/>
          </a:xfrm>
          <a:prstGeom prst="roundRect">
            <a:avLst>
              <a:gd fmla="val 3462" name="adj"/>
            </a:avLst>
          </a:prstGeom>
          <a:solidFill>
            <a:srgbClr val="E7F0E9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4"/>
          <p:cNvSpPr/>
          <p:nvPr/>
        </p:nvSpPr>
        <p:spPr>
          <a:xfrm>
            <a:off x="7772400" y="19659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Entregable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4"/>
          <p:cNvSpPr/>
          <p:nvPr/>
        </p:nvSpPr>
        <p:spPr>
          <a:xfrm>
            <a:off x="7772400" y="2331720"/>
            <a:ext cx="3520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Versión revisada del marco teórico con los cambios aplicados.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4"/>
          <p:cNvSpPr/>
          <p:nvPr/>
        </p:nvSpPr>
        <p:spPr>
          <a:xfrm>
            <a:off x="7498080" y="4343400"/>
            <a:ext cx="4023360" cy="2057400"/>
          </a:xfrm>
          <a:prstGeom prst="roundRect">
            <a:avLst>
              <a:gd fmla="val 4000" name="adj"/>
            </a:avLst>
          </a:prstGeom>
          <a:solidFill>
            <a:srgbClr val="F7E4E3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4"/>
          <p:cNvSpPr/>
          <p:nvPr/>
        </p:nvSpPr>
        <p:spPr>
          <a:xfrm>
            <a:off x="7772400" y="45262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Error común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4"/>
          <p:cNvSpPr/>
          <p:nvPr/>
        </p:nvSpPr>
        <p:spPr>
          <a:xfrm>
            <a:off x="7772400" y="4892040"/>
            <a:ext cx="3520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Corregir comas y palabras antes de arreglar el orden de ideas.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5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LABORATORIO 6 · 12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5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Control de originalidad y detección de IA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5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fmla="val 16000" name="adj"/>
            </a:avLst>
          </a:prstGeom>
          <a:solidFill>
            <a:srgbClr val="EDEFF2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5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12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5"/>
          <p:cNvSpPr/>
          <p:nvPr/>
        </p:nvSpPr>
        <p:spPr>
          <a:xfrm>
            <a:off x="548640" y="1783080"/>
            <a:ext cx="6766560" cy="4617720"/>
          </a:xfrm>
          <a:prstGeom prst="roundRect">
            <a:avLst>
              <a:gd fmla="val 1782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5"/>
          <p:cNvSpPr/>
          <p:nvPr/>
        </p:nvSpPr>
        <p:spPr>
          <a:xfrm>
            <a:off x="822960" y="196596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5"/>
          <p:cNvSpPr/>
          <p:nvPr/>
        </p:nvSpPr>
        <p:spPr>
          <a:xfrm>
            <a:off x="822960" y="2331720"/>
            <a:ext cx="6309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Verificar la originalidad del texto y preparar la declaración de uso de IA.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5"/>
          <p:cNvSpPr/>
          <p:nvPr/>
        </p:nvSpPr>
        <p:spPr>
          <a:xfrm>
            <a:off x="822960" y="324612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Pasos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5"/>
          <p:cNvSpPr/>
          <p:nvPr/>
        </p:nvSpPr>
        <p:spPr>
          <a:xfrm>
            <a:off x="822960" y="3657600"/>
            <a:ext cx="63093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Revisa tu texto contra el patchwriting (¿reformulaste de verdad?).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Si tienes acceso, pasa un reporte de similitud y LEE el detalle.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Ajusta parafraseando mejor y marcando citas.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Redacta tu declaración de uso de IA (qué hiciste tú, qué pulió la IA).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Guarda tus borradores como evidencia del proceso.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5"/>
          <p:cNvSpPr/>
          <p:nvPr/>
        </p:nvSpPr>
        <p:spPr>
          <a:xfrm>
            <a:off x="7498080" y="1783080"/>
            <a:ext cx="4023360" cy="2377440"/>
          </a:xfrm>
          <a:prstGeom prst="roundRect">
            <a:avLst>
              <a:gd fmla="val 3462" name="adj"/>
            </a:avLst>
          </a:prstGeom>
          <a:solidFill>
            <a:srgbClr val="E7F0E9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5"/>
          <p:cNvSpPr/>
          <p:nvPr/>
        </p:nvSpPr>
        <p:spPr>
          <a:xfrm>
            <a:off x="7772400" y="19659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Entregable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5"/>
          <p:cNvSpPr/>
          <p:nvPr/>
        </p:nvSpPr>
        <p:spPr>
          <a:xfrm>
            <a:off x="7772400" y="2331720"/>
            <a:ext cx="3520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Texto revisado + declaración de uso de IA + notas del reporte de similitud.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5"/>
          <p:cNvSpPr/>
          <p:nvPr/>
        </p:nvSpPr>
        <p:spPr>
          <a:xfrm>
            <a:off x="7498080" y="4343400"/>
            <a:ext cx="4023360" cy="2057400"/>
          </a:xfrm>
          <a:prstGeom prst="roundRect">
            <a:avLst>
              <a:gd fmla="val 4000" name="adj"/>
            </a:avLst>
          </a:prstGeom>
          <a:solidFill>
            <a:srgbClr val="F7E4E3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5"/>
          <p:cNvSpPr/>
          <p:nvPr/>
        </p:nvSpPr>
        <p:spPr>
          <a:xfrm>
            <a:off x="7772400" y="45262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Error común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5"/>
          <p:cNvSpPr/>
          <p:nvPr/>
        </p:nvSpPr>
        <p:spPr>
          <a:xfrm>
            <a:off x="7772400" y="4892040"/>
            <a:ext cx="3520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Confiar en el % del reporte sin leer el detalle; usar ‘spinners’ para bajarlo.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6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LABORATORIO 7 · 8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6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Pulido final y evaluación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6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fmla="val 16000" name="adj"/>
            </a:avLst>
          </a:prstGeom>
          <a:solidFill>
            <a:srgbClr val="EDEFF2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6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rPr>
              <a:t>8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6"/>
          <p:cNvSpPr/>
          <p:nvPr/>
        </p:nvSpPr>
        <p:spPr>
          <a:xfrm>
            <a:off x="548640" y="1783080"/>
            <a:ext cx="6766560" cy="4617720"/>
          </a:xfrm>
          <a:prstGeom prst="roundRect">
            <a:avLst>
              <a:gd fmla="val 1782" name="adj"/>
            </a:avLst>
          </a:prstGeom>
          <a:solidFill>
            <a:srgbClr val="EDEFF2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6"/>
          <p:cNvSpPr/>
          <p:nvPr/>
        </p:nvSpPr>
        <p:spPr>
          <a:xfrm>
            <a:off x="822960" y="196596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6"/>
          <p:cNvSpPr/>
          <p:nvPr/>
        </p:nvSpPr>
        <p:spPr>
          <a:xfrm>
            <a:off x="822960" y="2331720"/>
            <a:ext cx="6309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Aplicar el checklist de calidad y demostrar dominio de la redacción con integridad.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6"/>
          <p:cNvSpPr/>
          <p:nvPr/>
        </p:nvSpPr>
        <p:spPr>
          <a:xfrm>
            <a:off x="822960" y="324612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42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1420"/>
                </a:solidFill>
                <a:latin typeface="Arial"/>
                <a:ea typeface="Arial"/>
                <a:cs typeface="Arial"/>
                <a:sym typeface="Arial"/>
              </a:rPr>
              <a:t>Pasos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6"/>
          <p:cNvSpPr/>
          <p:nvPr/>
        </p:nvSpPr>
        <p:spPr>
          <a:xfrm>
            <a:off x="822960" y="3657600"/>
            <a:ext cx="63093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Aplica el checklist de calidad (una idea/párrafo, citas, conectores).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Lee un párrafo en voz alta: ¿se entiende y suena a ti?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Responde las 5 preguntas de la rúbrica.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Entrega tu paquete: Marco Teórico v1 + referencias + declaración.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70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Explica cómo usaste (y no delegaste) la IA.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6"/>
          <p:cNvSpPr/>
          <p:nvPr/>
        </p:nvSpPr>
        <p:spPr>
          <a:xfrm>
            <a:off x="7498080" y="1783080"/>
            <a:ext cx="4023360" cy="2377440"/>
          </a:xfrm>
          <a:prstGeom prst="roundRect">
            <a:avLst>
              <a:gd fmla="val 3462" name="adj"/>
            </a:avLst>
          </a:prstGeom>
          <a:solidFill>
            <a:srgbClr val="E7F0E9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6"/>
          <p:cNvSpPr/>
          <p:nvPr/>
        </p:nvSpPr>
        <p:spPr>
          <a:xfrm>
            <a:off x="7772400" y="19659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Entregable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6"/>
          <p:cNvSpPr/>
          <p:nvPr/>
        </p:nvSpPr>
        <p:spPr>
          <a:xfrm>
            <a:off x="7772400" y="2331720"/>
            <a:ext cx="3520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Marco Teórico v1 pulido + referencias + declaración de uso de IA.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6"/>
          <p:cNvSpPr/>
          <p:nvPr/>
        </p:nvSpPr>
        <p:spPr>
          <a:xfrm>
            <a:off x="7498080" y="4343400"/>
            <a:ext cx="4023360" cy="2057400"/>
          </a:xfrm>
          <a:prstGeom prst="roundRect">
            <a:avLst>
              <a:gd fmla="val 4000" name="adj"/>
            </a:avLst>
          </a:prstGeom>
          <a:solidFill>
            <a:srgbClr val="F7E4E3"/>
          </a:solidFill>
          <a:ln>
            <a:noFill/>
          </a:ln>
          <a:effectLst>
            <a:outerShdw blurRad="76200" rotWithShape="0" algn="bl" dir="5400000" dist="25400">
              <a:srgbClr val="9AA0A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6"/>
          <p:cNvSpPr/>
          <p:nvPr/>
        </p:nvSpPr>
        <p:spPr>
          <a:xfrm>
            <a:off x="7772400" y="45262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Error común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6"/>
          <p:cNvSpPr/>
          <p:nvPr/>
        </p:nvSpPr>
        <p:spPr>
          <a:xfrm>
            <a:off x="7772400" y="4892040"/>
            <a:ext cx="3520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733"/>
                </a:solidFill>
                <a:latin typeface="Arial"/>
                <a:ea typeface="Arial"/>
                <a:cs typeface="Arial"/>
                <a:sym typeface="Arial"/>
              </a:rPr>
              <a:t>Entregar texto que no puedes explicar o defender.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UNIDAD 4 · Redacción académica con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1420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7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uni_fim.png" id="712" name="Google Shape;71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457200"/>
            <a:ext cx="137160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37"/>
          <p:cNvSpPr/>
          <p:nvPr/>
        </p:nvSpPr>
        <p:spPr>
          <a:xfrm>
            <a:off x="640080" y="1371600"/>
            <a:ext cx="9326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“Hoy redacté el Capítulo II de mi tesis.”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7"/>
          <p:cNvSpPr/>
          <p:nvPr/>
        </p:nvSpPr>
        <p:spPr>
          <a:xfrm>
            <a:off x="658368" y="2880360"/>
            <a:ext cx="9052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D6D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3D6DA"/>
                </a:solidFill>
                <a:latin typeface="Arial"/>
                <a:ea typeface="Arial"/>
                <a:cs typeface="Arial"/>
                <a:sym typeface="Arial"/>
              </a:rPr>
              <a:t>Te llevas: tu marco teórico redactado, citado y revisado, con tu voz y tu declaración de uso de IA.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7"/>
          <p:cNvSpPr/>
          <p:nvPr/>
        </p:nvSpPr>
        <p:spPr>
          <a:xfrm>
            <a:off x="658368" y="40690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9C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0C9CE"/>
                </a:solidFill>
                <a:latin typeface="Arial"/>
                <a:ea typeface="Arial"/>
                <a:cs typeface="Arial"/>
                <a:sym typeface="Arial"/>
              </a:rPr>
              <a:t>La IA redacta borradores; 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autor escribe la tesis.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qr_linkedin.png" id="716" name="Google Shape;71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4754880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37"/>
          <p:cNvSpPr/>
          <p:nvPr/>
        </p:nvSpPr>
        <p:spPr>
          <a:xfrm>
            <a:off x="1874520" y="480060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Corina Lazo Arroyo</a:t>
            </a:r>
            <a:b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F3D6DA"/>
                </a:solidFill>
                <a:latin typeface="Arial"/>
                <a:ea typeface="Arial"/>
                <a:cs typeface="Arial"/>
                <a:sym typeface="Arial"/>
              </a:rPr>
              <a:t>linkedin.com/in/corina-lazo-arroyo</a:t>
            </a:r>
            <a:br>
              <a:rPr b="0" i="0" lang="en-US" sz="1400" u="none" cap="none" strike="noStrike">
                <a:solidFill>
                  <a:srgbClr val="F3D6D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F3D6DA"/>
                </a:solidFill>
                <a:latin typeface="Arial"/>
                <a:ea typeface="Arial"/>
                <a:cs typeface="Arial"/>
                <a:sym typeface="Arial"/>
              </a:rPr>
              <a:t>github.com/920052859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7"/>
          <p:cNvSpPr/>
          <p:nvPr/>
        </p:nvSpPr>
        <p:spPr>
          <a:xfrm>
            <a:off x="658368" y="6144768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¡Gracias! Conéctate conmigo — escanea el QR.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