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(30-60 s). Enmarca: la U1 nos dio un agente y una matriz de evidencia; la U2 los convierte en una revisión de literatura de nivel de tesis — el estado del arte que sostiene el Capítulo I (antecedentes) y II (marco teórico) del TSP. Anuncia el producto: una matriz de literatura + diagrama PRISMA + párrafo de estado del arte con el vacío identificado.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 Recuerda el vínculo con la U1 y tu experiencia: en proyectos reales, antes de construir se revisa qué existe. Invita a conectar por LinkedIn. Manten el foco en aprendizaje.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Recupera lo hecho en U1 y proyecta a dónde llegamos hoy. Deja claro el destino en la estructura del TSP: esto no es un ejercicio, es material directo de sus capítulos I y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Fija el contrato de la sesión. El principio 1 combate el error más común: creer que 'juntar papers' es una revisión. El principio 3 es el corazón: toda la revisión existe para justificar la pregunta de tesis con un vacío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empieces definiendo. Muestra el párrafo (suena aceptable) y pide votación. Aterriza: 'esto es lo que muchos entregan como estado del arte'. Deja tensión antes de revelar por qué falla.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Revela las carencias una a una (sin citas, sin comparación, sin gap). Contrapón la definición operativa de revisión. Esta es la brecha que el resto de la sesión cierra con método.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Da el mapa; enfatiza la proporción 40/60. Señala el producto final concreto. Promete utilidad directa para Cap I y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Distinción clave que confunde a casi todos. Antecedentes = estudios puntuales muy cercanos (los 3-5 del TSP). Marco teórico = teorías y conceptos. Estado del arte = frontera del conocimiento + vacío. Todos salen de revisar bien la literatura. Da un ejemplo de su dominio.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Ubica los cuatro tipos. La mayoría de tesistas hace narrativa sin saberlo (y con sesgo). Recomienda la sistemática ligera: no necesitan una revisión Cochrane, pero sí protocolo y reproducibilidad. Menciona VOSviewer para quienes quieran mapas de citación.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El error inicial: buscar un tema, no una pregunta. Muestra el contraste. La pregunta determina los criterios de inclusión más adelante. Pide que esbocen su propia pregunta (lo harán en el LAB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PICOC descompone la pregunta en bloques que se vuelven términos de búsqueda. Alternativa para preguntas cualitativas: SPIDER. Recorre el ejemplo ferroviario. Cada fila alimentará la cadena booleana del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De cada concepto PICOC salen sinónimos, siglas y traducciones. Insiste en el inglés: Scopus/WoS/IEEE son mayoritariamente en inglés. Estos grupos se unirán con OR y entre sí con AND (siguiente bloque).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Operadores booleanos: AND acota, OR amplía sinónimos, NOT excluye, comillas fijan frase, asterisco trunca raíces. Son universales en Scopus/WoS/IEEE. En el LAB 2 arman su cadena con estos ladrillos.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Disecciona la cadena: sinónimos con OR dentro de paréntesis, conceptos con AND, truncamiento. Enséñales a iterar: si trae demasiado, agrega AND o un NOT; si trae poco, agrega OR o quita un AND. Este es el entregable central del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Presenta las bases y su fortaleza. Menciona el acceso institucional de la UNI. Google Scholar amplio pero incluye lo no revisado: úsalo para descubrir, verifica en la base curada. Menciona SciELO/Redalyc para producción regional.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 min. Estas herramientas encuentran lo que una búsqueda booleana no ve (papers seminales por citación, trabajos relacionados). Pero repiten el riesgo de U1: pueden sugerir referencias inexactas. Se verifica siempre en Scopus/WoS y con DOI. En el LAB 3 amplían su corpus con ellas.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3-4 min. PRISMA es el estándar para hacer el cribado transparente y reproducible. Recorre las 4 fases con los números de ejemplo (que se van reduciendo). El diagrama con tus propios números va como figura en tu tesis y demuestra rigor. Lo completan en el LAB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Los criterios se definen ANTES de cribar (para no sesgar). Deben derivarse de la pregunta PICOC. Enfatiza los últimos: excluir retractados y depredadoras (Bloque G). En el LAB 4 fijan sus propios criterios.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Retoma los gestores de U1, ahora para volumen. La deduplicación es crítica: las bases se solapan. Etiquetar con motivo de exclusión alimenta el PRISMA. Todo termina citándose en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La matriz convierte papers en argumento. Insiste en leerla por columnas: así emergen tendencias, contradicciones y vacíos. Es directamente la tabla de antecedentes del TSP. La llenan en el LAB 5 con su agente, verificando cada celda.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Cuatro formas típicas de vacío. El gap debe salir de la evidencia de la matriz, no de una corazonada. Da la fórmula del párrafo de justificación. En el LAB 6 redactan ese párrafo con el agente y lo verifican.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 min. Muestra el hilo completo: de las fuentes al 'por qué mi tesis'. Cierra el bloque F conectando todo con la estructura del TSP. Transición al bloque de calidad e integridad.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Cuartiles (SJR en Scimago, JCR en WoS) miden el prestigio relativo de la revista. Para antecedentes de tesis, prioriza Q1-Q2. No es absoluto, pero es una señal de calidad. Lo verifican en el LAB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Dos trampas frecuentes. Depredadoras: publican cualquier cosa por dinero; su presencia en tu bibliografía baja tu credibilidad. Retractados: fueron retirados pero siguen indexados; citarlos es un error grave. Herramientas: Scimago/índice y Retraction Watch. Verificación en LAB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min. Semáforo aplicado a la revisión. El pecado capital: citar lo que no leíste (la IA te da un resumen y lo citas como si lo hubieras leído). AMARILLO domina: usar IA para acelerar, pero verificar cita textual, DOI y cuartil. ROJO puede costar la titulación.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30-60 s. Frase-bisagra. Pide laptop, acceso a bases (Scopus/WoS), su agente de U1 y su pregunta. A partir de aquí eres facilitador.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min. Mapa del laboratorio. Los LAB 4 y 5 (PRISMA y matriz) son el corazón y llevan más tiempo. Cada estación deja evidencia en la hoja de laboratorio. Reloj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Base de todo. Circula ayudando a acotar. Verifica que cada estudiante tenga una pregunta y al menos 3 conceptos con sinónimos EN/ES antes de avanzar. Estas palabras alimentan el LAB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 El entregable central. Muestra cómo iterar: demasiados resultados → acota; muy pocos → amplía. Registrar la cadena y el conteo es lo que hace la búsqueda reproducible (va en la 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 min. Estas herramientas encuentran lo que la booleana no ve. Insiste en la regla de U1: verificar en base indexada y DOI. El grafo de Connected Papers suele revelar el paper seminal que todos citan.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 corazón 1. Los criterios van ANTES de cribar. El diagrama PRISMA con sus números es una figura de la tesis que demuestra rigor. Circula revisando que los motivos de exclusión sean consistentes con los criterios.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 min — corazón 2. Reutilizan el agente de U1 para acelerar, pero verifican cada celda. La lectura por columnas es lo que transforma la lista en argumento. Esta matriz es la tabla de antecedentes del TSP.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min. Aquí se cosecha todo: el vacío debe salir de la matriz, no inventarse. El agente redacta, pero el estudiante verifica cada cita. El párrafo es material directo del Cap. II / justificación del TSP.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min. Cierre de calidad e integridad. Aplica el checklist de la rúbrica. Lo esencial: que puedan defender cada fuente (cuartil, no retractada, DOI) y explicar su vacío con la matriz. Reconoce el avance real en Cap I y 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(1-2 min). Refuerza el logro: hoy no reunieron papers, construyeron un argumento con un vacío demostrado. Repite las frases-ancla. Invita a conectar. Recuerda entregar el paquete. Adelanta la siguiente unidad si aplica (redacción / análisis de datos).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image" Target="../media/image-35-2.png"/><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7A1420"/>
        </a:solidFill>
      </p:bgPr>
    </p:bg>
    <p:spTree>
      <p:nvGrpSpPr>
        <p:cNvPr id="1" name=""/>
        <p:cNvGrpSpPr/>
        <p:nvPr/>
      </p:nvGrpSpPr>
      <p:grpSpPr>
        <a:xfrm>
          <a:off x="0" y="0"/>
          <a:ext cx="0" cy="0"/>
          <a:chOff x="0" y="0"/>
          <a:chExt cx="0" cy="0"/>
        </a:xfrm>
      </p:grpSpPr>
      <p:sp>
        <p:nvSpPr>
          <p:cNvPr id="2" name="Shape 0"/>
          <p:cNvSpPr/>
          <p:nvPr/>
        </p:nvSpPr>
        <p:spPr>
          <a:xfrm>
            <a:off x="0" y="5989320"/>
            <a:ext cx="12188952" cy="868680"/>
          </a:xfrm>
          <a:prstGeom prst="rect">
            <a:avLst/>
          </a:prstGeom>
          <a:solidFill>
            <a:srgbClr val="13294B"/>
          </a:solidFill>
          <a:ln/>
        </p:spPr>
      </p:sp>
      <p:pic>
        <p:nvPicPr>
          <p:cNvPr id="3" name="Image 0" descr="img/uni_fim.png">    </p:cNvPr>
          <p:cNvPicPr>
            <a:picLocks noChangeAspect="1"/>
          </p:cNvPicPr>
          <p:nvPr/>
        </p:nvPicPr>
        <p:blipFill>
          <a:blip r:embed="rId1"/>
          <a:stretch>
            <a:fillRect/>
          </a:stretch>
        </p:blipFill>
        <p:spPr>
          <a:xfrm>
            <a:off x="10195560" y="411480"/>
            <a:ext cx="1463040" cy="1874520"/>
          </a:xfrm>
          <a:prstGeom prst="rect">
            <a:avLst/>
          </a:prstGeom>
        </p:spPr>
      </p:pic>
      <p:sp>
        <p:nvSpPr>
          <p:cNvPr id="4" name="Text 1"/>
          <p:cNvSpPr/>
          <p:nvPr/>
        </p:nvSpPr>
        <p:spPr>
          <a:xfrm>
            <a:off x="640080" y="685800"/>
            <a:ext cx="8961120" cy="365760"/>
          </a:xfrm>
          <a:prstGeom prst="rect">
            <a:avLst/>
          </a:prstGeom>
          <a:noFill/>
          <a:ln/>
        </p:spPr>
        <p:txBody>
          <a:bodyPr wrap="square" lIns="0" tIns="0" rIns="0" bIns="0" rtlCol="0" anchor="ctr"/>
          <a:lstStyle/>
          <a:p>
            <a:pPr indent="0" marL="0">
              <a:buNone/>
            </a:pPr>
            <a:r>
              <a:rPr lang="en-US" sz="1300" b="1" spc="100" kern="0" dirty="0">
                <a:solidFill>
                  <a:srgbClr val="F0C9CE"/>
                </a:solidFill>
                <a:latin typeface="Arial" pitchFamily="34" charset="0"/>
                <a:ea typeface="Arial" pitchFamily="34" charset="-122"/>
                <a:cs typeface="Arial" pitchFamily="34" charset="-120"/>
              </a:rPr>
              <a:t>UNIVERSIDAD NACIONAL DE INGENIERÍA  ·  FACULTAD DE INGENIERÍA MECÁNICA</a:t>
            </a:r>
            <a:endParaRPr lang="en-US" sz="1300" dirty="0"/>
          </a:p>
        </p:txBody>
      </p:sp>
      <p:sp>
        <p:nvSpPr>
          <p:cNvPr id="5" name="Text 2"/>
          <p:cNvSpPr/>
          <p:nvPr/>
        </p:nvSpPr>
        <p:spPr>
          <a:xfrm>
            <a:off x="640080" y="1051560"/>
            <a:ext cx="8229600" cy="320040"/>
          </a:xfrm>
          <a:prstGeom prst="rect">
            <a:avLst/>
          </a:prstGeom>
          <a:noFill/>
          <a:ln/>
        </p:spPr>
        <p:txBody>
          <a:bodyPr wrap="square" lIns="0" tIns="0" rIns="0" bIns="0" rtlCol="0" anchor="ctr"/>
          <a:lstStyle/>
          <a:p>
            <a:pPr indent="0" marL="0">
              <a:buNone/>
            </a:pPr>
            <a:r>
              <a:rPr lang="en-US" sz="1200" spc="300" kern="0" dirty="0">
                <a:solidFill>
                  <a:srgbClr val="E4A9B0"/>
                </a:solidFill>
                <a:latin typeface="Arial" pitchFamily="34" charset="0"/>
                <a:ea typeface="Arial" pitchFamily="34" charset="-122"/>
                <a:cs typeface="Arial" pitchFamily="34" charset="-120"/>
              </a:rPr>
              <a:t>TITULACIÓN PROFESIONAL 2026</a:t>
            </a:r>
            <a:endParaRPr lang="en-US" sz="1200" dirty="0"/>
          </a:p>
        </p:txBody>
      </p:sp>
      <p:sp>
        <p:nvSpPr>
          <p:cNvPr id="6" name="Text 3"/>
          <p:cNvSpPr/>
          <p:nvPr/>
        </p:nvSpPr>
        <p:spPr>
          <a:xfrm>
            <a:off x="640080" y="2011680"/>
            <a:ext cx="10607040" cy="16459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Revisión de literatura y estado del arte asistidos por IA</a:t>
            </a:r>
            <a:endParaRPr lang="en-US" sz="4000" dirty="0"/>
          </a:p>
        </p:txBody>
      </p:sp>
      <p:sp>
        <p:nvSpPr>
          <p:cNvPr id="7" name="Text 4"/>
          <p:cNvSpPr/>
          <p:nvPr/>
        </p:nvSpPr>
        <p:spPr>
          <a:xfrm>
            <a:off x="658368" y="3977640"/>
            <a:ext cx="10515600" cy="822960"/>
          </a:xfrm>
          <a:prstGeom prst="rect">
            <a:avLst/>
          </a:prstGeom>
          <a:noFill/>
          <a:ln/>
        </p:spPr>
        <p:txBody>
          <a:bodyPr wrap="square" lIns="0" tIns="0" rIns="0" bIns="0" rtlCol="0" anchor="ctr"/>
          <a:lstStyle/>
          <a:p>
            <a:pPr indent="0" marL="0">
              <a:buNone/>
            </a:pPr>
            <a:r>
              <a:rPr lang="en-US" sz="2000" b="1" dirty="0">
                <a:solidFill>
                  <a:srgbClr val="FFFFFF"/>
                </a:solidFill>
                <a:latin typeface="Arial" pitchFamily="34" charset="0"/>
                <a:ea typeface="Arial" pitchFamily="34" charset="-122"/>
                <a:cs typeface="Arial" pitchFamily="34" charset="-120"/>
              </a:rPr>
              <a:t>UNIDAD 2 — </a:t>
            </a:r>
            <a:pPr indent="0" marL="0">
              <a:buNone/>
            </a:pPr>
            <a:r>
              <a:rPr lang="en-US" sz="2000" dirty="0">
                <a:solidFill>
                  <a:srgbClr val="F3D6DA"/>
                </a:solidFill>
                <a:latin typeface="Arial" pitchFamily="34" charset="0"/>
                <a:ea typeface="Arial" pitchFamily="34" charset="-122"/>
                <a:cs typeface="Arial" pitchFamily="34" charset="-120"/>
              </a:rPr>
              <a:t>Del corpus al argumento: antecedentes y marco teórico de tu tesis</a:t>
            </a:r>
            <a:endParaRPr lang="en-US" sz="2000" dirty="0"/>
          </a:p>
        </p:txBody>
      </p:sp>
      <p:sp>
        <p:nvSpPr>
          <p:cNvPr id="8" name="Text 5"/>
          <p:cNvSpPr/>
          <p:nvPr/>
        </p:nvSpPr>
        <p:spPr>
          <a:xfrm>
            <a:off x="658368" y="6144768"/>
            <a:ext cx="109728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180 minutos  ·  40% teoría  +  60% laboratorio  ·  Producto final: “Mi Revisión de Literatura v1”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97680" cy="6858000"/>
          </a:xfrm>
          <a:prstGeom prst="rect">
            <a:avLst/>
          </a:prstGeom>
          <a:solidFill>
            <a:srgbClr val="13294B"/>
          </a:solidFill>
          <a:ln/>
        </p:spPr>
      </p:sp>
      <p:sp>
        <p:nvSpPr>
          <p:cNvPr id="3" name="Text 1"/>
          <p:cNvSpPr/>
          <p:nvPr/>
        </p:nvSpPr>
        <p:spPr>
          <a:xfrm>
            <a:off x="502920" y="640080"/>
            <a:ext cx="3474720" cy="320040"/>
          </a:xfrm>
          <a:prstGeom prst="rect">
            <a:avLst/>
          </a:prstGeom>
          <a:noFill/>
          <a:ln/>
        </p:spPr>
        <p:txBody>
          <a:bodyPr wrap="square" lIns="0" tIns="0" rIns="0" bIns="0" rtlCol="0" anchor="ctr"/>
          <a:lstStyle/>
          <a:p>
            <a:pPr indent="0" marL="0">
              <a:buNone/>
            </a:pPr>
            <a:r>
              <a:rPr lang="en-US" sz="1300" b="1" spc="300" kern="0" dirty="0">
                <a:solidFill>
                  <a:srgbClr val="9FB4D0"/>
                </a:solidFill>
                <a:latin typeface="Arial" pitchFamily="34" charset="0"/>
                <a:ea typeface="Arial" pitchFamily="34" charset="-122"/>
                <a:cs typeface="Arial" pitchFamily="34" charset="-120"/>
              </a:rPr>
              <a:t>DOCENTE</a:t>
            </a:r>
            <a:endParaRPr lang="en-US" sz="1300" dirty="0"/>
          </a:p>
        </p:txBody>
      </p:sp>
      <p:sp>
        <p:nvSpPr>
          <p:cNvPr id="4" name="Text 2"/>
          <p:cNvSpPr/>
          <p:nvPr/>
        </p:nvSpPr>
        <p:spPr>
          <a:xfrm>
            <a:off x="457200" y="960120"/>
            <a:ext cx="3657600" cy="1005840"/>
          </a:xfrm>
          <a:prstGeom prst="rect">
            <a:avLst/>
          </a:prstGeom>
          <a:noFill/>
          <a:ln/>
        </p:spPr>
        <p:txBody>
          <a:bodyPr wrap="square" lIns="0" tIns="0" rIns="0" bIns="0" rtlCol="0" anchor="ctr"/>
          <a:lstStyle/>
          <a:p>
            <a:pPr indent="0" marL="0">
              <a:buNone/>
            </a:pPr>
            <a:r>
              <a:rPr lang="en-US" sz="2800" b="1" dirty="0">
                <a:solidFill>
                  <a:srgbClr val="FFFFFF"/>
                </a:solidFill>
                <a:latin typeface="Arial" pitchFamily="34" charset="0"/>
                <a:ea typeface="Arial" pitchFamily="34" charset="-122"/>
                <a:cs typeface="Arial" pitchFamily="34" charset="-120"/>
              </a:rPr>
              <a:t>Corina Lazo Arroyo</a:t>
            </a:r>
            <a:endParaRPr lang="en-US" sz="2800" dirty="0"/>
          </a:p>
        </p:txBody>
      </p:sp>
      <p:sp>
        <p:nvSpPr>
          <p:cNvPr id="5" name="Text 3"/>
          <p:cNvSpPr/>
          <p:nvPr/>
        </p:nvSpPr>
        <p:spPr>
          <a:xfrm>
            <a:off x="502920" y="2057400"/>
            <a:ext cx="3566160" cy="1463040"/>
          </a:xfrm>
          <a:prstGeom prst="rect">
            <a:avLst/>
          </a:prstGeom>
          <a:noFill/>
          <a:ln/>
        </p:spPr>
        <p:txBody>
          <a:bodyPr wrap="square" lIns="0" tIns="0" rIns="0" bIns="0" rtlCol="0" anchor="ctr"/>
          <a:lstStyle/>
          <a:p>
            <a:pPr indent="0" marL="0">
              <a:lnSpc>
                <a:spcPct val="115000"/>
              </a:lnSpc>
              <a:buNone/>
            </a:pPr>
            <a:r>
              <a:rPr lang="en-US" sz="1350" b="1" dirty="0">
                <a:solidFill>
                  <a:srgbClr val="DCE6F2"/>
                </a:solidFill>
                <a:latin typeface="Arial" pitchFamily="34" charset="0"/>
                <a:ea typeface="Arial" pitchFamily="34" charset="-122"/>
                <a:cs typeface="Arial" pitchFamily="34" charset="-120"/>
              </a:rPr>
              <a:t>Ing. Mecatrónica — UNI
</a:t>
            </a:r>
            <a:pPr indent="0" marL="0">
              <a:lnSpc>
                <a:spcPct val="115000"/>
              </a:lnSpc>
              <a:buNone/>
            </a:pPr>
            <a:r>
              <a:rPr lang="en-US" sz="1350" dirty="0">
                <a:solidFill>
                  <a:srgbClr val="DCE6F2"/>
                </a:solidFill>
                <a:latin typeface="Arial" pitchFamily="34" charset="0"/>
                <a:ea typeface="Arial" pitchFamily="34" charset="-122"/>
                <a:cs typeface="Arial" pitchFamily="34" charset="-120"/>
              </a:rPr>
              <a:t>Doctoranda en Ciencia de Datos — UNSA
</a:t>
            </a:r>
            <a:pPr indent="0" marL="0">
              <a:lnSpc>
                <a:spcPct val="115000"/>
              </a:lnSpc>
              <a:buNone/>
            </a:pPr>
            <a:r>
              <a:rPr lang="en-US" sz="1350" dirty="0">
                <a:solidFill>
                  <a:srgbClr val="DCE6F2"/>
                </a:solidFill>
                <a:latin typeface="Arial" pitchFamily="34" charset="0"/>
                <a:ea typeface="Arial" pitchFamily="34" charset="-122"/>
                <a:cs typeface="Arial" pitchFamily="34" charset="-120"/>
              </a:rPr>
              <a:t>MSc. Gerencia de Proyectos — ESAN</a:t>
            </a:r>
            <a:endParaRPr lang="en-US" sz="1350" dirty="0"/>
          </a:p>
        </p:txBody>
      </p:sp>
      <p:pic>
        <p:nvPicPr>
          <p:cNvPr id="6" name="Image 0" descr="img/qr_linkedin.png">    </p:cNvPr>
          <p:cNvPicPr>
            <a:picLocks noChangeAspect="1"/>
          </p:cNvPicPr>
          <p:nvPr/>
        </p:nvPicPr>
        <p:blipFill>
          <a:blip r:embed="rId1"/>
          <a:stretch>
            <a:fillRect/>
          </a:stretch>
        </p:blipFill>
        <p:spPr>
          <a:xfrm>
            <a:off x="1051560" y="3977640"/>
            <a:ext cx="1737360" cy="1737360"/>
          </a:xfrm>
          <a:prstGeom prst="rect">
            <a:avLst/>
          </a:prstGeom>
        </p:spPr>
      </p:pic>
      <p:sp>
        <p:nvSpPr>
          <p:cNvPr id="7" name="Text 4"/>
          <p:cNvSpPr/>
          <p:nvPr/>
        </p:nvSpPr>
        <p:spPr>
          <a:xfrm>
            <a:off x="502920" y="5760720"/>
            <a:ext cx="3566160" cy="320040"/>
          </a:xfrm>
          <a:prstGeom prst="rect">
            <a:avLst/>
          </a:prstGeom>
          <a:noFill/>
          <a:ln/>
        </p:spPr>
        <p:txBody>
          <a:bodyPr wrap="square" lIns="0" tIns="0" rIns="0" bIns="0" rtlCol="0" anchor="ctr"/>
          <a:lstStyle/>
          <a:p>
            <a:pPr algn="ctr" indent="0" marL="0">
              <a:buNone/>
            </a:pPr>
            <a:r>
              <a:rPr lang="en-US" sz="1200" i="1" dirty="0">
                <a:solidFill>
                  <a:srgbClr val="BFD0E6"/>
                </a:solidFill>
                <a:latin typeface="Arial" pitchFamily="34" charset="0"/>
                <a:ea typeface="Arial" pitchFamily="34" charset="-122"/>
                <a:cs typeface="Arial" pitchFamily="34" charset="-120"/>
              </a:rPr>
              <a:t>Escanéame → LinkedIn</a:t>
            </a:r>
            <a:endParaRPr lang="en-US" sz="1200" dirty="0"/>
          </a:p>
        </p:txBody>
      </p:sp>
      <p:sp>
        <p:nvSpPr>
          <p:cNvPr id="8" name="Text 5"/>
          <p:cNvSpPr/>
          <p:nvPr/>
        </p:nvSpPr>
        <p:spPr>
          <a:xfrm>
            <a:off x="4709160" y="822960"/>
            <a:ext cx="6949440" cy="914400"/>
          </a:xfrm>
          <a:prstGeom prst="rect">
            <a:avLst/>
          </a:prstGeom>
          <a:noFill/>
          <a:ln/>
        </p:spPr>
        <p:txBody>
          <a:bodyPr wrap="square" lIns="0" tIns="0" rIns="0" bIns="0" rtlCol="0" anchor="ctr"/>
          <a:lstStyle/>
          <a:p>
            <a:pPr indent="0" marL="0">
              <a:buNone/>
            </a:pPr>
            <a:r>
              <a:rPr lang="en-US" sz="2300" b="1" dirty="0">
                <a:solidFill>
                  <a:srgbClr val="7A1420"/>
                </a:solidFill>
                <a:latin typeface="Arial" pitchFamily="34" charset="0"/>
                <a:ea typeface="Arial" pitchFamily="34" charset="-122"/>
                <a:cs typeface="Arial" pitchFamily="34" charset="-120"/>
              </a:rPr>
              <a:t>Investigar es construir un argumento con evidencia</a:t>
            </a:r>
            <a:endParaRPr lang="en-US" sz="2300" dirty="0"/>
          </a:p>
        </p:txBody>
      </p:sp>
      <p:sp>
        <p:nvSpPr>
          <p:cNvPr id="9" name="Text 6"/>
          <p:cNvSpPr/>
          <p:nvPr/>
        </p:nvSpPr>
        <p:spPr>
          <a:xfrm>
            <a:off x="4709160" y="1737360"/>
            <a:ext cx="6903720" cy="146304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En mis proyectos de datos e ingeniería (Hitachi Rail, REP, Siemens) la pregunta siempre es la misma: ¿qué ya se sabe, quién lo demostró y qué falta por resolver? Eso es el estado del arte. Hoy lo construimos con método y con IA — sin perder el criterio.</a:t>
            </a:r>
            <a:endParaRPr lang="en-US" sz="1400" dirty="0"/>
          </a:p>
        </p:txBody>
      </p:sp>
      <p:sp>
        <p:nvSpPr>
          <p:cNvPr id="10" name="Shape 7"/>
          <p:cNvSpPr/>
          <p:nvPr/>
        </p:nvSpPr>
        <p:spPr>
          <a:xfrm>
            <a:off x="4709160" y="3337560"/>
            <a:ext cx="6903720" cy="822960"/>
          </a:xfrm>
          <a:prstGeom prst="roundRect">
            <a:avLst>
              <a:gd name="adj" fmla="val 10000"/>
            </a:avLst>
          </a:prstGeom>
          <a:solidFill>
            <a:srgbClr val="EDEFF2"/>
          </a:solidFill>
          <a:ln/>
          <a:effectLst>
            <a:outerShdw sx="100000" sy="100000" kx="0" ky="0" algn="bl" rotWithShape="0" blurRad="76200" dist="25400" dir="5400000">
              <a:srgbClr val="9AA0A6">
                <a:alpha val="35000"/>
              </a:srgbClr>
            </a:outerShdw>
          </a:effectLst>
        </p:spPr>
      </p:sp>
      <p:sp>
        <p:nvSpPr>
          <p:cNvPr id="11" name="Text 8"/>
          <p:cNvSpPr/>
          <p:nvPr/>
        </p:nvSpPr>
        <p:spPr>
          <a:xfrm>
            <a:off x="4983480" y="3337560"/>
            <a:ext cx="6400800" cy="822960"/>
          </a:xfrm>
          <a:prstGeom prst="rect">
            <a:avLst/>
          </a:prstGeom>
          <a:noFill/>
          <a:ln/>
        </p:spPr>
        <p:txBody>
          <a:bodyPr wrap="square" lIns="0" tIns="0" rIns="0" bIns="0" rtlCol="0" anchor="ctr"/>
          <a:lstStyle/>
          <a:p>
            <a:pPr indent="0" marL="0">
              <a:buNone/>
            </a:pPr>
            <a:r>
              <a:rPr lang="en-US" sz="1300" b="1" dirty="0">
                <a:solidFill>
                  <a:srgbClr val="13294B"/>
                </a:solidFill>
                <a:latin typeface="Arial" pitchFamily="34" charset="0"/>
                <a:ea typeface="Arial" pitchFamily="34" charset="-122"/>
                <a:cs typeface="Arial" pitchFamily="34" charset="-120"/>
              </a:rPr>
              <a:t>LinkedIn  </a:t>
            </a:r>
            <a:pPr indent="0" marL="0">
              <a:buNone/>
            </a:pPr>
            <a:r>
              <a:rPr lang="en-US" sz="1400" dirty="0">
                <a:solidFill>
                  <a:srgbClr val="1F2733"/>
                </a:solidFill>
                <a:latin typeface="Arial" pitchFamily="34" charset="0"/>
                <a:ea typeface="Arial" pitchFamily="34" charset="-122"/>
                <a:cs typeface="Arial" pitchFamily="34" charset="-120"/>
              </a:rPr>
              <a:t>linkedin.com/in/corina-lazo-arroyo</a:t>
            </a:r>
            <a:endParaRPr lang="en-US" sz="1300" dirty="0"/>
          </a:p>
        </p:txBody>
      </p:sp>
      <p:sp>
        <p:nvSpPr>
          <p:cNvPr id="12" name="Shape 9"/>
          <p:cNvSpPr/>
          <p:nvPr/>
        </p:nvSpPr>
        <p:spPr>
          <a:xfrm>
            <a:off x="4709160" y="4251960"/>
            <a:ext cx="6903720" cy="822960"/>
          </a:xfrm>
          <a:prstGeom prst="roundRect">
            <a:avLst>
              <a:gd name="adj" fmla="val 10000"/>
            </a:avLst>
          </a:prstGeom>
          <a:solidFill>
            <a:srgbClr val="EDEFF2"/>
          </a:solidFill>
          <a:ln/>
          <a:effectLst>
            <a:outerShdw sx="100000" sy="100000" kx="0" ky="0" algn="bl" rotWithShape="0" blurRad="76200" dist="25400" dir="5400000">
              <a:srgbClr val="9AA0A6">
                <a:alpha val="35000"/>
              </a:srgbClr>
            </a:outerShdw>
          </a:effectLst>
        </p:spPr>
      </p:sp>
      <p:sp>
        <p:nvSpPr>
          <p:cNvPr id="13" name="Text 10"/>
          <p:cNvSpPr/>
          <p:nvPr/>
        </p:nvSpPr>
        <p:spPr>
          <a:xfrm>
            <a:off x="4983480" y="4251960"/>
            <a:ext cx="6400800" cy="822960"/>
          </a:xfrm>
          <a:prstGeom prst="rect">
            <a:avLst/>
          </a:prstGeom>
          <a:noFill/>
          <a:ln/>
        </p:spPr>
        <p:txBody>
          <a:bodyPr wrap="square" lIns="0" tIns="0" rIns="0" bIns="0" rtlCol="0" anchor="ctr"/>
          <a:lstStyle/>
          <a:p>
            <a:pPr indent="0" marL="0">
              <a:buNone/>
            </a:pPr>
            <a:r>
              <a:rPr lang="en-US" sz="1300" b="1" dirty="0">
                <a:solidFill>
                  <a:srgbClr val="13294B"/>
                </a:solidFill>
                <a:latin typeface="Arial" pitchFamily="34" charset="0"/>
                <a:ea typeface="Arial" pitchFamily="34" charset="-122"/>
                <a:cs typeface="Arial" pitchFamily="34" charset="-120"/>
              </a:rPr>
              <a:t>GitHub  </a:t>
            </a:r>
            <a:pPr indent="0" marL="0">
              <a:buNone/>
            </a:pPr>
            <a:r>
              <a:rPr lang="en-US" sz="1400" dirty="0">
                <a:solidFill>
                  <a:srgbClr val="1F2733"/>
                </a:solidFill>
                <a:latin typeface="Arial" pitchFamily="34" charset="0"/>
                <a:ea typeface="Arial" pitchFamily="34" charset="-122"/>
                <a:cs typeface="Arial" pitchFamily="34" charset="-120"/>
              </a:rPr>
              <a:t>github.com/920052859</a:t>
            </a:r>
            <a:endParaRPr lang="en-US" sz="1300" dirty="0"/>
          </a:p>
        </p:txBody>
      </p:sp>
      <p:sp>
        <p:nvSpPr>
          <p:cNvPr id="14" name="Shape 11"/>
          <p:cNvSpPr/>
          <p:nvPr/>
        </p:nvSpPr>
        <p:spPr>
          <a:xfrm>
            <a:off x="4709160" y="5166360"/>
            <a:ext cx="6903720" cy="960120"/>
          </a:xfrm>
          <a:prstGeom prst="roundRect">
            <a:avLst>
              <a:gd name="adj" fmla="val 8571"/>
            </a:avLst>
          </a:prstGeom>
          <a:solidFill>
            <a:srgbClr val="F3E1E4"/>
          </a:solidFill>
          <a:ln/>
        </p:spPr>
      </p:sp>
      <p:sp>
        <p:nvSpPr>
          <p:cNvPr id="15" name="Text 12"/>
          <p:cNvSpPr/>
          <p:nvPr/>
        </p:nvSpPr>
        <p:spPr>
          <a:xfrm>
            <a:off x="4983480" y="5166360"/>
            <a:ext cx="6400800" cy="960120"/>
          </a:xfrm>
          <a:prstGeom prst="rect">
            <a:avLst/>
          </a:prstGeom>
          <a:noFill/>
          <a:ln/>
        </p:spPr>
        <p:txBody>
          <a:bodyPr wrap="square" lIns="0" tIns="0" rIns="0" bIns="0" rtlCol="0" anchor="ctr"/>
          <a:lstStyle/>
          <a:p>
            <a:pPr indent="0" marL="0">
              <a:buNone/>
            </a:pPr>
            <a:r>
              <a:rPr lang="en-US" sz="1500" b="1" i="1" dirty="0">
                <a:solidFill>
                  <a:srgbClr val="7A1420"/>
                </a:solidFill>
                <a:latin typeface="Arial" pitchFamily="34" charset="0"/>
                <a:ea typeface="Arial" pitchFamily="34" charset="-122"/>
                <a:cs typeface="Arial" pitchFamily="34" charset="-120"/>
              </a:rPr>
              <a:t>“El objetivo no es la nota: es que su revisión resista al jurado.”</a:t>
            </a:r>
            <a:endParaRPr lang="en-US" sz="1500" dirty="0"/>
          </a:p>
        </p:txBody>
      </p:sp>
      <p:sp>
        <p:nvSpPr>
          <p:cNvPr id="16" name="Text 1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7" name="Text 14"/>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RETOMAMOS</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 tu agente a tu estado del arte</a:t>
            </a:r>
            <a:endParaRPr lang="en-US" sz="3000" dirty="0"/>
          </a:p>
        </p:txBody>
      </p:sp>
      <p:sp>
        <p:nvSpPr>
          <p:cNvPr id="4" name="Shape 2"/>
          <p:cNvSpPr/>
          <p:nvPr/>
        </p:nvSpPr>
        <p:spPr>
          <a:xfrm>
            <a:off x="548640" y="1783080"/>
            <a:ext cx="5394960" cy="4023360"/>
          </a:xfrm>
          <a:prstGeom prst="roundRect">
            <a:avLst>
              <a:gd name="adj" fmla="val 2045"/>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822960" y="2011680"/>
            <a:ext cx="4846320" cy="365760"/>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Ya tienes (Unidad 1)</a:t>
            </a:r>
            <a:endParaRPr lang="en-US" sz="1600" dirty="0"/>
          </a:p>
        </p:txBody>
      </p:sp>
      <p:sp>
        <p:nvSpPr>
          <p:cNvPr id="6" name="Text 4"/>
          <p:cNvSpPr/>
          <p:nvPr/>
        </p:nvSpPr>
        <p:spPr>
          <a:xfrm>
            <a:off x="822960" y="2468880"/>
            <a:ext cx="4892040" cy="3108960"/>
          </a:xfrm>
          <a:prstGeom prst="rect">
            <a:avLst/>
          </a:prstGeom>
          <a:noFill/>
          <a:ln/>
        </p:spPr>
        <p:txBody>
          <a:bodyPr wrap="square" lIns="0" tIns="0" rIns="0" bIns="0" rtlCol="0" anchor="ctr"/>
          <a:lstStyle/>
          <a:p>
            <a:pPr marL="203200" indent="-203200">
              <a:lnSpc>
                <a:spcPct val="150000"/>
              </a:lnSpc>
              <a:buSzPct val="100000"/>
              <a:buChar char="✓"/>
            </a:pPr>
            <a:r>
              <a:rPr lang="en-US" sz="1450" dirty="0">
                <a:solidFill>
                  <a:srgbClr val="1F2733"/>
                </a:solidFill>
                <a:latin typeface="Arial" pitchFamily="34" charset="0"/>
                <a:ea typeface="Arial" pitchFamily="34" charset="-122"/>
                <a:cs typeface="Arial" pitchFamily="34" charset="-120"/>
              </a:rPr>
              <a:t>Un corpus de 3–10 fuentes verificadas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Tu Agente de Investigación v1 (NotebookLM + Claude)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Una matriz de evidencia inicial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El criterio: evidencia vs. inferencia</a:t>
            </a:r>
            <a:endParaRPr lang="en-US" sz="1450" dirty="0"/>
          </a:p>
        </p:txBody>
      </p:sp>
      <p:sp>
        <p:nvSpPr>
          <p:cNvPr id="7" name="Shape 5"/>
          <p:cNvSpPr/>
          <p:nvPr/>
        </p:nvSpPr>
        <p:spPr>
          <a:xfrm>
            <a:off x="6126480" y="1783080"/>
            <a:ext cx="5394960" cy="4023360"/>
          </a:xfrm>
          <a:prstGeom prst="roundRect">
            <a:avLst>
              <a:gd name="adj" fmla="val 2045"/>
            </a:avLst>
          </a:prstGeom>
          <a:solidFill>
            <a:srgbClr val="F3E1E4"/>
          </a:solidFill>
          <a:ln/>
          <a:effectLst>
            <a:outerShdw sx="100000" sy="100000" kx="0" ky="0" algn="bl" rotWithShape="0" blurRad="76200" dist="25400" dir="5400000">
              <a:srgbClr val="9AA0A6">
                <a:alpha val="35000"/>
              </a:srgbClr>
            </a:outerShdw>
          </a:effectLst>
        </p:spPr>
      </p:sp>
      <p:sp>
        <p:nvSpPr>
          <p:cNvPr id="8" name="Text 6"/>
          <p:cNvSpPr/>
          <p:nvPr/>
        </p:nvSpPr>
        <p:spPr>
          <a:xfrm>
            <a:off x="6400800" y="2011680"/>
            <a:ext cx="4846320" cy="36576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Hoy construyes (Unidad 2)</a:t>
            </a:r>
            <a:endParaRPr lang="en-US" sz="1600" dirty="0"/>
          </a:p>
        </p:txBody>
      </p:sp>
      <p:sp>
        <p:nvSpPr>
          <p:cNvPr id="9" name="Text 7"/>
          <p:cNvSpPr/>
          <p:nvPr/>
        </p:nvSpPr>
        <p:spPr>
          <a:xfrm>
            <a:off x="6400800" y="2468880"/>
            <a:ext cx="4892040" cy="3108960"/>
          </a:xfrm>
          <a:prstGeom prst="rect">
            <a:avLst/>
          </a:prstGeom>
          <a:noFill/>
          <a:ln/>
        </p:spPr>
        <p:txBody>
          <a:bodyPr wrap="square" lIns="0" tIns="0" rIns="0" bIns="0" rtlCol="0" anchor="ctr"/>
          <a:lstStyle/>
          <a:p>
            <a:pPr marL="203200" indent="-203200">
              <a:lnSpc>
                <a:spcPct val="150000"/>
              </a:lnSpc>
              <a:buSzPct val="100000"/>
              <a:buChar char="→"/>
            </a:pPr>
            <a:r>
              <a:rPr lang="en-US" sz="1450" dirty="0">
                <a:solidFill>
                  <a:srgbClr val="1F2733"/>
                </a:solidFill>
                <a:latin typeface="Arial" pitchFamily="34" charset="0"/>
                <a:ea typeface="Arial" pitchFamily="34" charset="-122"/>
                <a:cs typeface="Arial" pitchFamily="34" charset="-120"/>
              </a:rPr>
              <a:t>Una búsqueda sistemática y reproducible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Un cribado con PRISMA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Una matriz de literatura (estado del arte)
</a:t>
            </a:r>
            <a:pPr indent="0" marL="0">
              <a:lnSpc>
                <a:spcPct val="150000"/>
              </a:lnSpc>
              <a:buNone/>
            </a:pPr>
            <a:r>
              <a:rPr lang="en-US" sz="1450" dirty="0">
                <a:solidFill>
                  <a:srgbClr val="1F2733"/>
                </a:solidFill>
                <a:latin typeface="Arial" pitchFamily="34" charset="0"/>
                <a:ea typeface="Arial" pitchFamily="34" charset="-122"/>
                <a:cs typeface="Arial" pitchFamily="34" charset="-120"/>
              </a:rPr>
              <a:t>El vacío (gap) que justifica tu tesis</a:t>
            </a:r>
            <a:endParaRPr lang="en-US" sz="1450" dirty="0"/>
          </a:p>
        </p:txBody>
      </p:sp>
      <p:sp>
        <p:nvSpPr>
          <p:cNvPr id="10" name="Shape 8"/>
          <p:cNvSpPr/>
          <p:nvPr/>
        </p:nvSpPr>
        <p:spPr>
          <a:xfrm>
            <a:off x="548640" y="5897880"/>
            <a:ext cx="10972800" cy="640080"/>
          </a:xfrm>
          <a:prstGeom prst="roundRect">
            <a:avLst>
              <a:gd name="adj" fmla="val 12857"/>
            </a:avLst>
          </a:prstGeom>
          <a:solidFill>
            <a:srgbClr val="13294B"/>
          </a:solidFill>
          <a:ln/>
        </p:spPr>
      </p:sp>
      <p:sp>
        <p:nvSpPr>
          <p:cNvPr id="11" name="Text 9"/>
          <p:cNvSpPr/>
          <p:nvPr/>
        </p:nvSpPr>
        <p:spPr>
          <a:xfrm>
            <a:off x="822960" y="5897880"/>
            <a:ext cx="10424160" cy="640080"/>
          </a:xfrm>
          <a:prstGeom prst="rect">
            <a:avLst/>
          </a:prstGeom>
          <a:noFill/>
          <a:ln/>
        </p:spPr>
        <p:txBody>
          <a:bodyPr wrap="square" lIns="0" tIns="0" rIns="0" bIns="0" rtlCol="0" anchor="ctr"/>
          <a:lstStyle/>
          <a:p>
            <a:pPr indent="0" marL="0">
              <a:buNone/>
            </a:pPr>
            <a:r>
              <a:rPr lang="en-US" sz="1450" b="1" dirty="0">
                <a:solidFill>
                  <a:srgbClr val="9FB4D0"/>
                </a:solidFill>
                <a:latin typeface="Arial" pitchFamily="34" charset="0"/>
                <a:ea typeface="Arial" pitchFamily="34" charset="-122"/>
                <a:cs typeface="Arial" pitchFamily="34" charset="-120"/>
              </a:rPr>
              <a:t>Destino en tu TSP:  </a:t>
            </a:r>
            <a:pPr indent="0" marL="0">
              <a:buNone/>
            </a:pPr>
            <a:r>
              <a:rPr lang="en-US" sz="1450" b="1" dirty="0">
                <a:solidFill>
                  <a:srgbClr val="FFFFFF"/>
                </a:solidFill>
                <a:latin typeface="Arial" pitchFamily="34" charset="0"/>
                <a:ea typeface="Arial" pitchFamily="34" charset="-122"/>
                <a:cs typeface="Arial" pitchFamily="34" charset="-120"/>
              </a:rPr>
              <a:t>Capítulo I (Antecedentes, 3–5) y Capítulo II (Marco teórico y estado del arte).</a:t>
            </a:r>
            <a:endParaRPr lang="en-US" sz="145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3" name="Text 11"/>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300" b="1" spc="300" kern="0" dirty="0">
                <a:solidFill>
                  <a:srgbClr val="9FB4D0"/>
                </a:solidFill>
                <a:latin typeface="Arial" pitchFamily="34" charset="0"/>
                <a:ea typeface="Arial" pitchFamily="34" charset="-122"/>
                <a:cs typeface="Arial" pitchFamily="34" charset="-120"/>
              </a:rPr>
              <a:t>CÓMO TRABAJAREMOS HOY</a:t>
            </a:r>
            <a:endParaRPr lang="en-US" sz="1300" dirty="0"/>
          </a:p>
        </p:txBody>
      </p:sp>
      <p:sp>
        <p:nvSpPr>
          <p:cNvPr id="3" name="Text 1"/>
          <p:cNvSpPr/>
          <p:nvPr/>
        </p:nvSpPr>
        <p:spPr>
          <a:xfrm>
            <a:off x="530352" y="822960"/>
            <a:ext cx="109728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Tres principios de la revisión</a:t>
            </a:r>
            <a:endParaRPr lang="en-US" sz="3200" dirty="0"/>
          </a:p>
        </p:txBody>
      </p:sp>
      <p:sp>
        <p:nvSpPr>
          <p:cNvPr id="4" name="Shape 2"/>
          <p:cNvSpPr/>
          <p:nvPr/>
        </p:nvSpPr>
        <p:spPr>
          <a:xfrm>
            <a:off x="548640" y="1920240"/>
            <a:ext cx="3566160" cy="2651760"/>
          </a:xfrm>
          <a:prstGeom prst="roundRect">
            <a:avLst>
              <a:gd name="adj" fmla="val 3103"/>
            </a:avLst>
          </a:prstGeom>
          <a:solidFill>
            <a:srgbClr val="FFFFFF"/>
          </a:solidFill>
          <a:ln/>
          <a:effectLst>
            <a:outerShdw sx="100000" sy="100000" kx="0" ky="0" algn="bl" rotWithShape="0" blurRad="76200" dist="25400" dir="5400000">
              <a:srgbClr val="9AA0A6">
                <a:alpha val="35000"/>
              </a:srgbClr>
            </a:outerShdw>
          </a:effectLst>
        </p:spPr>
      </p:sp>
      <p:sp>
        <p:nvSpPr>
          <p:cNvPr id="5" name="Shape 3"/>
          <p:cNvSpPr/>
          <p:nvPr/>
        </p:nvSpPr>
        <p:spPr>
          <a:xfrm>
            <a:off x="822960" y="2194560"/>
            <a:ext cx="777240" cy="777240"/>
          </a:xfrm>
          <a:prstGeom prst="roundRect">
            <a:avLst>
              <a:gd name="adj" fmla="val 14118"/>
            </a:avLst>
          </a:prstGeom>
          <a:solidFill>
            <a:srgbClr val="7A1420"/>
          </a:solidFill>
          <a:ln/>
        </p:spPr>
      </p:sp>
      <p:sp>
        <p:nvSpPr>
          <p:cNvPr id="6" name="Text 4"/>
          <p:cNvSpPr/>
          <p:nvPr/>
        </p:nvSpPr>
        <p:spPr>
          <a:xfrm>
            <a:off x="822960" y="2194560"/>
            <a:ext cx="7772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1</a:t>
            </a:r>
            <a:endParaRPr lang="en-US" sz="3400" dirty="0"/>
          </a:p>
        </p:txBody>
      </p:sp>
      <p:sp>
        <p:nvSpPr>
          <p:cNvPr id="7" name="Text 5"/>
          <p:cNvSpPr/>
          <p:nvPr/>
        </p:nvSpPr>
        <p:spPr>
          <a:xfrm>
            <a:off x="822960" y="3154680"/>
            <a:ext cx="3063240" cy="1280160"/>
          </a:xfrm>
          <a:prstGeom prst="rect">
            <a:avLst/>
          </a:prstGeom>
          <a:noFill/>
          <a:ln/>
        </p:spPr>
        <p:txBody>
          <a:bodyPr wrap="square" lIns="0" tIns="0" rIns="0" bIns="0" rtlCol="0" anchor="ctr"/>
          <a:lstStyle/>
          <a:p>
            <a:pPr indent="0" marL="0">
              <a:lnSpc>
                <a:spcPct val="105000"/>
              </a:lnSpc>
              <a:buNone/>
            </a:pPr>
            <a:r>
              <a:rPr lang="en-US" sz="1700" b="1" dirty="0">
                <a:solidFill>
                  <a:srgbClr val="13294B"/>
                </a:solidFill>
                <a:latin typeface="Arial" pitchFamily="34" charset="0"/>
                <a:ea typeface="Arial" pitchFamily="34" charset="-122"/>
                <a:cs typeface="Arial" pitchFamily="34" charset="-120"/>
              </a:rPr>
              <a:t>Una revisión es un argumento con evidencia, no una lista de papers.</a:t>
            </a:r>
            <a:endParaRPr lang="en-US" sz="1700" dirty="0"/>
          </a:p>
        </p:txBody>
      </p:sp>
      <p:sp>
        <p:nvSpPr>
          <p:cNvPr id="8" name="Shape 6"/>
          <p:cNvSpPr/>
          <p:nvPr/>
        </p:nvSpPr>
        <p:spPr>
          <a:xfrm>
            <a:off x="4315968" y="1920240"/>
            <a:ext cx="3566160" cy="2651760"/>
          </a:xfrm>
          <a:prstGeom prst="roundRect">
            <a:avLst>
              <a:gd name="adj" fmla="val 3103"/>
            </a:avLst>
          </a:prstGeom>
          <a:solidFill>
            <a:srgbClr val="FFFFFF"/>
          </a:solidFill>
          <a:ln/>
          <a:effectLst>
            <a:outerShdw sx="100000" sy="100000" kx="0" ky="0" algn="bl" rotWithShape="0" blurRad="76200" dist="25400" dir="5400000">
              <a:srgbClr val="9AA0A6">
                <a:alpha val="35000"/>
              </a:srgbClr>
            </a:outerShdw>
          </a:effectLst>
        </p:spPr>
      </p:sp>
      <p:sp>
        <p:nvSpPr>
          <p:cNvPr id="9" name="Shape 7"/>
          <p:cNvSpPr/>
          <p:nvPr/>
        </p:nvSpPr>
        <p:spPr>
          <a:xfrm>
            <a:off x="4590288" y="2194560"/>
            <a:ext cx="777240" cy="777240"/>
          </a:xfrm>
          <a:prstGeom prst="roundRect">
            <a:avLst>
              <a:gd name="adj" fmla="val 14118"/>
            </a:avLst>
          </a:prstGeom>
          <a:solidFill>
            <a:srgbClr val="9B2233"/>
          </a:solidFill>
          <a:ln/>
        </p:spPr>
      </p:sp>
      <p:sp>
        <p:nvSpPr>
          <p:cNvPr id="10" name="Text 8"/>
          <p:cNvSpPr/>
          <p:nvPr/>
        </p:nvSpPr>
        <p:spPr>
          <a:xfrm>
            <a:off x="4590288" y="2194560"/>
            <a:ext cx="7772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2</a:t>
            </a:r>
            <a:endParaRPr lang="en-US" sz="3400" dirty="0"/>
          </a:p>
        </p:txBody>
      </p:sp>
      <p:sp>
        <p:nvSpPr>
          <p:cNvPr id="11" name="Text 9"/>
          <p:cNvSpPr/>
          <p:nvPr/>
        </p:nvSpPr>
        <p:spPr>
          <a:xfrm>
            <a:off x="4590288" y="3154680"/>
            <a:ext cx="3063240" cy="1280160"/>
          </a:xfrm>
          <a:prstGeom prst="rect">
            <a:avLst/>
          </a:prstGeom>
          <a:noFill/>
          <a:ln/>
        </p:spPr>
        <p:txBody>
          <a:bodyPr wrap="square" lIns="0" tIns="0" rIns="0" bIns="0" rtlCol="0" anchor="ctr"/>
          <a:lstStyle/>
          <a:p>
            <a:pPr indent="0" marL="0">
              <a:lnSpc>
                <a:spcPct val="105000"/>
              </a:lnSpc>
              <a:buNone/>
            </a:pPr>
            <a:r>
              <a:rPr lang="en-US" sz="1700" b="1" dirty="0">
                <a:solidFill>
                  <a:srgbClr val="13294B"/>
                </a:solidFill>
                <a:latin typeface="Arial" pitchFamily="34" charset="0"/>
                <a:ea typeface="Arial" pitchFamily="34" charset="-122"/>
                <a:cs typeface="Arial" pitchFamily="34" charset="-120"/>
              </a:rPr>
              <a:t>Buscar → cribar → evaluar → sintetizar → citar.</a:t>
            </a:r>
            <a:endParaRPr lang="en-US" sz="1700" dirty="0"/>
          </a:p>
        </p:txBody>
      </p:sp>
      <p:sp>
        <p:nvSpPr>
          <p:cNvPr id="12" name="Shape 10"/>
          <p:cNvSpPr/>
          <p:nvPr/>
        </p:nvSpPr>
        <p:spPr>
          <a:xfrm>
            <a:off x="8083296" y="1920240"/>
            <a:ext cx="3566160" cy="2651760"/>
          </a:xfrm>
          <a:prstGeom prst="roundRect">
            <a:avLst>
              <a:gd name="adj" fmla="val 3103"/>
            </a:avLst>
          </a:prstGeom>
          <a:solidFill>
            <a:srgbClr val="FFFFFF"/>
          </a:solidFill>
          <a:ln/>
          <a:effectLst>
            <a:outerShdw sx="100000" sy="100000" kx="0" ky="0" algn="bl" rotWithShape="0" blurRad="76200" dist="25400" dir="5400000">
              <a:srgbClr val="9AA0A6">
                <a:alpha val="35000"/>
              </a:srgbClr>
            </a:outerShdw>
          </a:effectLst>
        </p:spPr>
      </p:sp>
      <p:sp>
        <p:nvSpPr>
          <p:cNvPr id="13" name="Shape 11"/>
          <p:cNvSpPr/>
          <p:nvPr/>
        </p:nvSpPr>
        <p:spPr>
          <a:xfrm>
            <a:off x="8357616" y="2194560"/>
            <a:ext cx="777240" cy="777240"/>
          </a:xfrm>
          <a:prstGeom prst="roundRect">
            <a:avLst>
              <a:gd name="adj" fmla="val 14118"/>
            </a:avLst>
          </a:prstGeom>
          <a:solidFill>
            <a:srgbClr val="1F4068"/>
          </a:solidFill>
          <a:ln/>
        </p:spPr>
      </p:sp>
      <p:sp>
        <p:nvSpPr>
          <p:cNvPr id="14" name="Text 12"/>
          <p:cNvSpPr/>
          <p:nvPr/>
        </p:nvSpPr>
        <p:spPr>
          <a:xfrm>
            <a:off x="8357616" y="2194560"/>
            <a:ext cx="777240" cy="777240"/>
          </a:xfrm>
          <a:prstGeom prst="rect">
            <a:avLst/>
          </a:prstGeom>
          <a:noFill/>
          <a:ln/>
        </p:spPr>
        <p:txBody>
          <a:bodyPr wrap="square" lIns="0" tIns="0" rIns="0" bIns="0" rtlCol="0" anchor="ctr"/>
          <a:lstStyle/>
          <a:p>
            <a:pPr algn="ctr" indent="0" marL="0">
              <a:buNone/>
            </a:pPr>
            <a:r>
              <a:rPr lang="en-US" sz="3400" b="1" dirty="0">
                <a:solidFill>
                  <a:srgbClr val="FFFFFF"/>
                </a:solidFill>
                <a:latin typeface="Arial" pitchFamily="34" charset="0"/>
                <a:ea typeface="Arial" pitchFamily="34" charset="-122"/>
                <a:cs typeface="Arial" pitchFamily="34" charset="-120"/>
              </a:rPr>
              <a:t>3</a:t>
            </a:r>
            <a:endParaRPr lang="en-US" sz="3400" dirty="0"/>
          </a:p>
        </p:txBody>
      </p:sp>
      <p:sp>
        <p:nvSpPr>
          <p:cNvPr id="15" name="Text 13"/>
          <p:cNvSpPr/>
          <p:nvPr/>
        </p:nvSpPr>
        <p:spPr>
          <a:xfrm>
            <a:off x="8357616" y="3154680"/>
            <a:ext cx="3063240" cy="1280160"/>
          </a:xfrm>
          <a:prstGeom prst="rect">
            <a:avLst/>
          </a:prstGeom>
          <a:noFill/>
          <a:ln/>
        </p:spPr>
        <p:txBody>
          <a:bodyPr wrap="square" lIns="0" tIns="0" rIns="0" bIns="0" rtlCol="0" anchor="ctr"/>
          <a:lstStyle/>
          <a:p>
            <a:pPr indent="0" marL="0">
              <a:lnSpc>
                <a:spcPct val="105000"/>
              </a:lnSpc>
              <a:buNone/>
            </a:pPr>
            <a:r>
              <a:rPr lang="en-US" sz="1700" b="1" dirty="0">
                <a:solidFill>
                  <a:srgbClr val="13294B"/>
                </a:solidFill>
                <a:latin typeface="Arial" pitchFamily="34" charset="0"/>
                <a:ea typeface="Arial" pitchFamily="34" charset="-122"/>
                <a:cs typeface="Arial" pitchFamily="34" charset="-120"/>
              </a:rPr>
              <a:t>El vacío (gap) justifica tu tesis.</a:t>
            </a:r>
            <a:endParaRPr lang="en-US" sz="1700" dirty="0"/>
          </a:p>
        </p:txBody>
      </p:sp>
      <p:sp>
        <p:nvSpPr>
          <p:cNvPr id="16" name="Shape 14"/>
          <p:cNvSpPr/>
          <p:nvPr/>
        </p:nvSpPr>
        <p:spPr>
          <a:xfrm>
            <a:off x="548640" y="4892040"/>
            <a:ext cx="10917936" cy="1234440"/>
          </a:xfrm>
          <a:prstGeom prst="roundRect">
            <a:avLst>
              <a:gd name="adj" fmla="val 6667"/>
            </a:avLst>
          </a:prstGeom>
          <a:solidFill>
            <a:srgbClr val="7A1420"/>
          </a:solidFill>
          <a:ln/>
        </p:spPr>
      </p:sp>
      <p:sp>
        <p:nvSpPr>
          <p:cNvPr id="17" name="Text 15"/>
          <p:cNvSpPr/>
          <p:nvPr/>
        </p:nvSpPr>
        <p:spPr>
          <a:xfrm>
            <a:off x="914400" y="4892040"/>
            <a:ext cx="10149840" cy="1234440"/>
          </a:xfrm>
          <a:prstGeom prst="rect">
            <a:avLst/>
          </a:prstGeom>
          <a:noFill/>
          <a:ln/>
        </p:spPr>
        <p:txBody>
          <a:bodyPr wrap="square" lIns="0" tIns="0" rIns="0" bIns="0" rtlCol="0" anchor="ctr"/>
          <a:lstStyle/>
          <a:p>
            <a:pPr indent="0" marL="0">
              <a:buNone/>
            </a:pPr>
            <a:r>
              <a:rPr lang="en-US" sz="2100" b="1" dirty="0">
                <a:solidFill>
                  <a:srgbClr val="F3D6DA"/>
                </a:solidFill>
                <a:latin typeface="Arial" pitchFamily="34" charset="0"/>
                <a:ea typeface="Arial" pitchFamily="34" charset="-122"/>
                <a:cs typeface="Arial" pitchFamily="34" charset="-120"/>
              </a:rPr>
              <a:t>Objetivo de hoy:  </a:t>
            </a:r>
            <a:pPr indent="0" marL="0">
              <a:buNone/>
            </a:pPr>
            <a:r>
              <a:rPr lang="en-US" sz="2100" dirty="0">
                <a:solidFill>
                  <a:srgbClr val="FFFFFF"/>
                </a:solidFill>
                <a:latin typeface="Arial" pitchFamily="34" charset="0"/>
                <a:ea typeface="Arial" pitchFamily="34" charset="-122"/>
                <a:cs typeface="Arial" pitchFamily="34" charset="-120"/>
              </a:rPr>
              <a:t>no acumulas papers — </a:t>
            </a:r>
            <a:pPr indent="0" marL="0">
              <a:buNone/>
            </a:pPr>
            <a:r>
              <a:rPr lang="en-US" sz="2100" b="1" dirty="0">
                <a:solidFill>
                  <a:srgbClr val="FFFFFF"/>
                </a:solidFill>
                <a:latin typeface="Arial" pitchFamily="34" charset="0"/>
                <a:ea typeface="Arial" pitchFamily="34" charset="-122"/>
                <a:cs typeface="Arial" pitchFamily="34" charset="-120"/>
              </a:rPr>
              <a:t>construyes el estado del arte de tu tesis.</a:t>
            </a:r>
            <a:endParaRPr lang="en-US" sz="210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9" name="Text 17"/>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A · IMPACTO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¿Confiarías en esta revisión?</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0–8 min</a:t>
            </a:r>
            <a:endParaRPr lang="en-US" sz="1200" dirty="0"/>
          </a:p>
        </p:txBody>
      </p:sp>
      <p:sp>
        <p:nvSpPr>
          <p:cNvPr id="6" name="Shape 4"/>
          <p:cNvSpPr/>
          <p:nvPr/>
        </p:nvSpPr>
        <p:spPr>
          <a:xfrm>
            <a:off x="548640" y="1737360"/>
            <a:ext cx="10972800" cy="2743200"/>
          </a:xfrm>
          <a:prstGeom prst="roundRect">
            <a:avLst>
              <a:gd name="adj" fmla="val 3000"/>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914400" y="1965960"/>
            <a:ext cx="10241280" cy="2286000"/>
          </a:xfrm>
          <a:prstGeom prst="rect">
            <a:avLst/>
          </a:prstGeom>
          <a:noFill/>
          <a:ln/>
        </p:spPr>
        <p:txBody>
          <a:bodyPr wrap="square" lIns="0" tIns="0" rIns="0" bIns="0" rtlCol="0" anchor="ctr"/>
          <a:lstStyle/>
          <a:p>
            <a:pPr indent="0" marL="0">
              <a:lnSpc>
                <a:spcPct val="115000"/>
              </a:lnSpc>
              <a:buNone/>
            </a:pPr>
            <a:r>
              <a:rPr lang="en-US" sz="2200" i="1" dirty="0">
                <a:solidFill>
                  <a:srgbClr val="1F2733"/>
                </a:solidFill>
                <a:latin typeface="Arial" pitchFamily="34" charset="0"/>
                <a:ea typeface="Arial" pitchFamily="34" charset="-122"/>
                <a:cs typeface="Arial" pitchFamily="34" charset="-120"/>
              </a:rPr>
              <a:t>“Existen varios estudios sobre mantenimiento predictivo. Algunos autores usan machine learning y obtienen buenos resultados. El tema es muy importante hoy en día y seguirá creciendo en el futuro.”</a:t>
            </a:r>
            <a:endParaRPr lang="en-US" sz="2200" dirty="0"/>
          </a:p>
        </p:txBody>
      </p:sp>
      <p:sp>
        <p:nvSpPr>
          <p:cNvPr id="8" name="Text 6"/>
          <p:cNvSpPr/>
          <p:nvPr/>
        </p:nvSpPr>
        <p:spPr>
          <a:xfrm>
            <a:off x="548640" y="4754880"/>
            <a:ext cx="10972800" cy="640080"/>
          </a:xfrm>
          <a:prstGeom prst="rect">
            <a:avLst/>
          </a:prstGeom>
          <a:noFill/>
          <a:ln/>
        </p:spPr>
        <p:txBody>
          <a:bodyPr wrap="square" lIns="0" tIns="0" rIns="0" bIns="0" rtlCol="0" anchor="ctr"/>
          <a:lstStyle/>
          <a:p>
            <a:pPr algn="ctr" indent="0" marL="0">
              <a:buNone/>
            </a:pPr>
            <a:r>
              <a:rPr lang="en-US" sz="2000" b="1" dirty="0">
                <a:solidFill>
                  <a:srgbClr val="13294B"/>
                </a:solidFill>
                <a:latin typeface="Arial" pitchFamily="34" charset="0"/>
                <a:ea typeface="Arial" pitchFamily="34" charset="-122"/>
                <a:cs typeface="Arial" pitchFamily="34" charset="-120"/>
              </a:rPr>
              <a:t>Vota:   </a:t>
            </a:r>
            <a:pPr algn="ctr" indent="0" marL="0">
              <a:buNone/>
            </a:pPr>
            <a:r>
              <a:rPr lang="en-US" sz="2000" b="1" dirty="0">
                <a:solidFill>
                  <a:srgbClr val="2E7D32"/>
                </a:solidFill>
                <a:latin typeface="Arial" pitchFamily="34" charset="0"/>
                <a:ea typeface="Arial" pitchFamily="34" charset="-122"/>
                <a:cs typeface="Arial" pitchFamily="34" charset="-120"/>
              </a:rPr>
              <a:t>✋ sirve para mi tesis        </a:t>
            </a:r>
            <a:pPr algn="ctr" indent="0" marL="0">
              <a:buNone/>
            </a:pPr>
            <a:r>
              <a:rPr lang="en-US" sz="2000" b="1" dirty="0">
                <a:solidFill>
                  <a:srgbClr val="B3261E"/>
                </a:solidFill>
                <a:latin typeface="Arial" pitchFamily="34" charset="0"/>
                <a:ea typeface="Arial" pitchFamily="34" charset="-122"/>
                <a:cs typeface="Arial" pitchFamily="34" charset="-120"/>
              </a:rPr>
              <a:t>✋ no sirve</a:t>
            </a:r>
            <a:endParaRPr lang="en-US" sz="2000" dirty="0"/>
          </a:p>
        </p:txBody>
      </p:sp>
      <p:sp>
        <p:nvSpPr>
          <p:cNvPr id="9" name="Text 7"/>
          <p:cNvSpPr/>
          <p:nvPr/>
        </p:nvSpPr>
        <p:spPr>
          <a:xfrm>
            <a:off x="548640" y="5577840"/>
            <a:ext cx="10972800" cy="457200"/>
          </a:xfrm>
          <a:prstGeom prst="rect">
            <a:avLst/>
          </a:prstGeom>
          <a:noFill/>
          <a:ln/>
        </p:spPr>
        <p:txBody>
          <a:bodyPr wrap="square" lIns="0" tIns="0" rIns="0" bIns="0" rtlCol="0" anchor="ctr"/>
          <a:lstStyle/>
          <a:p>
            <a:pPr algn="ctr" indent="0" marL="0">
              <a:buNone/>
            </a:pPr>
            <a:r>
              <a:rPr lang="en-US" sz="1500" i="1" dirty="0">
                <a:solidFill>
                  <a:srgbClr val="6B7280"/>
                </a:solidFill>
                <a:latin typeface="Arial" pitchFamily="34" charset="0"/>
                <a:ea typeface="Arial" pitchFamily="34" charset="-122"/>
                <a:cs typeface="Arial" pitchFamily="34" charset="-120"/>
              </a:rPr>
              <a:t>Es un párrafo de ‘estado del arte’ real, escrito por un tesista.</a:t>
            </a:r>
            <a:endParaRPr lang="en-US" sz="1500" dirty="0"/>
          </a:p>
        </p:txBody>
      </p:sp>
      <p:sp>
        <p:nvSpPr>
          <p:cNvPr id="10" name="Text 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1" name="Text 9"/>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7A1420"/>
        </a:solidFill>
      </p:bgPr>
    </p:bg>
    <p:spTree>
      <p:nvGrpSpPr>
        <p:cNvPr id="1" name=""/>
        <p:cNvGrpSpPr/>
        <p:nvPr/>
      </p:nvGrpSpPr>
      <p:grpSpPr>
        <a:xfrm>
          <a:off x="0" y="0"/>
          <a:ext cx="0" cy="0"/>
          <a:chOff x="0" y="0"/>
          <a:chExt cx="0" cy="0"/>
        </a:xfrm>
      </p:grpSpPr>
      <p:sp>
        <p:nvSpPr>
          <p:cNvPr id="2" name="Text 0"/>
          <p:cNvSpPr/>
          <p:nvPr/>
        </p:nvSpPr>
        <p:spPr>
          <a:xfrm>
            <a:off x="640080" y="1371600"/>
            <a:ext cx="10972800" cy="100584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Una lista no es una revisión</a:t>
            </a:r>
            <a:endParaRPr lang="en-US" sz="4400" dirty="0"/>
          </a:p>
        </p:txBody>
      </p:sp>
      <p:sp>
        <p:nvSpPr>
          <p:cNvPr id="3" name="Text 1"/>
          <p:cNvSpPr/>
          <p:nvPr/>
        </p:nvSpPr>
        <p:spPr>
          <a:xfrm>
            <a:off x="658368" y="2651760"/>
            <a:ext cx="10789920" cy="914400"/>
          </a:xfrm>
          <a:prstGeom prst="rect">
            <a:avLst/>
          </a:prstGeom>
          <a:noFill/>
          <a:ln/>
        </p:spPr>
        <p:txBody>
          <a:bodyPr wrap="square" lIns="0" tIns="0" rIns="0" bIns="0" rtlCol="0" anchor="ctr"/>
          <a:lstStyle/>
          <a:p>
            <a:pPr indent="0" marL="0">
              <a:lnSpc>
                <a:spcPct val="110000"/>
              </a:lnSpc>
              <a:buNone/>
            </a:pPr>
            <a:r>
              <a:rPr lang="en-US" sz="2200" dirty="0">
                <a:solidFill>
                  <a:srgbClr val="F6DDE1"/>
                </a:solidFill>
                <a:latin typeface="Arial" pitchFamily="34" charset="0"/>
                <a:ea typeface="Arial" pitchFamily="34" charset="-122"/>
                <a:cs typeface="Arial" pitchFamily="34" charset="-120"/>
              </a:rPr>
              <a:t>El párrafo no cita a nadie, no compara métodos, no distingue quién demostró qué, y no dice qué falta.</a:t>
            </a:r>
            <a:endParaRPr lang="en-US" sz="2200" dirty="0"/>
          </a:p>
        </p:txBody>
      </p:sp>
      <p:sp>
        <p:nvSpPr>
          <p:cNvPr id="4" name="Shape 2"/>
          <p:cNvSpPr/>
          <p:nvPr/>
        </p:nvSpPr>
        <p:spPr>
          <a:xfrm>
            <a:off x="640080" y="3794760"/>
            <a:ext cx="10881360" cy="1737360"/>
          </a:xfrm>
          <a:prstGeom prst="roundRect">
            <a:avLst>
              <a:gd name="adj" fmla="val 4737"/>
            </a:avLst>
          </a:prstGeom>
          <a:solidFill>
            <a:srgbClr val="13294B"/>
          </a:solidFill>
          <a:ln/>
        </p:spPr>
      </p:sp>
      <p:sp>
        <p:nvSpPr>
          <p:cNvPr id="5" name="Text 3"/>
          <p:cNvSpPr/>
          <p:nvPr/>
        </p:nvSpPr>
        <p:spPr>
          <a:xfrm>
            <a:off x="1005840" y="3794760"/>
            <a:ext cx="10149840" cy="1737360"/>
          </a:xfrm>
          <a:prstGeom prst="rect">
            <a:avLst/>
          </a:prstGeom>
          <a:noFill/>
          <a:ln/>
        </p:spPr>
        <p:txBody>
          <a:bodyPr wrap="square" lIns="0" tIns="0" rIns="0" bIns="0" rtlCol="0" anchor="ctr"/>
          <a:lstStyle/>
          <a:p>
            <a:pPr indent="0" marL="0">
              <a:lnSpc>
                <a:spcPct val="110000"/>
              </a:lnSpc>
              <a:buNone/>
            </a:pPr>
            <a:r>
              <a:rPr lang="en-US" sz="2200" b="1" dirty="0">
                <a:solidFill>
                  <a:srgbClr val="9FB4D0"/>
                </a:solidFill>
                <a:latin typeface="Arial" pitchFamily="34" charset="0"/>
                <a:ea typeface="Arial" pitchFamily="34" charset="-122"/>
                <a:cs typeface="Arial" pitchFamily="34" charset="-120"/>
              </a:rPr>
              <a:t>Una revisión de literatura </a:t>
            </a:r>
            <a:pPr indent="0" marL="0">
              <a:lnSpc>
                <a:spcPct val="110000"/>
              </a:lnSpc>
              <a:buNone/>
            </a:pPr>
            <a:r>
              <a:rPr lang="en-US" sz="2200" dirty="0">
                <a:solidFill>
                  <a:srgbClr val="FFFFFF"/>
                </a:solidFill>
                <a:latin typeface="Arial" pitchFamily="34" charset="0"/>
                <a:ea typeface="Arial" pitchFamily="34" charset="-122"/>
                <a:cs typeface="Arial" pitchFamily="34" charset="-120"/>
              </a:rPr>
              <a:t>organiza la evidencia, contrasta resultados, identifica tendencias y </a:t>
            </a:r>
            <a:pPr indent="0" marL="0">
              <a:lnSpc>
                <a:spcPct val="110000"/>
              </a:lnSpc>
              <a:buNone/>
            </a:pPr>
            <a:r>
              <a:rPr lang="en-US" sz="2200" b="1" dirty="0">
                <a:solidFill>
                  <a:srgbClr val="FFFFFF"/>
                </a:solidFill>
                <a:latin typeface="Arial" pitchFamily="34" charset="0"/>
                <a:ea typeface="Arial" pitchFamily="34" charset="-122"/>
                <a:cs typeface="Arial" pitchFamily="34" charset="-120"/>
              </a:rPr>
              <a:t>señala el vacío que tu tesis va a llenar.</a:t>
            </a:r>
            <a:endParaRPr lang="en-US" sz="2200" dirty="0"/>
          </a:p>
        </p:txBody>
      </p:sp>
      <p:sp>
        <p:nvSpPr>
          <p:cNvPr id="6" name="Text 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7"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RUTA DE LA SESIÓN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El mapa de hoy — 180 minutos</a:t>
            </a:r>
            <a:endParaRPr lang="en-US" sz="3000" dirty="0"/>
          </a:p>
        </p:txBody>
      </p:sp>
      <p:sp>
        <p:nvSpPr>
          <p:cNvPr id="4" name="Shape 2"/>
          <p:cNvSpPr/>
          <p:nvPr/>
        </p:nvSpPr>
        <p:spPr>
          <a:xfrm>
            <a:off x="548640" y="1691640"/>
            <a:ext cx="5394960" cy="3977640"/>
          </a:xfrm>
          <a:prstGeom prst="roundRect">
            <a:avLst>
              <a:gd name="adj" fmla="val 2069"/>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822960" y="1920240"/>
            <a:ext cx="4846320" cy="411480"/>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TEORÍA · 72 min (40%)</a:t>
            </a:r>
            <a:endParaRPr lang="en-US" sz="1600" dirty="0"/>
          </a:p>
        </p:txBody>
      </p:sp>
      <p:sp>
        <p:nvSpPr>
          <p:cNvPr id="6" name="Text 4"/>
          <p:cNvSpPr/>
          <p:nvPr/>
        </p:nvSpPr>
        <p:spPr>
          <a:xfrm>
            <a:off x="822960" y="2377440"/>
            <a:ext cx="4892040" cy="3200400"/>
          </a:xfrm>
          <a:prstGeom prst="rect">
            <a:avLst/>
          </a:prstGeom>
          <a:noFill/>
          <a:ln/>
        </p:spPr>
        <p:txBody>
          <a:bodyPr wrap="square" lIns="0" tIns="0" rIns="0" bIns="0" rtlCol="0" anchor="ctr"/>
          <a:lstStyle/>
          <a:p>
            <a:pPr marL="177800" indent="-177800">
              <a:lnSpc>
                <a:spcPct val="130000"/>
              </a:lnSpc>
              <a:buSzPct val="100000"/>
              <a:buChar char="–"/>
            </a:pPr>
            <a:r>
              <a:rPr lang="en-US" sz="1350" dirty="0">
                <a:solidFill>
                  <a:srgbClr val="1F2733"/>
                </a:solidFill>
                <a:latin typeface="Arial" pitchFamily="34" charset="0"/>
                <a:ea typeface="Arial" pitchFamily="34" charset="-122"/>
                <a:cs typeface="Arial" pitchFamily="34" charset="-120"/>
              </a:rPr>
              <a:t>A · ¿Confiarías en esta revisión?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B · Qué es el estado del arte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C · De tema a pregunta y conceptos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D · Estrategia de búsqueda + IA de descubrimiento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E · Cribado con PRISMA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F · Del listado al argumento (matriz y vacío)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G · Calidad de fuentes e integridad</a:t>
            </a:r>
            <a:endParaRPr lang="en-US" sz="1350" dirty="0"/>
          </a:p>
        </p:txBody>
      </p:sp>
      <p:sp>
        <p:nvSpPr>
          <p:cNvPr id="7" name="Shape 5"/>
          <p:cNvSpPr/>
          <p:nvPr/>
        </p:nvSpPr>
        <p:spPr>
          <a:xfrm>
            <a:off x="6126480" y="1691640"/>
            <a:ext cx="5394960" cy="3977640"/>
          </a:xfrm>
          <a:prstGeom prst="roundRect">
            <a:avLst>
              <a:gd name="adj" fmla="val 2069"/>
            </a:avLst>
          </a:prstGeom>
          <a:solidFill>
            <a:srgbClr val="F3E1E4"/>
          </a:solidFill>
          <a:ln/>
          <a:effectLst>
            <a:outerShdw sx="100000" sy="100000" kx="0" ky="0" algn="bl" rotWithShape="0" blurRad="76200" dist="25400" dir="5400000">
              <a:srgbClr val="9AA0A6">
                <a:alpha val="35000"/>
              </a:srgbClr>
            </a:outerShdw>
          </a:effectLst>
        </p:spPr>
      </p:sp>
      <p:sp>
        <p:nvSpPr>
          <p:cNvPr id="8" name="Text 6"/>
          <p:cNvSpPr/>
          <p:nvPr/>
        </p:nvSpPr>
        <p:spPr>
          <a:xfrm>
            <a:off x="6400800" y="1920240"/>
            <a:ext cx="4846320" cy="4114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LABORATORIO · 108 min (60%)</a:t>
            </a:r>
            <a:endParaRPr lang="en-US" sz="1600" dirty="0"/>
          </a:p>
        </p:txBody>
      </p:sp>
      <p:sp>
        <p:nvSpPr>
          <p:cNvPr id="9" name="Text 7"/>
          <p:cNvSpPr/>
          <p:nvPr/>
        </p:nvSpPr>
        <p:spPr>
          <a:xfrm>
            <a:off x="6400800" y="2377440"/>
            <a:ext cx="4892040" cy="3200400"/>
          </a:xfrm>
          <a:prstGeom prst="rect">
            <a:avLst/>
          </a:prstGeom>
          <a:noFill/>
          <a:ln/>
        </p:spPr>
        <p:txBody>
          <a:bodyPr wrap="square" lIns="0" tIns="0" rIns="0" bIns="0" rtlCol="0" anchor="ctr"/>
          <a:lstStyle/>
          <a:p>
            <a:pPr marL="177800" indent="-177800">
              <a:lnSpc>
                <a:spcPct val="130000"/>
              </a:lnSpc>
              <a:buSzPct val="100000"/>
              <a:buChar char="–"/>
            </a:pPr>
            <a:r>
              <a:rPr lang="en-US" sz="1350" dirty="0">
                <a:solidFill>
                  <a:srgbClr val="1F2733"/>
                </a:solidFill>
                <a:latin typeface="Arial" pitchFamily="34" charset="0"/>
                <a:ea typeface="Arial" pitchFamily="34" charset="-122"/>
                <a:cs typeface="Arial" pitchFamily="34" charset="-120"/>
              </a:rPr>
              <a:t>1 · De tema a pregunta (PICOC + keywords)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2 · Cadena de búsqueda booleana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3 · Descubrimiento con IA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4 · Cribado PRISMA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5 · Matriz de literatura (estado del arte)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6 · Detección del vacío + párrafo
</a:t>
            </a:r>
            <a:pPr indent="0" marL="0">
              <a:lnSpc>
                <a:spcPct val="130000"/>
              </a:lnSpc>
              <a:buNone/>
            </a:pPr>
            <a:r>
              <a:rPr lang="en-US" sz="1350" dirty="0">
                <a:solidFill>
                  <a:srgbClr val="1F2733"/>
                </a:solidFill>
                <a:latin typeface="Arial" pitchFamily="34" charset="0"/>
                <a:ea typeface="Arial" pitchFamily="34" charset="-122"/>
                <a:cs typeface="Arial" pitchFamily="34" charset="-120"/>
              </a:rPr>
              <a:t>7 · Calidad, integridad y evaluación</a:t>
            </a:r>
            <a:endParaRPr lang="en-US" sz="1350" dirty="0"/>
          </a:p>
        </p:txBody>
      </p:sp>
      <p:sp>
        <p:nvSpPr>
          <p:cNvPr id="10" name="Shape 8"/>
          <p:cNvSpPr/>
          <p:nvPr/>
        </p:nvSpPr>
        <p:spPr>
          <a:xfrm>
            <a:off x="548640" y="5806440"/>
            <a:ext cx="10972800" cy="685800"/>
          </a:xfrm>
          <a:prstGeom prst="roundRect">
            <a:avLst>
              <a:gd name="adj" fmla="val 12000"/>
            </a:avLst>
          </a:prstGeom>
          <a:solidFill>
            <a:srgbClr val="13294B"/>
          </a:solidFill>
          <a:ln/>
        </p:spPr>
      </p:sp>
      <p:sp>
        <p:nvSpPr>
          <p:cNvPr id="11" name="Text 9"/>
          <p:cNvSpPr/>
          <p:nvPr/>
        </p:nvSpPr>
        <p:spPr>
          <a:xfrm>
            <a:off x="822960" y="5806440"/>
            <a:ext cx="10424160" cy="685800"/>
          </a:xfrm>
          <a:prstGeom prst="rect">
            <a:avLst/>
          </a:prstGeom>
          <a:noFill/>
          <a:ln/>
        </p:spPr>
        <p:txBody>
          <a:bodyPr wrap="square" lIns="0" tIns="0" rIns="0" bIns="0" rtlCol="0" anchor="ctr"/>
          <a:lstStyle/>
          <a:p>
            <a:pPr indent="0" marL="0">
              <a:buNone/>
            </a:pPr>
            <a:r>
              <a:rPr lang="en-US" sz="1400" b="1" dirty="0">
                <a:solidFill>
                  <a:srgbClr val="9FB4D0"/>
                </a:solidFill>
                <a:latin typeface="Arial" pitchFamily="34" charset="0"/>
                <a:ea typeface="Arial" pitchFamily="34" charset="-122"/>
                <a:cs typeface="Arial" pitchFamily="34" charset="-120"/>
              </a:rPr>
              <a:t>Producto final:  </a:t>
            </a:r>
            <a:pPr indent="0" marL="0">
              <a:buNone/>
            </a:pPr>
            <a:r>
              <a:rPr lang="en-US" sz="1400" b="1" dirty="0">
                <a:solidFill>
                  <a:srgbClr val="FFFFFF"/>
                </a:solidFill>
                <a:latin typeface="Arial" pitchFamily="34" charset="0"/>
                <a:ea typeface="Arial" pitchFamily="34" charset="-122"/>
                <a:cs typeface="Arial" pitchFamily="34" charset="-120"/>
              </a:rPr>
              <a:t>“Mi Revisión de Literatura v1” — matriz + diagrama PRISMA + párrafo de estado del arte con el vacío identificado.</a:t>
            </a:r>
            <a:endParaRPr lang="en-US" sz="1400" dirty="0"/>
          </a:p>
        </p:txBody>
      </p:sp>
      <p:sp>
        <p:nvSpPr>
          <p:cNvPr id="12" name="Text 10"/>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3" name="Text 11"/>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B · FUNDAMENTOS</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Tres cosas que se confunden</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8–25 min</a:t>
            </a:r>
            <a:endParaRPr lang="en-US" sz="1200" dirty="0"/>
          </a:p>
        </p:txBody>
      </p:sp>
      <p:sp>
        <p:nvSpPr>
          <p:cNvPr id="6" name="Shape 4"/>
          <p:cNvSpPr/>
          <p:nvPr/>
        </p:nvSpPr>
        <p:spPr>
          <a:xfrm>
            <a:off x="548640" y="1828800"/>
            <a:ext cx="3566160" cy="3291840"/>
          </a:xfrm>
          <a:prstGeom prst="roundRect">
            <a:avLst>
              <a:gd name="adj" fmla="val 2500"/>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2103120"/>
            <a:ext cx="3017520" cy="548640"/>
          </a:xfrm>
          <a:prstGeom prst="rect">
            <a:avLst/>
          </a:prstGeom>
          <a:noFill/>
          <a:ln/>
        </p:spPr>
        <p:txBody>
          <a:bodyPr wrap="square" lIns="0" tIns="0" rIns="0" bIns="0" rtlCol="0" anchor="ctr"/>
          <a:lstStyle/>
          <a:p>
            <a:pPr indent="0" marL="0">
              <a:buNone/>
            </a:pPr>
            <a:r>
              <a:rPr lang="en-US" sz="1900" b="1" dirty="0">
                <a:solidFill>
                  <a:srgbClr val="7A1420"/>
                </a:solidFill>
                <a:latin typeface="Arial" pitchFamily="34" charset="0"/>
                <a:ea typeface="Arial" pitchFamily="34" charset="-122"/>
                <a:cs typeface="Arial" pitchFamily="34" charset="-120"/>
              </a:rPr>
              <a:t>Antecedentes</a:t>
            </a:r>
            <a:endParaRPr lang="en-US" sz="1900" dirty="0"/>
          </a:p>
        </p:txBody>
      </p:sp>
      <p:sp>
        <p:nvSpPr>
          <p:cNvPr id="8" name="Text 6"/>
          <p:cNvSpPr/>
          <p:nvPr/>
        </p:nvSpPr>
        <p:spPr>
          <a:xfrm>
            <a:off x="822960" y="2743200"/>
            <a:ext cx="3017520" cy="1554480"/>
          </a:xfrm>
          <a:prstGeom prst="rect">
            <a:avLst/>
          </a:prstGeom>
          <a:noFill/>
          <a:ln/>
        </p:spPr>
        <p:txBody>
          <a:bodyPr wrap="square" lIns="0" tIns="0" rIns="0" bIns="0" rtlCol="0" anchor="ctr"/>
          <a:lstStyle/>
          <a:p>
            <a:pPr indent="0" marL="0">
              <a:lnSpc>
                <a:spcPct val="115000"/>
              </a:lnSpc>
              <a:buNone/>
            </a:pPr>
            <a:r>
              <a:rPr lang="en-US" sz="1500" dirty="0">
                <a:solidFill>
                  <a:srgbClr val="1F2733"/>
                </a:solidFill>
                <a:latin typeface="Arial" pitchFamily="34" charset="0"/>
                <a:ea typeface="Arial" pitchFamily="34" charset="-122"/>
                <a:cs typeface="Arial" pitchFamily="34" charset="-120"/>
              </a:rPr>
              <a:t>Estudios previos concretos (3–5) muy cercanos a tu problema.</a:t>
            </a:r>
            <a:endParaRPr lang="en-US" sz="1500" dirty="0"/>
          </a:p>
        </p:txBody>
      </p:sp>
      <p:sp>
        <p:nvSpPr>
          <p:cNvPr id="9" name="Shape 7"/>
          <p:cNvSpPr/>
          <p:nvPr/>
        </p:nvSpPr>
        <p:spPr>
          <a:xfrm>
            <a:off x="822960" y="4434840"/>
            <a:ext cx="3017520" cy="502920"/>
          </a:xfrm>
          <a:prstGeom prst="roundRect">
            <a:avLst>
              <a:gd name="adj" fmla="val 14545"/>
            </a:avLst>
          </a:prstGeom>
          <a:solidFill>
            <a:srgbClr val="7A1420"/>
          </a:solidFill>
          <a:ln/>
        </p:spPr>
      </p:sp>
      <p:sp>
        <p:nvSpPr>
          <p:cNvPr id="10" name="Text 8"/>
          <p:cNvSpPr/>
          <p:nvPr/>
        </p:nvSpPr>
        <p:spPr>
          <a:xfrm>
            <a:off x="822960" y="4434840"/>
            <a:ext cx="3017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Capítulo I</a:t>
            </a:r>
            <a:endParaRPr lang="en-US" sz="1300" dirty="0"/>
          </a:p>
        </p:txBody>
      </p:sp>
      <p:sp>
        <p:nvSpPr>
          <p:cNvPr id="11" name="Shape 9"/>
          <p:cNvSpPr/>
          <p:nvPr/>
        </p:nvSpPr>
        <p:spPr>
          <a:xfrm>
            <a:off x="4251960" y="1828800"/>
            <a:ext cx="3566160" cy="3291840"/>
          </a:xfrm>
          <a:prstGeom prst="roundRect">
            <a:avLst>
              <a:gd name="adj" fmla="val 2500"/>
            </a:avLst>
          </a:prstGeom>
          <a:solidFill>
            <a:srgbClr val="EDEFF2"/>
          </a:solidFill>
          <a:ln/>
          <a:effectLst>
            <a:outerShdw sx="100000" sy="100000" kx="0" ky="0" algn="bl" rotWithShape="0" blurRad="76200" dist="25400" dir="5400000">
              <a:srgbClr val="9AA0A6">
                <a:alpha val="35000"/>
              </a:srgbClr>
            </a:outerShdw>
          </a:effectLst>
        </p:spPr>
      </p:sp>
      <p:sp>
        <p:nvSpPr>
          <p:cNvPr id="12" name="Text 10"/>
          <p:cNvSpPr/>
          <p:nvPr/>
        </p:nvSpPr>
        <p:spPr>
          <a:xfrm>
            <a:off x="4526280" y="2103120"/>
            <a:ext cx="3017520" cy="548640"/>
          </a:xfrm>
          <a:prstGeom prst="rect">
            <a:avLst/>
          </a:prstGeom>
          <a:noFill/>
          <a:ln/>
        </p:spPr>
        <p:txBody>
          <a:bodyPr wrap="square" lIns="0" tIns="0" rIns="0" bIns="0" rtlCol="0" anchor="ctr"/>
          <a:lstStyle/>
          <a:p>
            <a:pPr indent="0" marL="0">
              <a:buNone/>
            </a:pPr>
            <a:r>
              <a:rPr lang="en-US" sz="1900" b="1" dirty="0">
                <a:solidFill>
                  <a:srgbClr val="13294B"/>
                </a:solidFill>
                <a:latin typeface="Arial" pitchFamily="34" charset="0"/>
                <a:ea typeface="Arial" pitchFamily="34" charset="-122"/>
                <a:cs typeface="Arial" pitchFamily="34" charset="-120"/>
              </a:rPr>
              <a:t>Marco teórico</a:t>
            </a:r>
            <a:endParaRPr lang="en-US" sz="1900" dirty="0"/>
          </a:p>
        </p:txBody>
      </p:sp>
      <p:sp>
        <p:nvSpPr>
          <p:cNvPr id="13" name="Text 11"/>
          <p:cNvSpPr/>
          <p:nvPr/>
        </p:nvSpPr>
        <p:spPr>
          <a:xfrm>
            <a:off x="4526280" y="2743200"/>
            <a:ext cx="3017520" cy="1554480"/>
          </a:xfrm>
          <a:prstGeom prst="rect">
            <a:avLst/>
          </a:prstGeom>
          <a:noFill/>
          <a:ln/>
        </p:spPr>
        <p:txBody>
          <a:bodyPr wrap="square" lIns="0" tIns="0" rIns="0" bIns="0" rtlCol="0" anchor="ctr"/>
          <a:lstStyle/>
          <a:p>
            <a:pPr indent="0" marL="0">
              <a:lnSpc>
                <a:spcPct val="115000"/>
              </a:lnSpc>
              <a:buNone/>
            </a:pPr>
            <a:r>
              <a:rPr lang="en-US" sz="1500" dirty="0">
                <a:solidFill>
                  <a:srgbClr val="1F2733"/>
                </a:solidFill>
                <a:latin typeface="Arial" pitchFamily="34" charset="0"/>
                <a:ea typeface="Arial" pitchFamily="34" charset="-122"/>
                <a:cs typeface="Arial" pitchFamily="34" charset="-120"/>
              </a:rPr>
              <a:t>Teorías y conceptos que sustentan tus variables.</a:t>
            </a:r>
            <a:endParaRPr lang="en-US" sz="1500" dirty="0"/>
          </a:p>
        </p:txBody>
      </p:sp>
      <p:sp>
        <p:nvSpPr>
          <p:cNvPr id="14" name="Shape 12"/>
          <p:cNvSpPr/>
          <p:nvPr/>
        </p:nvSpPr>
        <p:spPr>
          <a:xfrm>
            <a:off x="4526280" y="4434840"/>
            <a:ext cx="3017520" cy="502920"/>
          </a:xfrm>
          <a:prstGeom prst="roundRect">
            <a:avLst>
              <a:gd name="adj" fmla="val 14545"/>
            </a:avLst>
          </a:prstGeom>
          <a:solidFill>
            <a:srgbClr val="13294B"/>
          </a:solidFill>
          <a:ln/>
        </p:spPr>
      </p:sp>
      <p:sp>
        <p:nvSpPr>
          <p:cNvPr id="15" name="Text 13"/>
          <p:cNvSpPr/>
          <p:nvPr/>
        </p:nvSpPr>
        <p:spPr>
          <a:xfrm>
            <a:off x="4526280" y="4434840"/>
            <a:ext cx="3017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Capítulo II</a:t>
            </a:r>
            <a:endParaRPr lang="en-US" sz="1300" dirty="0"/>
          </a:p>
        </p:txBody>
      </p:sp>
      <p:sp>
        <p:nvSpPr>
          <p:cNvPr id="16" name="Shape 14"/>
          <p:cNvSpPr/>
          <p:nvPr/>
        </p:nvSpPr>
        <p:spPr>
          <a:xfrm>
            <a:off x="7955280" y="1828800"/>
            <a:ext cx="3566160" cy="3291840"/>
          </a:xfrm>
          <a:prstGeom prst="roundRect">
            <a:avLst>
              <a:gd name="adj" fmla="val 2500"/>
            </a:avLst>
          </a:prstGeom>
          <a:solidFill>
            <a:srgbClr val="EDEFF2"/>
          </a:solidFill>
          <a:ln/>
          <a:effectLst>
            <a:outerShdw sx="100000" sy="100000" kx="0" ky="0" algn="bl" rotWithShape="0" blurRad="76200" dist="25400" dir="5400000">
              <a:srgbClr val="9AA0A6">
                <a:alpha val="35000"/>
              </a:srgbClr>
            </a:outerShdw>
          </a:effectLst>
        </p:spPr>
      </p:sp>
      <p:sp>
        <p:nvSpPr>
          <p:cNvPr id="17" name="Text 15"/>
          <p:cNvSpPr/>
          <p:nvPr/>
        </p:nvSpPr>
        <p:spPr>
          <a:xfrm>
            <a:off x="8229600" y="2103120"/>
            <a:ext cx="3017520" cy="548640"/>
          </a:xfrm>
          <a:prstGeom prst="rect">
            <a:avLst/>
          </a:prstGeom>
          <a:noFill/>
          <a:ln/>
        </p:spPr>
        <p:txBody>
          <a:bodyPr wrap="square" lIns="0" tIns="0" rIns="0" bIns="0" rtlCol="0" anchor="ctr"/>
          <a:lstStyle/>
          <a:p>
            <a:pPr indent="0" marL="0">
              <a:buNone/>
            </a:pPr>
            <a:r>
              <a:rPr lang="en-US" sz="1900" b="1" dirty="0">
                <a:solidFill>
                  <a:srgbClr val="9B2233"/>
                </a:solidFill>
                <a:latin typeface="Arial" pitchFamily="34" charset="0"/>
                <a:ea typeface="Arial" pitchFamily="34" charset="-122"/>
                <a:cs typeface="Arial" pitchFamily="34" charset="-120"/>
              </a:rPr>
              <a:t>Estado del arte</a:t>
            </a:r>
            <a:endParaRPr lang="en-US" sz="1900" dirty="0"/>
          </a:p>
        </p:txBody>
      </p:sp>
      <p:sp>
        <p:nvSpPr>
          <p:cNvPr id="18" name="Text 16"/>
          <p:cNvSpPr/>
          <p:nvPr/>
        </p:nvSpPr>
        <p:spPr>
          <a:xfrm>
            <a:off x="8229600" y="2743200"/>
            <a:ext cx="3017520" cy="1554480"/>
          </a:xfrm>
          <a:prstGeom prst="rect">
            <a:avLst/>
          </a:prstGeom>
          <a:noFill/>
          <a:ln/>
        </p:spPr>
        <p:txBody>
          <a:bodyPr wrap="square" lIns="0" tIns="0" rIns="0" bIns="0" rtlCol="0" anchor="ctr"/>
          <a:lstStyle/>
          <a:p>
            <a:pPr indent="0" marL="0">
              <a:lnSpc>
                <a:spcPct val="115000"/>
              </a:lnSpc>
              <a:buNone/>
            </a:pPr>
            <a:r>
              <a:rPr lang="en-US" sz="1500" dirty="0">
                <a:solidFill>
                  <a:srgbClr val="1F2733"/>
                </a:solidFill>
                <a:latin typeface="Arial" pitchFamily="34" charset="0"/>
                <a:ea typeface="Arial" pitchFamily="34" charset="-122"/>
                <a:cs typeface="Arial" pitchFamily="34" charset="-120"/>
              </a:rPr>
              <a:t>Lo más reciente y avanzado del campo + el vacío.</a:t>
            </a:r>
            <a:endParaRPr lang="en-US" sz="1500" dirty="0"/>
          </a:p>
        </p:txBody>
      </p:sp>
      <p:sp>
        <p:nvSpPr>
          <p:cNvPr id="19" name="Shape 17"/>
          <p:cNvSpPr/>
          <p:nvPr/>
        </p:nvSpPr>
        <p:spPr>
          <a:xfrm>
            <a:off x="8229600" y="4434840"/>
            <a:ext cx="3017520" cy="502920"/>
          </a:xfrm>
          <a:prstGeom prst="roundRect">
            <a:avLst>
              <a:gd name="adj" fmla="val 14545"/>
            </a:avLst>
          </a:prstGeom>
          <a:solidFill>
            <a:srgbClr val="9B2233"/>
          </a:solidFill>
          <a:ln/>
        </p:spPr>
      </p:sp>
      <p:sp>
        <p:nvSpPr>
          <p:cNvPr id="20" name="Text 18"/>
          <p:cNvSpPr/>
          <p:nvPr/>
        </p:nvSpPr>
        <p:spPr>
          <a:xfrm>
            <a:off x="8229600" y="4434840"/>
            <a:ext cx="30175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Cap. II / Justificación</a:t>
            </a:r>
            <a:endParaRPr lang="en-US" sz="1300" dirty="0"/>
          </a:p>
        </p:txBody>
      </p:sp>
      <p:sp>
        <p:nvSpPr>
          <p:cNvPr id="21" name="Shape 19"/>
          <p:cNvSpPr/>
          <p:nvPr/>
        </p:nvSpPr>
        <p:spPr>
          <a:xfrm>
            <a:off x="548640" y="5349240"/>
            <a:ext cx="10972800" cy="868680"/>
          </a:xfrm>
          <a:prstGeom prst="roundRect">
            <a:avLst>
              <a:gd name="adj" fmla="val 9474"/>
            </a:avLst>
          </a:prstGeom>
          <a:solidFill>
            <a:srgbClr val="F3E1E4"/>
          </a:solidFill>
          <a:ln/>
        </p:spPr>
      </p:sp>
      <p:sp>
        <p:nvSpPr>
          <p:cNvPr id="22" name="Text 20"/>
          <p:cNvSpPr/>
          <p:nvPr/>
        </p:nvSpPr>
        <p:spPr>
          <a:xfrm>
            <a:off x="914400" y="5349240"/>
            <a:ext cx="10241280" cy="8686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Los tres se nutren de la misma revisión de literatura — pero cumplen funciones distintas en tu TSP.</a:t>
            </a:r>
            <a:endParaRPr lang="en-US" sz="1600" dirty="0"/>
          </a:p>
        </p:txBody>
      </p:sp>
      <p:sp>
        <p:nvSpPr>
          <p:cNvPr id="23" name="Text 21"/>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24" name="Text 22"/>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B · FUNDAMENTOS</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Cuatro tipos de revisión</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2377440"/>
                <a:gridCol w="5120640"/>
                <a:gridCol w="3593592"/>
              </a:tblGrid>
              <a:tr h="502920">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Tipo</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Para qué sirve</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Rigor / herramienta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r>
              <a:tr h="731520">
                <a:tc>
                  <a:txBody>
                    <a:bodyPr/>
                    <a:lstStyle/>
                    <a:p>
                      <a:pPr algn="l" indent="0" marL="0">
                        <a:buNone/>
                      </a:pPr>
                      <a:r>
                        <a:rPr lang="en-US" sz="1400" b="1" dirty="0">
                          <a:solidFill>
                            <a:srgbClr val="7A1420"/>
                          </a:solidFill>
                          <a:latin typeface="Arial" pitchFamily="34" charset="0"/>
                          <a:ea typeface="Arial" pitchFamily="34" charset="-122"/>
                          <a:cs typeface="Arial" pitchFamily="34" charset="-120"/>
                        </a:rPr>
                        <a:t>Narrativa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Panorama general y flexible del tema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Bajo; riesgo de sesgo</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7A1420"/>
                          </a:solidFill>
                          <a:latin typeface="Arial" pitchFamily="34" charset="0"/>
                          <a:ea typeface="Arial" pitchFamily="34" charset="-122"/>
                          <a:cs typeface="Arial" pitchFamily="34" charset="-120"/>
                        </a:rPr>
                        <a:t>Sistemática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Responder una pregunta precisa y reproducible</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Alto; protocolo PRISMA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r h="731520">
                <a:tc>
                  <a:txBody>
                    <a:bodyPr/>
                    <a:lstStyle/>
                    <a:p>
                      <a:pPr algn="l" indent="0" marL="0">
                        <a:buNone/>
                      </a:pPr>
                      <a:r>
                        <a:rPr lang="en-US" sz="1400" b="1" dirty="0">
                          <a:solidFill>
                            <a:srgbClr val="7A1420"/>
                          </a:solidFill>
                          <a:latin typeface="Arial" pitchFamily="34" charset="0"/>
                          <a:ea typeface="Arial" pitchFamily="34" charset="-122"/>
                          <a:cs typeface="Arial" pitchFamily="34" charset="-120"/>
                        </a:rPr>
                        <a:t>Scoping</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Mapear el alcance y los vacíos de un campo amplio</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Medio; PRISMA-ScR</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r h="731520">
                <a:tc>
                  <a:txBody>
                    <a:bodyPr/>
                    <a:lstStyle/>
                    <a:p>
                      <a:pPr algn="l" indent="0" marL="0">
                        <a:buNone/>
                      </a:pPr>
                      <a:r>
                        <a:rPr lang="en-US" sz="1400" b="1" dirty="0">
                          <a:solidFill>
                            <a:srgbClr val="7A1420"/>
                          </a:solidFill>
                          <a:latin typeface="Arial" pitchFamily="34" charset="0"/>
                          <a:ea typeface="Arial" pitchFamily="34" charset="-122"/>
                          <a:cs typeface="Arial" pitchFamily="34" charset="-120"/>
                        </a:rPr>
                        <a:t>Bibliométrica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Analizar métricas y redes de citación</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algn="l" indent="0" marL="0">
                        <a:buNone/>
                      </a:pPr>
                      <a:r>
                        <a:rPr lang="en-US" sz="1400" dirty="0">
                          <a:solidFill>
                            <a:srgbClr val="1F2733"/>
                          </a:solidFill>
                          <a:latin typeface="Arial" pitchFamily="34" charset="0"/>
                          <a:ea typeface="Arial" pitchFamily="34" charset="-122"/>
                          <a:cs typeface="Arial" pitchFamily="34" charset="-120"/>
                        </a:rPr>
                        <a:t>Alto; VOSviewer, Bibliometrix</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bl>
          </a:graphicData>
        </a:graphic>
      </p:graphicFrame>
      <p:sp>
        <p:nvSpPr>
          <p:cNvPr id="5" name="Shape 2"/>
          <p:cNvSpPr/>
          <p:nvPr/>
        </p:nvSpPr>
        <p:spPr>
          <a:xfrm>
            <a:off x="548640" y="5623560"/>
            <a:ext cx="10972800" cy="685800"/>
          </a:xfrm>
          <a:prstGeom prst="roundRect">
            <a:avLst>
              <a:gd name="adj" fmla="val 12000"/>
            </a:avLst>
          </a:prstGeom>
          <a:solidFill>
            <a:srgbClr val="F3E1E4"/>
          </a:solidFill>
          <a:ln/>
        </p:spPr>
      </p:sp>
      <p:sp>
        <p:nvSpPr>
          <p:cNvPr id="6" name="Text 3"/>
          <p:cNvSpPr/>
          <p:nvPr/>
        </p:nvSpPr>
        <p:spPr>
          <a:xfrm>
            <a:off x="914400" y="5623560"/>
            <a:ext cx="10241280" cy="68580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Para un TSP de ingeniería, apunta a una revisión sistemática ligera: pregunta clara + búsqueda reproducible + cribado.</a:t>
            </a:r>
            <a:endParaRPr lang="en-US" sz="1500" dirty="0"/>
          </a:p>
        </p:txBody>
      </p:sp>
      <p:sp>
        <p:nvSpPr>
          <p:cNvPr id="7" name="Text 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8"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C · PREGUNTA</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 un tema a una pregunta investigable</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25–35 min</a:t>
            </a:r>
            <a:endParaRPr lang="en-US" sz="1200" dirty="0"/>
          </a:p>
        </p:txBody>
      </p:sp>
      <p:sp>
        <p:nvSpPr>
          <p:cNvPr id="6" name="Shape 4"/>
          <p:cNvSpPr/>
          <p:nvPr/>
        </p:nvSpPr>
        <p:spPr>
          <a:xfrm>
            <a:off x="548640" y="1828800"/>
            <a:ext cx="5394960" cy="2743200"/>
          </a:xfrm>
          <a:prstGeom prst="roundRect">
            <a:avLst>
              <a:gd name="adj" fmla="val 3000"/>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2057400"/>
            <a:ext cx="4846320" cy="365760"/>
          </a:xfrm>
          <a:prstGeom prst="rect">
            <a:avLst/>
          </a:prstGeom>
          <a:noFill/>
          <a:ln/>
        </p:spPr>
        <p:txBody>
          <a:bodyPr wrap="square" lIns="0" tIns="0" rIns="0" bIns="0" rtlCol="0" anchor="ctr"/>
          <a:lstStyle/>
          <a:p>
            <a:pPr indent="0" marL="0">
              <a:buNone/>
            </a:pPr>
            <a:r>
              <a:rPr lang="en-US" sz="1500" b="1" dirty="0">
                <a:solidFill>
                  <a:srgbClr val="6B7280"/>
                </a:solidFill>
                <a:latin typeface="Arial" pitchFamily="34" charset="0"/>
                <a:ea typeface="Arial" pitchFamily="34" charset="-122"/>
                <a:cs typeface="Arial" pitchFamily="34" charset="-120"/>
              </a:rPr>
              <a:t>Tema (demasiado amplio)</a:t>
            </a:r>
            <a:endParaRPr lang="en-US" sz="1500" dirty="0"/>
          </a:p>
        </p:txBody>
      </p:sp>
      <p:sp>
        <p:nvSpPr>
          <p:cNvPr id="8" name="Text 6"/>
          <p:cNvSpPr/>
          <p:nvPr/>
        </p:nvSpPr>
        <p:spPr>
          <a:xfrm>
            <a:off x="822960" y="2514600"/>
            <a:ext cx="4846320" cy="1920240"/>
          </a:xfrm>
          <a:prstGeom prst="rect">
            <a:avLst/>
          </a:prstGeom>
          <a:noFill/>
          <a:ln/>
        </p:spPr>
        <p:txBody>
          <a:bodyPr wrap="square" lIns="0" tIns="0" rIns="0" bIns="0" rtlCol="0" anchor="ctr"/>
          <a:lstStyle/>
          <a:p>
            <a:pPr indent="0" marL="0">
              <a:lnSpc>
                <a:spcPct val="115000"/>
              </a:lnSpc>
              <a:buNone/>
            </a:pPr>
            <a:r>
              <a:rPr lang="en-US" sz="1550" dirty="0">
                <a:solidFill>
                  <a:srgbClr val="1F2733"/>
                </a:solidFill>
                <a:latin typeface="Arial" pitchFamily="34" charset="0"/>
                <a:ea typeface="Arial" pitchFamily="34" charset="-122"/>
                <a:cs typeface="Arial" pitchFamily="34" charset="-120"/>
              </a:rPr>
              <a:t>“Inteligencia artificial en mantenimiento.”</a:t>
            </a:r>
            <a:endParaRPr lang="en-US" sz="1550" dirty="0"/>
          </a:p>
          <a:p>
            <a:pPr indent="0" marL="0">
              <a:lnSpc>
                <a:spcPct val="115000"/>
              </a:lnSpc>
              <a:buNone/>
            </a:pPr>
            <a:endParaRPr lang="en-US" sz="1550" dirty="0"/>
          </a:p>
          <a:p>
            <a:pPr indent="0" marL="0">
              <a:lnSpc>
                <a:spcPct val="115000"/>
              </a:lnSpc>
              <a:buNone/>
            </a:pPr>
            <a:r>
              <a:rPr lang="en-US" sz="1550" dirty="0">
                <a:solidFill>
                  <a:srgbClr val="1F2733"/>
                </a:solidFill>
                <a:latin typeface="Arial" pitchFamily="34" charset="0"/>
                <a:ea typeface="Arial" pitchFamily="34" charset="-122"/>
                <a:cs typeface="Arial" pitchFamily="34" charset="-120"/>
              </a:rPr>
              <a:t>No se puede buscar ni acotar: devuelve miles de resultados irrelevantes.</a:t>
            </a:r>
            <a:endParaRPr lang="en-US" sz="1550" dirty="0"/>
          </a:p>
        </p:txBody>
      </p:sp>
      <p:sp>
        <p:nvSpPr>
          <p:cNvPr id="9" name="Shape 7"/>
          <p:cNvSpPr/>
          <p:nvPr/>
        </p:nvSpPr>
        <p:spPr>
          <a:xfrm>
            <a:off x="6126480" y="1828800"/>
            <a:ext cx="5394960" cy="2743200"/>
          </a:xfrm>
          <a:prstGeom prst="roundRect">
            <a:avLst>
              <a:gd name="adj" fmla="val 3000"/>
            </a:avLst>
          </a:prstGeom>
          <a:solidFill>
            <a:srgbClr val="E7F0E9"/>
          </a:solidFill>
          <a:ln/>
          <a:effectLst>
            <a:outerShdw sx="100000" sy="100000" kx="0" ky="0" algn="bl" rotWithShape="0" blurRad="76200" dist="25400" dir="5400000">
              <a:srgbClr val="9AA0A6">
                <a:alpha val="35000"/>
              </a:srgbClr>
            </a:outerShdw>
          </a:effectLst>
        </p:spPr>
      </p:sp>
      <p:sp>
        <p:nvSpPr>
          <p:cNvPr id="10" name="Text 8"/>
          <p:cNvSpPr/>
          <p:nvPr/>
        </p:nvSpPr>
        <p:spPr>
          <a:xfrm>
            <a:off x="6400800" y="2057400"/>
            <a:ext cx="48463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Pregunta investigable</a:t>
            </a:r>
            <a:endParaRPr lang="en-US" sz="1500" dirty="0"/>
          </a:p>
        </p:txBody>
      </p:sp>
      <p:sp>
        <p:nvSpPr>
          <p:cNvPr id="11" name="Text 9"/>
          <p:cNvSpPr/>
          <p:nvPr/>
        </p:nvSpPr>
        <p:spPr>
          <a:xfrm>
            <a:off x="6400800" y="2514600"/>
            <a:ext cx="4846320" cy="1920240"/>
          </a:xfrm>
          <a:prstGeom prst="rect">
            <a:avLst/>
          </a:prstGeom>
          <a:noFill/>
          <a:ln/>
        </p:spPr>
        <p:txBody>
          <a:bodyPr wrap="square" lIns="0" tIns="0" rIns="0" bIns="0" rtlCol="0" anchor="ctr"/>
          <a:lstStyle/>
          <a:p>
            <a:pPr indent="0" marL="0">
              <a:lnSpc>
                <a:spcPct val="115000"/>
              </a:lnSpc>
              <a:buNone/>
            </a:pPr>
            <a:r>
              <a:rPr lang="en-US" sz="1550" dirty="0">
                <a:solidFill>
                  <a:srgbClr val="1F2733"/>
                </a:solidFill>
                <a:latin typeface="Arial" pitchFamily="34" charset="0"/>
                <a:ea typeface="Arial" pitchFamily="34" charset="-122"/>
                <a:cs typeface="Arial" pitchFamily="34" charset="-120"/>
              </a:rPr>
              <a:t>“¿Qué modelos de deep learning se han usado para predecir fallas en sistemas ferroviarios y qué desempeño reportan?”</a:t>
            </a:r>
            <a:endParaRPr lang="en-US" sz="1550" dirty="0"/>
          </a:p>
          <a:p>
            <a:pPr indent="0" marL="0">
              <a:lnSpc>
                <a:spcPct val="115000"/>
              </a:lnSpc>
              <a:buNone/>
            </a:pPr>
            <a:endParaRPr lang="en-US" sz="1550" dirty="0"/>
          </a:p>
          <a:p>
            <a:pPr indent="0" marL="0">
              <a:lnSpc>
                <a:spcPct val="115000"/>
              </a:lnSpc>
              <a:buNone/>
            </a:pPr>
            <a:r>
              <a:rPr lang="en-US" sz="1550" dirty="0">
                <a:solidFill>
                  <a:srgbClr val="1F2733"/>
                </a:solidFill>
                <a:latin typeface="Arial" pitchFamily="34" charset="0"/>
                <a:ea typeface="Arial" pitchFamily="34" charset="-122"/>
                <a:cs typeface="Arial" pitchFamily="34" charset="-120"/>
              </a:rPr>
              <a:t>Acotada, buscable y comparable.</a:t>
            </a:r>
            <a:endParaRPr lang="en-US" sz="1550" dirty="0"/>
          </a:p>
        </p:txBody>
      </p:sp>
      <p:sp>
        <p:nvSpPr>
          <p:cNvPr id="12" name="Shape 10"/>
          <p:cNvSpPr/>
          <p:nvPr/>
        </p:nvSpPr>
        <p:spPr>
          <a:xfrm>
            <a:off x="548640" y="4800600"/>
            <a:ext cx="10972800" cy="1280160"/>
          </a:xfrm>
          <a:prstGeom prst="roundRect">
            <a:avLst>
              <a:gd name="adj" fmla="val 6429"/>
            </a:avLst>
          </a:prstGeom>
          <a:solidFill>
            <a:srgbClr val="13294B"/>
          </a:solidFill>
          <a:ln/>
        </p:spPr>
      </p:sp>
      <p:sp>
        <p:nvSpPr>
          <p:cNvPr id="13" name="Text 11"/>
          <p:cNvSpPr/>
          <p:nvPr/>
        </p:nvSpPr>
        <p:spPr>
          <a:xfrm>
            <a:off x="914400" y="4800600"/>
            <a:ext cx="10241280" cy="1280160"/>
          </a:xfrm>
          <a:prstGeom prst="rect">
            <a:avLst/>
          </a:prstGeom>
          <a:noFill/>
          <a:ln/>
        </p:spPr>
        <p:txBody>
          <a:bodyPr wrap="square" lIns="0" tIns="0" rIns="0" bIns="0" rtlCol="0" anchor="ctr"/>
          <a:lstStyle/>
          <a:p>
            <a:pPr indent="0" marL="0">
              <a:buNone/>
            </a:pPr>
            <a:r>
              <a:rPr lang="en-US" sz="1900" b="1" dirty="0">
                <a:solidFill>
                  <a:srgbClr val="FFFFFF"/>
                </a:solidFill>
                <a:latin typeface="Arial" pitchFamily="34" charset="0"/>
                <a:ea typeface="Arial" pitchFamily="34" charset="-122"/>
                <a:cs typeface="Arial" pitchFamily="34" charset="-120"/>
              </a:rPr>
              <a:t>Una buena pregunta define qué papers son relevantes. Sin ella, la búsqueda es ruido.</a:t>
            </a:r>
            <a:endParaRPr lang="en-US" sz="1900" dirty="0"/>
          </a:p>
        </p:txBody>
      </p:sp>
      <p:sp>
        <p:nvSpPr>
          <p:cNvPr id="14" name="Text 12"/>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5" name="Text 13"/>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C · PREGUNTA</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Descompón tu pregunta: PICOC</a:t>
            </a:r>
            <a:endParaRPr lang="en-US" sz="3000" dirty="0"/>
          </a:p>
        </p:txBody>
      </p:sp>
      <p:sp>
        <p:nvSpPr>
          <p:cNvPr id="4" name="Shape 2"/>
          <p:cNvSpPr/>
          <p:nvPr/>
        </p:nvSpPr>
        <p:spPr>
          <a:xfrm>
            <a:off x="548640" y="1828800"/>
            <a:ext cx="10972800" cy="786384"/>
          </a:xfrm>
          <a:prstGeom prst="roundRect">
            <a:avLst>
              <a:gd name="adj" fmla="val 10465"/>
            </a:avLst>
          </a:prstGeom>
          <a:solidFill>
            <a:srgbClr val="EDEFF2"/>
          </a:solidFill>
          <a:ln/>
        </p:spPr>
      </p:sp>
      <p:sp>
        <p:nvSpPr>
          <p:cNvPr id="5" name="Shape 3"/>
          <p:cNvSpPr/>
          <p:nvPr/>
        </p:nvSpPr>
        <p:spPr>
          <a:xfrm>
            <a:off x="731520" y="1947672"/>
            <a:ext cx="548640" cy="548640"/>
          </a:xfrm>
          <a:prstGeom prst="roundRect">
            <a:avLst>
              <a:gd name="adj" fmla="val 16667"/>
            </a:avLst>
          </a:prstGeom>
          <a:solidFill>
            <a:srgbClr val="7A1420"/>
          </a:solidFill>
          <a:ln/>
        </p:spPr>
      </p:sp>
      <p:sp>
        <p:nvSpPr>
          <p:cNvPr id="6" name="Text 4"/>
          <p:cNvSpPr/>
          <p:nvPr/>
        </p:nvSpPr>
        <p:spPr>
          <a:xfrm>
            <a:off x="731520" y="1947672"/>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P</a:t>
            </a:r>
            <a:endParaRPr lang="en-US" sz="2400" dirty="0"/>
          </a:p>
        </p:txBody>
      </p:sp>
      <p:sp>
        <p:nvSpPr>
          <p:cNvPr id="7" name="Text 5"/>
          <p:cNvSpPr/>
          <p:nvPr/>
        </p:nvSpPr>
        <p:spPr>
          <a:xfrm>
            <a:off x="1554480" y="1828800"/>
            <a:ext cx="4206240" cy="786384"/>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Población / Problema</a:t>
            </a:r>
            <a:endParaRPr lang="en-US" sz="1600" dirty="0"/>
          </a:p>
        </p:txBody>
      </p:sp>
      <p:sp>
        <p:nvSpPr>
          <p:cNvPr id="8" name="Text 6"/>
          <p:cNvSpPr/>
          <p:nvPr/>
        </p:nvSpPr>
        <p:spPr>
          <a:xfrm>
            <a:off x="5852160" y="1828800"/>
            <a:ext cx="566928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Sistemas ferroviarios</a:t>
            </a:r>
            <a:endParaRPr lang="en-US" sz="1500" dirty="0"/>
          </a:p>
        </p:txBody>
      </p:sp>
      <p:sp>
        <p:nvSpPr>
          <p:cNvPr id="9" name="Shape 7"/>
          <p:cNvSpPr/>
          <p:nvPr/>
        </p:nvSpPr>
        <p:spPr>
          <a:xfrm>
            <a:off x="548640" y="2706624"/>
            <a:ext cx="10972800" cy="786384"/>
          </a:xfrm>
          <a:prstGeom prst="roundRect">
            <a:avLst>
              <a:gd name="adj" fmla="val 10465"/>
            </a:avLst>
          </a:prstGeom>
          <a:solidFill>
            <a:srgbClr val="EDEFF2"/>
          </a:solidFill>
          <a:ln/>
        </p:spPr>
      </p:sp>
      <p:sp>
        <p:nvSpPr>
          <p:cNvPr id="10" name="Shape 8"/>
          <p:cNvSpPr/>
          <p:nvPr/>
        </p:nvSpPr>
        <p:spPr>
          <a:xfrm>
            <a:off x="731520" y="2825496"/>
            <a:ext cx="548640" cy="548640"/>
          </a:xfrm>
          <a:prstGeom prst="roundRect">
            <a:avLst>
              <a:gd name="adj" fmla="val 16667"/>
            </a:avLst>
          </a:prstGeom>
          <a:solidFill>
            <a:srgbClr val="13294B"/>
          </a:solidFill>
          <a:ln/>
        </p:spPr>
      </p:sp>
      <p:sp>
        <p:nvSpPr>
          <p:cNvPr id="11" name="Text 9"/>
          <p:cNvSpPr/>
          <p:nvPr/>
        </p:nvSpPr>
        <p:spPr>
          <a:xfrm>
            <a:off x="731520" y="2825496"/>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I</a:t>
            </a:r>
            <a:endParaRPr lang="en-US" sz="2400" dirty="0"/>
          </a:p>
        </p:txBody>
      </p:sp>
      <p:sp>
        <p:nvSpPr>
          <p:cNvPr id="12" name="Text 10"/>
          <p:cNvSpPr/>
          <p:nvPr/>
        </p:nvSpPr>
        <p:spPr>
          <a:xfrm>
            <a:off x="1554480" y="2706624"/>
            <a:ext cx="4206240" cy="786384"/>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Intervención</a:t>
            </a:r>
            <a:endParaRPr lang="en-US" sz="1600" dirty="0"/>
          </a:p>
        </p:txBody>
      </p:sp>
      <p:sp>
        <p:nvSpPr>
          <p:cNvPr id="13" name="Text 11"/>
          <p:cNvSpPr/>
          <p:nvPr/>
        </p:nvSpPr>
        <p:spPr>
          <a:xfrm>
            <a:off x="5852160" y="2706624"/>
            <a:ext cx="566928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Modelos de deep learning</a:t>
            </a:r>
            <a:endParaRPr lang="en-US" sz="1500" dirty="0"/>
          </a:p>
        </p:txBody>
      </p:sp>
      <p:sp>
        <p:nvSpPr>
          <p:cNvPr id="14" name="Shape 12"/>
          <p:cNvSpPr/>
          <p:nvPr/>
        </p:nvSpPr>
        <p:spPr>
          <a:xfrm>
            <a:off x="548640" y="3584448"/>
            <a:ext cx="10972800" cy="786384"/>
          </a:xfrm>
          <a:prstGeom prst="roundRect">
            <a:avLst>
              <a:gd name="adj" fmla="val 10465"/>
            </a:avLst>
          </a:prstGeom>
          <a:solidFill>
            <a:srgbClr val="EDEFF2"/>
          </a:solidFill>
          <a:ln/>
        </p:spPr>
      </p:sp>
      <p:sp>
        <p:nvSpPr>
          <p:cNvPr id="15" name="Shape 13"/>
          <p:cNvSpPr/>
          <p:nvPr/>
        </p:nvSpPr>
        <p:spPr>
          <a:xfrm>
            <a:off x="731520" y="3703320"/>
            <a:ext cx="548640" cy="548640"/>
          </a:xfrm>
          <a:prstGeom prst="roundRect">
            <a:avLst>
              <a:gd name="adj" fmla="val 16667"/>
            </a:avLst>
          </a:prstGeom>
          <a:solidFill>
            <a:srgbClr val="9B2233"/>
          </a:solidFill>
          <a:ln/>
        </p:spPr>
      </p:sp>
      <p:sp>
        <p:nvSpPr>
          <p:cNvPr id="16" name="Text 14"/>
          <p:cNvSpPr/>
          <p:nvPr/>
        </p:nvSpPr>
        <p:spPr>
          <a:xfrm>
            <a:off x="731520" y="3703320"/>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a:t>
            </a:r>
            <a:endParaRPr lang="en-US" sz="2400" dirty="0"/>
          </a:p>
        </p:txBody>
      </p:sp>
      <p:sp>
        <p:nvSpPr>
          <p:cNvPr id="17" name="Text 15"/>
          <p:cNvSpPr/>
          <p:nvPr/>
        </p:nvSpPr>
        <p:spPr>
          <a:xfrm>
            <a:off x="1554480" y="3584448"/>
            <a:ext cx="4206240" cy="786384"/>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Comparación</a:t>
            </a:r>
            <a:endParaRPr lang="en-US" sz="1600" dirty="0"/>
          </a:p>
        </p:txBody>
      </p:sp>
      <p:sp>
        <p:nvSpPr>
          <p:cNvPr id="18" name="Text 16"/>
          <p:cNvSpPr/>
          <p:nvPr/>
        </p:nvSpPr>
        <p:spPr>
          <a:xfrm>
            <a:off x="5852160" y="3584448"/>
            <a:ext cx="566928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Métodos tradicionales / ML clásico</a:t>
            </a:r>
            <a:endParaRPr lang="en-US" sz="1500" dirty="0"/>
          </a:p>
        </p:txBody>
      </p:sp>
      <p:sp>
        <p:nvSpPr>
          <p:cNvPr id="19" name="Shape 17"/>
          <p:cNvSpPr/>
          <p:nvPr/>
        </p:nvSpPr>
        <p:spPr>
          <a:xfrm>
            <a:off x="548640" y="4462272"/>
            <a:ext cx="10972800" cy="786384"/>
          </a:xfrm>
          <a:prstGeom prst="roundRect">
            <a:avLst>
              <a:gd name="adj" fmla="val 10465"/>
            </a:avLst>
          </a:prstGeom>
          <a:solidFill>
            <a:srgbClr val="EDEFF2"/>
          </a:solidFill>
          <a:ln/>
        </p:spPr>
      </p:sp>
      <p:sp>
        <p:nvSpPr>
          <p:cNvPr id="20" name="Shape 18"/>
          <p:cNvSpPr/>
          <p:nvPr/>
        </p:nvSpPr>
        <p:spPr>
          <a:xfrm>
            <a:off x="731520" y="4581144"/>
            <a:ext cx="548640" cy="548640"/>
          </a:xfrm>
          <a:prstGeom prst="roundRect">
            <a:avLst>
              <a:gd name="adj" fmla="val 16667"/>
            </a:avLst>
          </a:prstGeom>
          <a:solidFill>
            <a:srgbClr val="1F4068"/>
          </a:solidFill>
          <a:ln/>
        </p:spPr>
      </p:sp>
      <p:sp>
        <p:nvSpPr>
          <p:cNvPr id="21" name="Text 19"/>
          <p:cNvSpPr/>
          <p:nvPr/>
        </p:nvSpPr>
        <p:spPr>
          <a:xfrm>
            <a:off x="731520" y="4581144"/>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O</a:t>
            </a:r>
            <a:endParaRPr lang="en-US" sz="2400" dirty="0"/>
          </a:p>
        </p:txBody>
      </p:sp>
      <p:sp>
        <p:nvSpPr>
          <p:cNvPr id="22" name="Text 20"/>
          <p:cNvSpPr/>
          <p:nvPr/>
        </p:nvSpPr>
        <p:spPr>
          <a:xfrm>
            <a:off x="1554480" y="4462272"/>
            <a:ext cx="4206240" cy="786384"/>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Resultado (Outcome)</a:t>
            </a:r>
            <a:endParaRPr lang="en-US" sz="1600" dirty="0"/>
          </a:p>
        </p:txBody>
      </p:sp>
      <p:sp>
        <p:nvSpPr>
          <p:cNvPr id="23" name="Text 21"/>
          <p:cNvSpPr/>
          <p:nvPr/>
        </p:nvSpPr>
        <p:spPr>
          <a:xfrm>
            <a:off x="5852160" y="4462272"/>
            <a:ext cx="566928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Precisión en predicción de fallas</a:t>
            </a:r>
            <a:endParaRPr lang="en-US" sz="1500" dirty="0"/>
          </a:p>
        </p:txBody>
      </p:sp>
      <p:sp>
        <p:nvSpPr>
          <p:cNvPr id="24" name="Shape 22"/>
          <p:cNvSpPr/>
          <p:nvPr/>
        </p:nvSpPr>
        <p:spPr>
          <a:xfrm>
            <a:off x="548640" y="5340096"/>
            <a:ext cx="10972800" cy="786384"/>
          </a:xfrm>
          <a:prstGeom prst="roundRect">
            <a:avLst>
              <a:gd name="adj" fmla="val 10465"/>
            </a:avLst>
          </a:prstGeom>
          <a:solidFill>
            <a:srgbClr val="EDEFF2"/>
          </a:solidFill>
          <a:ln/>
        </p:spPr>
      </p:sp>
      <p:sp>
        <p:nvSpPr>
          <p:cNvPr id="25" name="Shape 23"/>
          <p:cNvSpPr/>
          <p:nvPr/>
        </p:nvSpPr>
        <p:spPr>
          <a:xfrm>
            <a:off x="731520" y="5458968"/>
            <a:ext cx="548640" cy="548640"/>
          </a:xfrm>
          <a:prstGeom prst="roundRect">
            <a:avLst>
              <a:gd name="adj" fmla="val 16667"/>
            </a:avLst>
          </a:prstGeom>
          <a:solidFill>
            <a:srgbClr val="6B7280"/>
          </a:solidFill>
          <a:ln/>
        </p:spPr>
      </p:sp>
      <p:sp>
        <p:nvSpPr>
          <p:cNvPr id="26" name="Text 24"/>
          <p:cNvSpPr/>
          <p:nvPr/>
        </p:nvSpPr>
        <p:spPr>
          <a:xfrm>
            <a:off x="731520" y="5458968"/>
            <a:ext cx="548640" cy="548640"/>
          </a:xfrm>
          <a:prstGeom prst="rect">
            <a:avLst/>
          </a:prstGeom>
          <a:noFill/>
          <a:ln/>
        </p:spPr>
        <p:txBody>
          <a:bodyPr wrap="square" lIns="0" tIns="0" rIns="0" bIns="0" rtlCol="0" anchor="ctr"/>
          <a:lstStyle/>
          <a:p>
            <a:pPr algn="ctr" indent="0" marL="0">
              <a:buNone/>
            </a:pPr>
            <a:r>
              <a:rPr lang="en-US" sz="2400" b="1" dirty="0">
                <a:solidFill>
                  <a:srgbClr val="FFFFFF"/>
                </a:solidFill>
                <a:latin typeface="Arial" pitchFamily="34" charset="0"/>
                <a:ea typeface="Arial" pitchFamily="34" charset="-122"/>
                <a:cs typeface="Arial" pitchFamily="34" charset="-120"/>
              </a:rPr>
              <a:t>C</a:t>
            </a:r>
            <a:endParaRPr lang="en-US" sz="2400" dirty="0"/>
          </a:p>
        </p:txBody>
      </p:sp>
      <p:sp>
        <p:nvSpPr>
          <p:cNvPr id="27" name="Text 25"/>
          <p:cNvSpPr/>
          <p:nvPr/>
        </p:nvSpPr>
        <p:spPr>
          <a:xfrm>
            <a:off x="1554480" y="5340096"/>
            <a:ext cx="4206240" cy="786384"/>
          </a:xfrm>
          <a:prstGeom prst="rect">
            <a:avLst/>
          </a:prstGeom>
          <a:noFill/>
          <a:ln/>
        </p:spPr>
        <p:txBody>
          <a:bodyPr wrap="square" lIns="0" tIns="0" rIns="0" bIns="0" rtlCol="0" anchor="ctr"/>
          <a:lstStyle/>
          <a:p>
            <a:pPr indent="0" marL="0">
              <a:buNone/>
            </a:pPr>
            <a:r>
              <a:rPr lang="en-US" sz="1600" b="1" dirty="0">
                <a:solidFill>
                  <a:srgbClr val="13294B"/>
                </a:solidFill>
                <a:latin typeface="Arial" pitchFamily="34" charset="0"/>
                <a:ea typeface="Arial" pitchFamily="34" charset="-122"/>
                <a:cs typeface="Arial" pitchFamily="34" charset="-120"/>
              </a:rPr>
              <a:t>Contexto</a:t>
            </a:r>
            <a:endParaRPr lang="en-US" sz="1600" dirty="0"/>
          </a:p>
        </p:txBody>
      </p:sp>
      <p:sp>
        <p:nvSpPr>
          <p:cNvPr id="28" name="Text 26"/>
          <p:cNvSpPr/>
          <p:nvPr/>
        </p:nvSpPr>
        <p:spPr>
          <a:xfrm>
            <a:off x="5852160" y="5340096"/>
            <a:ext cx="566928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Operación / mantenimiento predictivo</a:t>
            </a:r>
            <a:endParaRPr lang="en-US" sz="15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30" name="Text 2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C · PREGUNTA</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 conceptos a palabras clave</a:t>
            </a:r>
            <a:endParaRPr lang="en-US" sz="3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74520"/>
          <a:ext cx="11091672" cy="914400"/>
        </p:xfrm>
        <a:graphic>
          <a:graphicData uri="http://schemas.openxmlformats.org/drawingml/2006/table">
            <a:tbl>
              <a:tblPr/>
              <a:tblGrid>
                <a:gridCol w="2926080"/>
                <a:gridCol w="8165592"/>
              </a:tblGrid>
              <a:tr h="548640">
                <a:tc>
                  <a:txBody>
                    <a:bodyPr/>
                    <a:lstStyle/>
                    <a:p>
                      <a:pPr indent="0" marL="0">
                        <a:buNone/>
                      </a:pPr>
                      <a:r>
                        <a:rPr lang="en-US" sz="1500" b="1" dirty="0">
                          <a:solidFill>
                            <a:srgbClr val="FFFFFF"/>
                          </a:solidFill>
                          <a:latin typeface="Arial" pitchFamily="34" charset="0"/>
                          <a:ea typeface="Arial" pitchFamily="34" charset="-122"/>
                          <a:cs typeface="Arial" pitchFamily="34" charset="-120"/>
                        </a:rPr>
                        <a:t>Concepto</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500" b="1" dirty="0">
                          <a:solidFill>
                            <a:srgbClr val="FFFFFF"/>
                          </a:solidFill>
                          <a:latin typeface="Arial" pitchFamily="34" charset="0"/>
                          <a:ea typeface="Arial" pitchFamily="34" charset="-122"/>
                          <a:cs typeface="Arial" pitchFamily="34" charset="-120"/>
                        </a:rPr>
                        <a:t>Palabras clave y sinónimos (ES / EN)</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r>
              <a:tr h="868680">
                <a:tc>
                  <a:txBody>
                    <a:bodyPr/>
                    <a:lstStyle/>
                    <a:p>
                      <a:pPr indent="0" marL="0">
                        <a:buNone/>
                      </a:pPr>
                      <a:r>
                        <a:rPr lang="en-US" sz="1500" b="1" dirty="0">
                          <a:solidFill>
                            <a:srgbClr val="7A1420"/>
                          </a:solidFill>
                          <a:latin typeface="Arial" pitchFamily="34" charset="0"/>
                          <a:ea typeface="Arial" pitchFamily="34" charset="-122"/>
                          <a:cs typeface="Arial" pitchFamily="34" charset="-120"/>
                        </a:rPr>
                        <a:t>Ferroviario</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500" dirty="0">
                          <a:solidFill>
                            <a:srgbClr val="1F2733"/>
                          </a:solidFill>
                          <a:latin typeface="Arial" pitchFamily="34" charset="0"/>
                          <a:ea typeface="Arial" pitchFamily="34" charset="-122"/>
                          <a:cs typeface="Arial" pitchFamily="34" charset="-120"/>
                        </a:rPr>
                        <a:t>ferroviario, tren, rail, railway, rail transport</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r h="868680">
                <a:tc>
                  <a:txBody>
                    <a:bodyPr/>
                    <a:lstStyle/>
                    <a:p>
                      <a:pPr indent="0" marL="0">
                        <a:buNone/>
                      </a:pPr>
                      <a:r>
                        <a:rPr lang="en-US" sz="1500" b="1" dirty="0">
                          <a:solidFill>
                            <a:srgbClr val="7A1420"/>
                          </a:solidFill>
                          <a:latin typeface="Arial" pitchFamily="34" charset="0"/>
                          <a:ea typeface="Arial" pitchFamily="34" charset="-122"/>
                          <a:cs typeface="Arial" pitchFamily="34" charset="-120"/>
                        </a:rPr>
                        <a:t>Deep learning</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500" dirty="0">
                          <a:solidFill>
                            <a:srgbClr val="1F2733"/>
                          </a:solidFill>
                          <a:latin typeface="Arial" pitchFamily="34" charset="0"/>
                          <a:ea typeface="Arial" pitchFamily="34" charset="-122"/>
                          <a:cs typeface="Arial" pitchFamily="34" charset="-120"/>
                        </a:rPr>
                        <a:t>deep learning, red neuronal, neural network, CNN, LSTM</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r h="868680">
                <a:tc>
                  <a:txBody>
                    <a:bodyPr/>
                    <a:lstStyle/>
                    <a:p>
                      <a:pPr indent="0" marL="0">
                        <a:buNone/>
                      </a:pPr>
                      <a:r>
                        <a:rPr lang="en-US" sz="1500" b="1" dirty="0">
                          <a:solidFill>
                            <a:srgbClr val="7A1420"/>
                          </a:solidFill>
                          <a:latin typeface="Arial" pitchFamily="34" charset="0"/>
                          <a:ea typeface="Arial" pitchFamily="34" charset="-122"/>
                          <a:cs typeface="Arial" pitchFamily="34" charset="-120"/>
                        </a:rPr>
                        <a:t>Predicción de fallas</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500" dirty="0">
                          <a:solidFill>
                            <a:srgbClr val="1F2733"/>
                          </a:solidFill>
                          <a:latin typeface="Arial" pitchFamily="34" charset="0"/>
                          <a:ea typeface="Arial" pitchFamily="34" charset="-122"/>
                          <a:cs typeface="Arial" pitchFamily="34" charset="-120"/>
                        </a:rPr>
                        <a:t>predicción de fallas, fault prediction, failure detection, predictive maintenance</a:t>
                      </a:r>
                      <a:endParaRPr lang="en-US" sz="1500" dirty="0">
                        <a:latin typeface="Arial" charset="0"/>
                        <a:ea typeface="Arial" charset="0"/>
                        <a:cs typeface="Arial" charset="0"/>
                      </a:endParaRPr>
                    </a:p>
                  </a:txBody>
                  <a:tcPr marL="127000" marR="127000" marT="76200" marB="762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532120"/>
            <a:ext cx="10972800" cy="777240"/>
          </a:xfrm>
          <a:prstGeom prst="roundRect">
            <a:avLst>
              <a:gd name="adj" fmla="val 10588"/>
            </a:avLst>
          </a:prstGeom>
          <a:solidFill>
            <a:srgbClr val="F3E1E4"/>
          </a:solidFill>
          <a:ln/>
        </p:spPr>
      </p:sp>
      <p:sp>
        <p:nvSpPr>
          <p:cNvPr id="6" name="Text 3"/>
          <p:cNvSpPr/>
          <p:nvPr/>
        </p:nvSpPr>
        <p:spPr>
          <a:xfrm>
            <a:off x="914400" y="5532120"/>
            <a:ext cx="10241280" cy="77724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Incluye sinónimos, siglas y el término en inglés: la mayoría de la literatura indexada está en inglés.</a:t>
            </a:r>
            <a:endParaRPr lang="en-US" sz="1500" dirty="0"/>
          </a:p>
        </p:txBody>
      </p:sp>
      <p:sp>
        <p:nvSpPr>
          <p:cNvPr id="7" name="Text 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8"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48640" y="502920"/>
            <a:ext cx="8229600" cy="320040"/>
          </a:xfrm>
          <a:prstGeom prst="rect">
            <a:avLst/>
          </a:prstGeom>
          <a:noFill/>
          <a:ln/>
        </p:spPr>
        <p:txBody>
          <a:bodyPr wrap="square" lIns="0" tIns="0" rIns="0" bIns="0" rtlCol="0" anchor="ctr"/>
          <a:lstStyle/>
          <a:p>
            <a:pPr indent="0" marL="0">
              <a:buNone/>
            </a:pPr>
            <a:r>
              <a:rPr lang="en-US" sz="1200" b="1" spc="200" kern="0" dirty="0">
                <a:solidFill>
                  <a:srgbClr val="9FB4D0"/>
                </a:solidFill>
                <a:latin typeface="Arial" pitchFamily="34" charset="0"/>
                <a:ea typeface="Arial" pitchFamily="34" charset="-122"/>
                <a:cs typeface="Arial" pitchFamily="34" charset="-120"/>
              </a:rPr>
              <a:t>BLOQUE D · ESTRATEGIA DE BÚSQUEDA</a:t>
            </a:r>
            <a:endParaRPr lang="en-US" sz="1200" dirty="0"/>
          </a:p>
        </p:txBody>
      </p:sp>
      <p:sp>
        <p:nvSpPr>
          <p:cNvPr id="3" name="Text 1"/>
          <p:cNvSpPr/>
          <p:nvPr/>
        </p:nvSpPr>
        <p:spPr>
          <a:xfrm>
            <a:off x="530352" y="822960"/>
            <a:ext cx="8686800" cy="731520"/>
          </a:xfrm>
          <a:prstGeom prst="rect">
            <a:avLst/>
          </a:prstGeom>
          <a:noFill/>
          <a:ln/>
        </p:spPr>
        <p:txBody>
          <a:bodyPr wrap="square" lIns="0" tIns="0" rIns="0" bIns="0" rtlCol="0" anchor="ctr"/>
          <a:lstStyle/>
          <a:p>
            <a:pPr indent="0" marL="0">
              <a:buNone/>
            </a:pPr>
            <a:r>
              <a:rPr lang="en-US" sz="3200" b="1" dirty="0">
                <a:solidFill>
                  <a:srgbClr val="FFFFFF"/>
                </a:solidFill>
                <a:latin typeface="Arial" pitchFamily="34" charset="0"/>
                <a:ea typeface="Arial" pitchFamily="34" charset="-122"/>
                <a:cs typeface="Arial" pitchFamily="34" charset="-120"/>
              </a:rPr>
              <a:t>El lenguaje de la búsqueda</a:t>
            </a:r>
            <a:endParaRPr lang="en-US" sz="3200" dirty="0"/>
          </a:p>
        </p:txBody>
      </p:sp>
      <p:sp>
        <p:nvSpPr>
          <p:cNvPr id="4" name="Shape 2"/>
          <p:cNvSpPr/>
          <p:nvPr/>
        </p:nvSpPr>
        <p:spPr>
          <a:xfrm>
            <a:off x="10378440" y="548640"/>
            <a:ext cx="1280160" cy="457200"/>
          </a:xfrm>
          <a:prstGeom prst="roundRect">
            <a:avLst>
              <a:gd name="adj" fmla="val 16000"/>
            </a:avLst>
          </a:prstGeom>
          <a:solidFill>
            <a:srgbClr val="7A1420"/>
          </a:solidFill>
          <a:ln/>
        </p:spPr>
      </p:sp>
      <p:sp>
        <p:nvSpPr>
          <p:cNvPr id="5" name="Text 3"/>
          <p:cNvSpPr/>
          <p:nvPr/>
        </p:nvSpPr>
        <p:spPr>
          <a:xfrm>
            <a:off x="10378440" y="548640"/>
            <a:ext cx="128016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35–45 min</a:t>
            </a:r>
            <a:endParaRPr lang="en-US" sz="1200" dirty="0"/>
          </a:p>
        </p:txBody>
      </p:sp>
      <p:sp>
        <p:nvSpPr>
          <p:cNvPr id="6" name="Shape 4"/>
          <p:cNvSpPr/>
          <p:nvPr/>
        </p:nvSpPr>
        <p:spPr>
          <a:xfrm>
            <a:off x="640080" y="1828800"/>
            <a:ext cx="10881360" cy="749808"/>
          </a:xfrm>
          <a:prstGeom prst="roundRect">
            <a:avLst>
              <a:gd name="adj" fmla="val 10976"/>
            </a:avLst>
          </a:prstGeom>
          <a:solidFill>
            <a:srgbClr val="FFFFFF"/>
          </a:solidFill>
          <a:ln/>
        </p:spPr>
      </p:sp>
      <p:sp>
        <p:nvSpPr>
          <p:cNvPr id="7" name="Shape 5"/>
          <p:cNvSpPr/>
          <p:nvPr/>
        </p:nvSpPr>
        <p:spPr>
          <a:xfrm>
            <a:off x="822960" y="1929384"/>
            <a:ext cx="1371600" cy="548640"/>
          </a:xfrm>
          <a:prstGeom prst="roundRect">
            <a:avLst>
              <a:gd name="adj" fmla="val 13333"/>
            </a:avLst>
          </a:prstGeom>
          <a:solidFill>
            <a:srgbClr val="7A1420"/>
          </a:solidFill>
          <a:ln/>
        </p:spPr>
      </p:sp>
      <p:sp>
        <p:nvSpPr>
          <p:cNvPr id="8" name="Text 6"/>
          <p:cNvSpPr/>
          <p:nvPr/>
        </p:nvSpPr>
        <p:spPr>
          <a:xfrm>
            <a:off x="822960" y="1929384"/>
            <a:ext cx="13716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AND</a:t>
            </a:r>
            <a:endParaRPr lang="en-US" sz="1800" dirty="0"/>
          </a:p>
        </p:txBody>
      </p:sp>
      <p:sp>
        <p:nvSpPr>
          <p:cNvPr id="9" name="Text 7"/>
          <p:cNvSpPr/>
          <p:nvPr/>
        </p:nvSpPr>
        <p:spPr>
          <a:xfrm>
            <a:off x="2377440" y="1828800"/>
            <a:ext cx="3840480" cy="749808"/>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Reduce: todos los términos</a:t>
            </a:r>
            <a:endParaRPr lang="en-US" sz="1500" dirty="0"/>
          </a:p>
        </p:txBody>
      </p:sp>
      <p:sp>
        <p:nvSpPr>
          <p:cNvPr id="10" name="Text 8"/>
          <p:cNvSpPr/>
          <p:nvPr/>
        </p:nvSpPr>
        <p:spPr>
          <a:xfrm>
            <a:off x="6309360" y="1828800"/>
            <a:ext cx="5029200" cy="749808"/>
          </a:xfrm>
          <a:prstGeom prst="rect">
            <a:avLst/>
          </a:prstGeom>
          <a:noFill/>
          <a:ln/>
        </p:spPr>
        <p:txBody>
          <a:bodyPr wrap="square" lIns="0" tIns="0" rIns="0" bIns="0" rtlCol="0" anchor="ctr"/>
          <a:lstStyle/>
          <a:p>
            <a:pPr indent="0" marL="0">
              <a:buNone/>
            </a:pPr>
            <a:r>
              <a:rPr lang="en-US" sz="1400" i="1" dirty="0">
                <a:solidFill>
                  <a:srgbClr val="1F2733"/>
                </a:solidFill>
                <a:latin typeface="Arial" pitchFamily="34" charset="0"/>
                <a:ea typeface="Arial" pitchFamily="34" charset="-122"/>
                <a:cs typeface="Arial" pitchFamily="34" charset="-120"/>
              </a:rPr>
              <a:t>deep learning AND railway</a:t>
            </a:r>
            <a:endParaRPr lang="en-US" sz="1400" dirty="0"/>
          </a:p>
        </p:txBody>
      </p:sp>
      <p:sp>
        <p:nvSpPr>
          <p:cNvPr id="11" name="Shape 9"/>
          <p:cNvSpPr/>
          <p:nvPr/>
        </p:nvSpPr>
        <p:spPr>
          <a:xfrm>
            <a:off x="640080" y="2651760"/>
            <a:ext cx="10881360" cy="749808"/>
          </a:xfrm>
          <a:prstGeom prst="roundRect">
            <a:avLst>
              <a:gd name="adj" fmla="val 10976"/>
            </a:avLst>
          </a:prstGeom>
          <a:solidFill>
            <a:srgbClr val="FFFFFF"/>
          </a:solidFill>
          <a:ln/>
        </p:spPr>
      </p:sp>
      <p:sp>
        <p:nvSpPr>
          <p:cNvPr id="12" name="Shape 10"/>
          <p:cNvSpPr/>
          <p:nvPr/>
        </p:nvSpPr>
        <p:spPr>
          <a:xfrm>
            <a:off x="822960" y="2752344"/>
            <a:ext cx="1371600" cy="548640"/>
          </a:xfrm>
          <a:prstGeom prst="roundRect">
            <a:avLst>
              <a:gd name="adj" fmla="val 13333"/>
            </a:avLst>
          </a:prstGeom>
          <a:solidFill>
            <a:srgbClr val="7A1420"/>
          </a:solidFill>
          <a:ln/>
        </p:spPr>
      </p:sp>
      <p:sp>
        <p:nvSpPr>
          <p:cNvPr id="13" name="Text 11"/>
          <p:cNvSpPr/>
          <p:nvPr/>
        </p:nvSpPr>
        <p:spPr>
          <a:xfrm>
            <a:off x="822960" y="2752344"/>
            <a:ext cx="13716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OR</a:t>
            </a:r>
            <a:endParaRPr lang="en-US" sz="1800" dirty="0"/>
          </a:p>
        </p:txBody>
      </p:sp>
      <p:sp>
        <p:nvSpPr>
          <p:cNvPr id="14" name="Text 12"/>
          <p:cNvSpPr/>
          <p:nvPr/>
        </p:nvSpPr>
        <p:spPr>
          <a:xfrm>
            <a:off x="2377440" y="2651760"/>
            <a:ext cx="3840480" cy="749808"/>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Amplía: sinónimos</a:t>
            </a:r>
            <a:endParaRPr lang="en-US" sz="1500" dirty="0"/>
          </a:p>
        </p:txBody>
      </p:sp>
      <p:sp>
        <p:nvSpPr>
          <p:cNvPr id="15" name="Text 13"/>
          <p:cNvSpPr/>
          <p:nvPr/>
        </p:nvSpPr>
        <p:spPr>
          <a:xfrm>
            <a:off x="6309360" y="2651760"/>
            <a:ext cx="5029200" cy="749808"/>
          </a:xfrm>
          <a:prstGeom prst="rect">
            <a:avLst/>
          </a:prstGeom>
          <a:noFill/>
          <a:ln/>
        </p:spPr>
        <p:txBody>
          <a:bodyPr wrap="square" lIns="0" tIns="0" rIns="0" bIns="0" rtlCol="0" anchor="ctr"/>
          <a:lstStyle/>
          <a:p>
            <a:pPr indent="0" marL="0">
              <a:buNone/>
            </a:pPr>
            <a:r>
              <a:rPr lang="en-US" sz="1400" i="1" dirty="0">
                <a:solidFill>
                  <a:srgbClr val="1F2733"/>
                </a:solidFill>
                <a:latin typeface="Arial" pitchFamily="34" charset="0"/>
                <a:ea typeface="Arial" pitchFamily="34" charset="-122"/>
                <a:cs typeface="Arial" pitchFamily="34" charset="-120"/>
              </a:rPr>
              <a:t>railway OR rail OR tren</a:t>
            </a:r>
            <a:endParaRPr lang="en-US" sz="1400" dirty="0"/>
          </a:p>
        </p:txBody>
      </p:sp>
      <p:sp>
        <p:nvSpPr>
          <p:cNvPr id="16" name="Shape 14"/>
          <p:cNvSpPr/>
          <p:nvPr/>
        </p:nvSpPr>
        <p:spPr>
          <a:xfrm>
            <a:off x="640080" y="3474720"/>
            <a:ext cx="10881360" cy="749808"/>
          </a:xfrm>
          <a:prstGeom prst="roundRect">
            <a:avLst>
              <a:gd name="adj" fmla="val 10976"/>
            </a:avLst>
          </a:prstGeom>
          <a:solidFill>
            <a:srgbClr val="FFFFFF"/>
          </a:solidFill>
          <a:ln/>
        </p:spPr>
      </p:sp>
      <p:sp>
        <p:nvSpPr>
          <p:cNvPr id="17" name="Shape 15"/>
          <p:cNvSpPr/>
          <p:nvPr/>
        </p:nvSpPr>
        <p:spPr>
          <a:xfrm>
            <a:off x="822960" y="3575304"/>
            <a:ext cx="1371600" cy="548640"/>
          </a:xfrm>
          <a:prstGeom prst="roundRect">
            <a:avLst>
              <a:gd name="adj" fmla="val 13333"/>
            </a:avLst>
          </a:prstGeom>
          <a:solidFill>
            <a:srgbClr val="7A1420"/>
          </a:solidFill>
          <a:ln/>
        </p:spPr>
      </p:sp>
      <p:sp>
        <p:nvSpPr>
          <p:cNvPr id="18" name="Text 16"/>
          <p:cNvSpPr/>
          <p:nvPr/>
        </p:nvSpPr>
        <p:spPr>
          <a:xfrm>
            <a:off x="822960" y="3575304"/>
            <a:ext cx="13716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NOT</a:t>
            </a:r>
            <a:endParaRPr lang="en-US" sz="1800" dirty="0"/>
          </a:p>
        </p:txBody>
      </p:sp>
      <p:sp>
        <p:nvSpPr>
          <p:cNvPr id="19" name="Text 17"/>
          <p:cNvSpPr/>
          <p:nvPr/>
        </p:nvSpPr>
        <p:spPr>
          <a:xfrm>
            <a:off x="2377440" y="3474720"/>
            <a:ext cx="3840480" cy="749808"/>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Excluye</a:t>
            </a:r>
            <a:endParaRPr lang="en-US" sz="1500" dirty="0"/>
          </a:p>
        </p:txBody>
      </p:sp>
      <p:sp>
        <p:nvSpPr>
          <p:cNvPr id="20" name="Text 18"/>
          <p:cNvSpPr/>
          <p:nvPr/>
        </p:nvSpPr>
        <p:spPr>
          <a:xfrm>
            <a:off x="6309360" y="3474720"/>
            <a:ext cx="5029200" cy="749808"/>
          </a:xfrm>
          <a:prstGeom prst="rect">
            <a:avLst/>
          </a:prstGeom>
          <a:noFill/>
          <a:ln/>
        </p:spPr>
        <p:txBody>
          <a:bodyPr wrap="square" lIns="0" tIns="0" rIns="0" bIns="0" rtlCol="0" anchor="ctr"/>
          <a:lstStyle/>
          <a:p>
            <a:pPr indent="0" marL="0">
              <a:buNone/>
            </a:pPr>
            <a:r>
              <a:rPr lang="en-US" sz="1400" i="1" dirty="0">
                <a:solidFill>
                  <a:srgbClr val="1F2733"/>
                </a:solidFill>
                <a:latin typeface="Arial" pitchFamily="34" charset="0"/>
                <a:ea typeface="Arial" pitchFamily="34" charset="-122"/>
                <a:cs typeface="Arial" pitchFamily="34" charset="-120"/>
              </a:rPr>
              <a:t>railway NOT metro</a:t>
            </a:r>
            <a:endParaRPr lang="en-US" sz="1400" dirty="0"/>
          </a:p>
        </p:txBody>
      </p:sp>
      <p:sp>
        <p:nvSpPr>
          <p:cNvPr id="21" name="Shape 19"/>
          <p:cNvSpPr/>
          <p:nvPr/>
        </p:nvSpPr>
        <p:spPr>
          <a:xfrm>
            <a:off x="640080" y="4297680"/>
            <a:ext cx="10881360" cy="749808"/>
          </a:xfrm>
          <a:prstGeom prst="roundRect">
            <a:avLst>
              <a:gd name="adj" fmla="val 10976"/>
            </a:avLst>
          </a:prstGeom>
          <a:solidFill>
            <a:srgbClr val="FFFFFF"/>
          </a:solidFill>
          <a:ln/>
        </p:spPr>
      </p:sp>
      <p:sp>
        <p:nvSpPr>
          <p:cNvPr id="22" name="Shape 20"/>
          <p:cNvSpPr/>
          <p:nvPr/>
        </p:nvSpPr>
        <p:spPr>
          <a:xfrm>
            <a:off x="822960" y="4398264"/>
            <a:ext cx="1371600" cy="548640"/>
          </a:xfrm>
          <a:prstGeom prst="roundRect">
            <a:avLst>
              <a:gd name="adj" fmla="val 13333"/>
            </a:avLst>
          </a:prstGeom>
          <a:solidFill>
            <a:srgbClr val="7A1420"/>
          </a:solidFill>
          <a:ln/>
        </p:spPr>
      </p:sp>
      <p:sp>
        <p:nvSpPr>
          <p:cNvPr id="23" name="Text 21"/>
          <p:cNvSpPr/>
          <p:nvPr/>
        </p:nvSpPr>
        <p:spPr>
          <a:xfrm>
            <a:off x="822960" y="4398264"/>
            <a:ext cx="13716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 ”</a:t>
            </a:r>
            <a:endParaRPr lang="en-US" sz="1800" dirty="0"/>
          </a:p>
        </p:txBody>
      </p:sp>
      <p:sp>
        <p:nvSpPr>
          <p:cNvPr id="24" name="Text 22"/>
          <p:cNvSpPr/>
          <p:nvPr/>
        </p:nvSpPr>
        <p:spPr>
          <a:xfrm>
            <a:off x="2377440" y="4297680"/>
            <a:ext cx="3840480" cy="749808"/>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Frase exacta</a:t>
            </a:r>
            <a:endParaRPr lang="en-US" sz="1500" dirty="0"/>
          </a:p>
        </p:txBody>
      </p:sp>
      <p:sp>
        <p:nvSpPr>
          <p:cNvPr id="25" name="Text 23"/>
          <p:cNvSpPr/>
          <p:nvPr/>
        </p:nvSpPr>
        <p:spPr>
          <a:xfrm>
            <a:off x="6309360" y="4297680"/>
            <a:ext cx="5029200" cy="749808"/>
          </a:xfrm>
          <a:prstGeom prst="rect">
            <a:avLst/>
          </a:prstGeom>
          <a:noFill/>
          <a:ln/>
        </p:spPr>
        <p:txBody>
          <a:bodyPr wrap="square" lIns="0" tIns="0" rIns="0" bIns="0" rtlCol="0" anchor="ctr"/>
          <a:lstStyle/>
          <a:p>
            <a:pPr indent="0" marL="0">
              <a:buNone/>
            </a:pPr>
            <a:r>
              <a:rPr lang="en-US" sz="1400" i="1" dirty="0">
                <a:solidFill>
                  <a:srgbClr val="1F2733"/>
                </a:solidFill>
                <a:latin typeface="Arial" pitchFamily="34" charset="0"/>
                <a:ea typeface="Arial" pitchFamily="34" charset="-122"/>
                <a:cs typeface="Arial" pitchFamily="34" charset="-120"/>
              </a:rPr>
              <a:t>“predictive maintenance”</a:t>
            </a:r>
            <a:endParaRPr lang="en-US" sz="1400" dirty="0"/>
          </a:p>
        </p:txBody>
      </p:sp>
      <p:sp>
        <p:nvSpPr>
          <p:cNvPr id="26" name="Shape 24"/>
          <p:cNvSpPr/>
          <p:nvPr/>
        </p:nvSpPr>
        <p:spPr>
          <a:xfrm>
            <a:off x="640080" y="5120640"/>
            <a:ext cx="10881360" cy="749808"/>
          </a:xfrm>
          <a:prstGeom prst="roundRect">
            <a:avLst>
              <a:gd name="adj" fmla="val 10976"/>
            </a:avLst>
          </a:prstGeom>
          <a:solidFill>
            <a:srgbClr val="FFFFFF"/>
          </a:solidFill>
          <a:ln/>
        </p:spPr>
      </p:sp>
      <p:sp>
        <p:nvSpPr>
          <p:cNvPr id="27" name="Shape 25"/>
          <p:cNvSpPr/>
          <p:nvPr/>
        </p:nvSpPr>
        <p:spPr>
          <a:xfrm>
            <a:off x="822960" y="5221224"/>
            <a:ext cx="1371600" cy="548640"/>
          </a:xfrm>
          <a:prstGeom prst="roundRect">
            <a:avLst>
              <a:gd name="adj" fmla="val 13333"/>
            </a:avLst>
          </a:prstGeom>
          <a:solidFill>
            <a:srgbClr val="7A1420"/>
          </a:solidFill>
          <a:ln/>
        </p:spPr>
      </p:sp>
      <p:sp>
        <p:nvSpPr>
          <p:cNvPr id="28" name="Text 26"/>
          <p:cNvSpPr/>
          <p:nvPr/>
        </p:nvSpPr>
        <p:spPr>
          <a:xfrm>
            <a:off x="822960" y="5221224"/>
            <a:ext cx="13716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29" name="Text 27"/>
          <p:cNvSpPr/>
          <p:nvPr/>
        </p:nvSpPr>
        <p:spPr>
          <a:xfrm>
            <a:off x="2377440" y="5120640"/>
            <a:ext cx="3840480" cy="749808"/>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Truncamiento (raíz)</a:t>
            </a:r>
            <a:endParaRPr lang="en-US" sz="1500" dirty="0"/>
          </a:p>
        </p:txBody>
      </p:sp>
      <p:sp>
        <p:nvSpPr>
          <p:cNvPr id="30" name="Text 28"/>
          <p:cNvSpPr/>
          <p:nvPr/>
        </p:nvSpPr>
        <p:spPr>
          <a:xfrm>
            <a:off x="6309360" y="5120640"/>
            <a:ext cx="5029200" cy="749808"/>
          </a:xfrm>
          <a:prstGeom prst="rect">
            <a:avLst/>
          </a:prstGeom>
          <a:noFill/>
          <a:ln/>
        </p:spPr>
        <p:txBody>
          <a:bodyPr wrap="square" lIns="0" tIns="0" rIns="0" bIns="0" rtlCol="0" anchor="ctr"/>
          <a:lstStyle/>
          <a:p>
            <a:pPr indent="0" marL="0">
              <a:buNone/>
            </a:pPr>
            <a:r>
              <a:rPr lang="en-US" sz="1400" i="1" dirty="0">
                <a:solidFill>
                  <a:srgbClr val="1F2733"/>
                </a:solidFill>
                <a:latin typeface="Arial" pitchFamily="34" charset="0"/>
                <a:ea typeface="Arial" pitchFamily="34" charset="-122"/>
                <a:cs typeface="Arial" pitchFamily="34" charset="-120"/>
              </a:rPr>
              <a:t>predict* → predict, prediction, predictive</a:t>
            </a:r>
            <a:endParaRPr lang="en-US" sz="1400" dirty="0"/>
          </a:p>
        </p:txBody>
      </p:sp>
      <p:sp>
        <p:nvSpPr>
          <p:cNvPr id="31" name="Text 29"/>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32" name="Text 30"/>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D · ESTRATEGIA</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Anatomía de una cadena de búsqueda</a:t>
            </a:r>
            <a:endParaRPr lang="en-US" sz="3000" dirty="0"/>
          </a:p>
        </p:txBody>
      </p:sp>
      <p:sp>
        <p:nvSpPr>
          <p:cNvPr id="4" name="Shape 2"/>
          <p:cNvSpPr/>
          <p:nvPr/>
        </p:nvSpPr>
        <p:spPr>
          <a:xfrm>
            <a:off x="548640" y="1828800"/>
            <a:ext cx="10972800" cy="1737360"/>
          </a:xfrm>
          <a:prstGeom prst="roundRect">
            <a:avLst>
              <a:gd name="adj" fmla="val 4737"/>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914400" y="1828800"/>
            <a:ext cx="10241280" cy="1737360"/>
          </a:xfrm>
          <a:prstGeom prst="rect">
            <a:avLst/>
          </a:prstGeom>
          <a:noFill/>
          <a:ln/>
        </p:spPr>
        <p:txBody>
          <a:bodyPr wrap="square" lIns="0" tIns="0" rIns="0" bIns="0" rtlCol="0" anchor="ctr"/>
          <a:lstStyle/>
          <a:p>
            <a:pPr indent="0" marL="0">
              <a:lnSpc>
                <a:spcPct val="115000"/>
              </a:lnSpc>
              <a:buNone/>
            </a:pPr>
            <a:r>
              <a:rPr lang="en-US" sz="2000" b="1" dirty="0">
                <a:solidFill>
                  <a:srgbClr val="13294B"/>
                </a:solidFill>
                <a:latin typeface="Arial" pitchFamily="34" charset="0"/>
                <a:ea typeface="Arial" pitchFamily="34" charset="-122"/>
                <a:cs typeface="Arial" pitchFamily="34" charset="-120"/>
              </a:rPr>
              <a:t>( "predictive maintenance" OR "condition monitoring" ) AND ( "deep learning" OR "neural network" ) AND ( railway OR rail* )</a:t>
            </a:r>
            <a:endParaRPr lang="en-US" sz="2000" dirty="0"/>
          </a:p>
        </p:txBody>
      </p:sp>
      <p:sp>
        <p:nvSpPr>
          <p:cNvPr id="6" name="Shape 4"/>
          <p:cNvSpPr/>
          <p:nvPr/>
        </p:nvSpPr>
        <p:spPr>
          <a:xfrm>
            <a:off x="548640" y="3840480"/>
            <a:ext cx="3566160" cy="1737360"/>
          </a:xfrm>
          <a:prstGeom prst="roundRect">
            <a:avLst>
              <a:gd name="adj" fmla="val 4737"/>
            </a:avLst>
          </a:prstGeom>
          <a:solidFill>
            <a:srgbClr val="FFFFFF"/>
          </a:solidFill>
          <a:ln/>
          <a:effectLst>
            <a:outerShdw sx="100000" sy="100000" kx="0" ky="0" algn="bl" rotWithShape="0" blurRad="76200" dist="25400" dir="5400000">
              <a:srgbClr val="9AA0A6">
                <a:alpha val="35000"/>
              </a:srgbClr>
            </a:outerShdw>
          </a:effectLst>
        </p:spPr>
      </p:sp>
      <p:sp>
        <p:nvSpPr>
          <p:cNvPr id="7" name="Text 5"/>
          <p:cNvSpPr/>
          <p:nvPr/>
        </p:nvSpPr>
        <p:spPr>
          <a:xfrm>
            <a:off x="777240" y="4023360"/>
            <a:ext cx="3108960" cy="457200"/>
          </a:xfrm>
          <a:prstGeom prst="rect">
            <a:avLst/>
          </a:prstGeom>
          <a:noFill/>
          <a:ln/>
        </p:spPr>
        <p:txBody>
          <a:bodyPr wrap="square" lIns="0" tIns="0" rIns="0" bIns="0" rtlCol="0" anchor="ctr"/>
          <a:lstStyle/>
          <a:p>
            <a:pPr indent="0" marL="0">
              <a:buNone/>
            </a:pPr>
            <a:r>
              <a:rPr lang="en-US" sz="1500" b="1" dirty="0">
                <a:solidFill>
                  <a:srgbClr val="13294B"/>
                </a:solidFill>
                <a:latin typeface="Arial" pitchFamily="34" charset="0"/>
                <a:ea typeface="Arial" pitchFamily="34" charset="-122"/>
                <a:cs typeface="Arial" pitchFamily="34" charset="-120"/>
              </a:rPr>
              <a:t>Grupos con OR</a:t>
            </a:r>
            <a:endParaRPr lang="en-US" sz="1500" dirty="0"/>
          </a:p>
        </p:txBody>
      </p:sp>
      <p:sp>
        <p:nvSpPr>
          <p:cNvPr id="8" name="Text 6"/>
          <p:cNvSpPr/>
          <p:nvPr/>
        </p:nvSpPr>
        <p:spPr>
          <a:xfrm>
            <a:off x="777240" y="4480560"/>
            <a:ext cx="3108960" cy="1005840"/>
          </a:xfrm>
          <a:prstGeom prst="rect">
            <a:avLst/>
          </a:prstGeom>
          <a:noFill/>
          <a:ln/>
        </p:spPr>
        <p:txBody>
          <a:bodyPr wrap="square" lIns="0" tIns="0" rIns="0" bIns="0" rtlCol="0" anchor="ctr"/>
          <a:lstStyle/>
          <a:p>
            <a:pPr indent="0" marL="0">
              <a:lnSpc>
                <a:spcPct val="110000"/>
              </a:lnSpc>
              <a:buNone/>
            </a:pPr>
            <a:r>
              <a:rPr lang="en-US" sz="1350" dirty="0">
                <a:solidFill>
                  <a:srgbClr val="1F2733"/>
                </a:solidFill>
                <a:latin typeface="Arial" pitchFamily="34" charset="0"/>
                <a:ea typeface="Arial" pitchFamily="34" charset="-122"/>
                <a:cs typeface="Arial" pitchFamily="34" charset="-120"/>
              </a:rPr>
              <a:t>cada concepto reúne sus sinónimos entre paréntesis</a:t>
            </a:r>
            <a:endParaRPr lang="en-US" sz="1350" dirty="0"/>
          </a:p>
        </p:txBody>
      </p:sp>
      <p:sp>
        <p:nvSpPr>
          <p:cNvPr id="9" name="Shape 7"/>
          <p:cNvSpPr/>
          <p:nvPr/>
        </p:nvSpPr>
        <p:spPr>
          <a:xfrm>
            <a:off x="4251960" y="3840480"/>
            <a:ext cx="3566160" cy="1737360"/>
          </a:xfrm>
          <a:prstGeom prst="roundRect">
            <a:avLst>
              <a:gd name="adj" fmla="val 4737"/>
            </a:avLst>
          </a:prstGeom>
          <a:solidFill>
            <a:srgbClr val="FFFFFF"/>
          </a:solidFill>
          <a:ln/>
          <a:effectLst>
            <a:outerShdw sx="100000" sy="100000" kx="0" ky="0" algn="bl" rotWithShape="0" blurRad="76200" dist="25400" dir="5400000">
              <a:srgbClr val="9AA0A6">
                <a:alpha val="35000"/>
              </a:srgbClr>
            </a:outerShdw>
          </a:effectLst>
        </p:spPr>
      </p:sp>
      <p:sp>
        <p:nvSpPr>
          <p:cNvPr id="10" name="Text 8"/>
          <p:cNvSpPr/>
          <p:nvPr/>
        </p:nvSpPr>
        <p:spPr>
          <a:xfrm>
            <a:off x="4480560" y="4023360"/>
            <a:ext cx="3108960" cy="45720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Unidos con AND</a:t>
            </a:r>
            <a:endParaRPr lang="en-US" sz="1500" dirty="0"/>
          </a:p>
        </p:txBody>
      </p:sp>
      <p:sp>
        <p:nvSpPr>
          <p:cNvPr id="11" name="Text 9"/>
          <p:cNvSpPr/>
          <p:nvPr/>
        </p:nvSpPr>
        <p:spPr>
          <a:xfrm>
            <a:off x="4480560" y="4480560"/>
            <a:ext cx="3108960" cy="1005840"/>
          </a:xfrm>
          <a:prstGeom prst="rect">
            <a:avLst/>
          </a:prstGeom>
          <a:noFill/>
          <a:ln/>
        </p:spPr>
        <p:txBody>
          <a:bodyPr wrap="square" lIns="0" tIns="0" rIns="0" bIns="0" rtlCol="0" anchor="ctr"/>
          <a:lstStyle/>
          <a:p>
            <a:pPr indent="0" marL="0">
              <a:lnSpc>
                <a:spcPct val="110000"/>
              </a:lnSpc>
              <a:buNone/>
            </a:pPr>
            <a:r>
              <a:rPr lang="en-US" sz="1350" dirty="0">
                <a:solidFill>
                  <a:srgbClr val="1F2733"/>
                </a:solidFill>
                <a:latin typeface="Arial" pitchFamily="34" charset="0"/>
                <a:ea typeface="Arial" pitchFamily="34" charset="-122"/>
                <a:cs typeface="Arial" pitchFamily="34" charset="-120"/>
              </a:rPr>
              <a:t>los conceptos se combinan para acotar</a:t>
            </a:r>
            <a:endParaRPr lang="en-US" sz="1350" dirty="0"/>
          </a:p>
        </p:txBody>
      </p:sp>
      <p:sp>
        <p:nvSpPr>
          <p:cNvPr id="12" name="Shape 10"/>
          <p:cNvSpPr/>
          <p:nvPr/>
        </p:nvSpPr>
        <p:spPr>
          <a:xfrm>
            <a:off x="7955280" y="3840480"/>
            <a:ext cx="3566160" cy="1737360"/>
          </a:xfrm>
          <a:prstGeom prst="roundRect">
            <a:avLst>
              <a:gd name="adj" fmla="val 4737"/>
            </a:avLst>
          </a:prstGeom>
          <a:solidFill>
            <a:srgbClr val="FFFFFF"/>
          </a:solidFill>
          <a:ln/>
          <a:effectLst>
            <a:outerShdw sx="100000" sy="100000" kx="0" ky="0" algn="bl" rotWithShape="0" blurRad="76200" dist="25400" dir="5400000">
              <a:srgbClr val="9AA0A6">
                <a:alpha val="35000"/>
              </a:srgbClr>
            </a:outerShdw>
          </a:effectLst>
        </p:spPr>
      </p:sp>
      <p:sp>
        <p:nvSpPr>
          <p:cNvPr id="13" name="Text 11"/>
          <p:cNvSpPr/>
          <p:nvPr/>
        </p:nvSpPr>
        <p:spPr>
          <a:xfrm>
            <a:off x="8183880" y="4023360"/>
            <a:ext cx="3108960" cy="457200"/>
          </a:xfrm>
          <a:prstGeom prst="rect">
            <a:avLst/>
          </a:prstGeom>
          <a:noFill/>
          <a:ln/>
        </p:spPr>
        <p:txBody>
          <a:bodyPr wrap="square" lIns="0" tIns="0" rIns="0" bIns="0" rtlCol="0" anchor="ctr"/>
          <a:lstStyle/>
          <a:p>
            <a:pPr indent="0" marL="0">
              <a:buNone/>
            </a:pPr>
            <a:r>
              <a:rPr lang="en-US" sz="1500" b="1" dirty="0">
                <a:solidFill>
                  <a:srgbClr val="9B2233"/>
                </a:solidFill>
                <a:latin typeface="Arial" pitchFamily="34" charset="0"/>
                <a:ea typeface="Arial" pitchFamily="34" charset="-122"/>
                <a:cs typeface="Arial" pitchFamily="34" charset="-120"/>
              </a:rPr>
              <a:t>Truncamiento rail*</a:t>
            </a:r>
            <a:endParaRPr lang="en-US" sz="1500" dirty="0"/>
          </a:p>
        </p:txBody>
      </p:sp>
      <p:sp>
        <p:nvSpPr>
          <p:cNvPr id="14" name="Text 12"/>
          <p:cNvSpPr/>
          <p:nvPr/>
        </p:nvSpPr>
        <p:spPr>
          <a:xfrm>
            <a:off x="8183880" y="4480560"/>
            <a:ext cx="3108960" cy="1005840"/>
          </a:xfrm>
          <a:prstGeom prst="rect">
            <a:avLst/>
          </a:prstGeom>
          <a:noFill/>
          <a:ln/>
        </p:spPr>
        <p:txBody>
          <a:bodyPr wrap="square" lIns="0" tIns="0" rIns="0" bIns="0" rtlCol="0" anchor="ctr"/>
          <a:lstStyle/>
          <a:p>
            <a:pPr indent="0" marL="0">
              <a:lnSpc>
                <a:spcPct val="110000"/>
              </a:lnSpc>
              <a:buNone/>
            </a:pPr>
            <a:r>
              <a:rPr lang="en-US" sz="1350" dirty="0">
                <a:solidFill>
                  <a:srgbClr val="1F2733"/>
                </a:solidFill>
                <a:latin typeface="Arial" pitchFamily="34" charset="0"/>
                <a:ea typeface="Arial" pitchFamily="34" charset="-122"/>
                <a:cs typeface="Arial" pitchFamily="34" charset="-120"/>
              </a:rPr>
              <a:t>captura rail, railway, rails…</a:t>
            </a:r>
            <a:endParaRPr lang="en-US" sz="1350" dirty="0"/>
          </a:p>
        </p:txBody>
      </p:sp>
      <p:sp>
        <p:nvSpPr>
          <p:cNvPr id="15" name="Text 1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6" name="Text 14"/>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D · DÓNDE BUSCAR</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Bases de datos académicas</a:t>
            </a:r>
            <a:endParaRPr lang="en-US" sz="3000" dirty="0"/>
          </a:p>
        </p:txBody>
      </p:sp>
      <p:sp>
        <p:nvSpPr>
          <p:cNvPr id="4" name="Shape 2"/>
          <p:cNvSpPr/>
          <p:nvPr/>
        </p:nvSpPr>
        <p:spPr>
          <a:xfrm>
            <a:off x="548640" y="182880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822960" y="196596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Scopus</a:t>
            </a:r>
            <a:endParaRPr lang="en-US" sz="1700" dirty="0"/>
          </a:p>
        </p:txBody>
      </p:sp>
      <p:sp>
        <p:nvSpPr>
          <p:cNvPr id="6" name="Text 4"/>
          <p:cNvSpPr/>
          <p:nvPr/>
        </p:nvSpPr>
        <p:spPr>
          <a:xfrm>
            <a:off x="822960" y="237744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Multidisciplinar, con cuartiles SJR</a:t>
            </a:r>
            <a:endParaRPr lang="en-US" sz="1350" dirty="0"/>
          </a:p>
        </p:txBody>
      </p:sp>
      <p:sp>
        <p:nvSpPr>
          <p:cNvPr id="7" name="Shape 5"/>
          <p:cNvSpPr/>
          <p:nvPr/>
        </p:nvSpPr>
        <p:spPr>
          <a:xfrm>
            <a:off x="6126480" y="182880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8" name="Text 6"/>
          <p:cNvSpPr/>
          <p:nvPr/>
        </p:nvSpPr>
        <p:spPr>
          <a:xfrm>
            <a:off x="6400800" y="196596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Web of Science</a:t>
            </a:r>
            <a:endParaRPr lang="en-US" sz="1700" dirty="0"/>
          </a:p>
        </p:txBody>
      </p:sp>
      <p:sp>
        <p:nvSpPr>
          <p:cNvPr id="9" name="Text 7"/>
          <p:cNvSpPr/>
          <p:nvPr/>
        </p:nvSpPr>
        <p:spPr>
          <a:xfrm>
            <a:off x="6400800" y="237744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Multidisciplinar, con JCR y factor de impacto</a:t>
            </a:r>
            <a:endParaRPr lang="en-US" sz="1350" dirty="0"/>
          </a:p>
        </p:txBody>
      </p:sp>
      <p:sp>
        <p:nvSpPr>
          <p:cNvPr id="10" name="Shape 8"/>
          <p:cNvSpPr/>
          <p:nvPr/>
        </p:nvSpPr>
        <p:spPr>
          <a:xfrm>
            <a:off x="548640" y="306324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11" name="Text 9"/>
          <p:cNvSpPr/>
          <p:nvPr/>
        </p:nvSpPr>
        <p:spPr>
          <a:xfrm>
            <a:off x="822960" y="320040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IEEE Xplore</a:t>
            </a:r>
            <a:endParaRPr lang="en-US" sz="1700" dirty="0"/>
          </a:p>
        </p:txBody>
      </p:sp>
      <p:sp>
        <p:nvSpPr>
          <p:cNvPr id="12" name="Text 10"/>
          <p:cNvSpPr/>
          <p:nvPr/>
        </p:nvSpPr>
        <p:spPr>
          <a:xfrm>
            <a:off x="822960" y="361188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Ingeniería eléctrica, electrónica y computación</a:t>
            </a:r>
            <a:endParaRPr lang="en-US" sz="1350" dirty="0"/>
          </a:p>
        </p:txBody>
      </p:sp>
      <p:sp>
        <p:nvSpPr>
          <p:cNvPr id="13" name="Shape 11"/>
          <p:cNvSpPr/>
          <p:nvPr/>
        </p:nvSpPr>
        <p:spPr>
          <a:xfrm>
            <a:off x="6126480" y="306324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14" name="Text 12"/>
          <p:cNvSpPr/>
          <p:nvPr/>
        </p:nvSpPr>
        <p:spPr>
          <a:xfrm>
            <a:off x="6400800" y="320040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ScienceDirect</a:t>
            </a:r>
            <a:endParaRPr lang="en-US" sz="1700" dirty="0"/>
          </a:p>
        </p:txBody>
      </p:sp>
      <p:sp>
        <p:nvSpPr>
          <p:cNvPr id="15" name="Text 13"/>
          <p:cNvSpPr/>
          <p:nvPr/>
        </p:nvSpPr>
        <p:spPr>
          <a:xfrm>
            <a:off x="6400800" y="361188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Texto completo Elsevier</a:t>
            </a:r>
            <a:endParaRPr lang="en-US" sz="1350" dirty="0"/>
          </a:p>
        </p:txBody>
      </p:sp>
      <p:sp>
        <p:nvSpPr>
          <p:cNvPr id="16" name="Shape 14"/>
          <p:cNvSpPr/>
          <p:nvPr/>
        </p:nvSpPr>
        <p:spPr>
          <a:xfrm>
            <a:off x="548640" y="429768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17" name="Text 15"/>
          <p:cNvSpPr/>
          <p:nvPr/>
        </p:nvSpPr>
        <p:spPr>
          <a:xfrm>
            <a:off x="822960" y="443484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Scielo / Redalyc</a:t>
            </a:r>
            <a:endParaRPr lang="en-US" sz="1700" dirty="0"/>
          </a:p>
        </p:txBody>
      </p:sp>
      <p:sp>
        <p:nvSpPr>
          <p:cNvPr id="18" name="Text 16"/>
          <p:cNvSpPr/>
          <p:nvPr/>
        </p:nvSpPr>
        <p:spPr>
          <a:xfrm>
            <a:off x="822960" y="484632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Producción en español y de Latinoamérica</a:t>
            </a:r>
            <a:endParaRPr lang="en-US" sz="1350" dirty="0"/>
          </a:p>
        </p:txBody>
      </p:sp>
      <p:sp>
        <p:nvSpPr>
          <p:cNvPr id="19" name="Shape 17"/>
          <p:cNvSpPr/>
          <p:nvPr/>
        </p:nvSpPr>
        <p:spPr>
          <a:xfrm>
            <a:off x="6126480" y="4297680"/>
            <a:ext cx="5349240" cy="1097280"/>
          </a:xfrm>
          <a:prstGeom prst="roundRect">
            <a:avLst>
              <a:gd name="adj" fmla="val 7500"/>
            </a:avLst>
          </a:prstGeom>
          <a:solidFill>
            <a:srgbClr val="EDEFF2"/>
          </a:solidFill>
          <a:ln/>
          <a:effectLst>
            <a:outerShdw sx="100000" sy="100000" kx="0" ky="0" algn="bl" rotWithShape="0" blurRad="76200" dist="25400" dir="5400000">
              <a:srgbClr val="9AA0A6">
                <a:alpha val="35000"/>
              </a:srgbClr>
            </a:outerShdw>
          </a:effectLst>
        </p:spPr>
      </p:sp>
      <p:sp>
        <p:nvSpPr>
          <p:cNvPr id="20" name="Text 18"/>
          <p:cNvSpPr/>
          <p:nvPr/>
        </p:nvSpPr>
        <p:spPr>
          <a:xfrm>
            <a:off x="6400800" y="4434840"/>
            <a:ext cx="4846320" cy="41148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Google Scholar</a:t>
            </a:r>
            <a:endParaRPr lang="en-US" sz="1700" dirty="0"/>
          </a:p>
        </p:txBody>
      </p:sp>
      <p:sp>
        <p:nvSpPr>
          <p:cNvPr id="21" name="Text 19"/>
          <p:cNvSpPr/>
          <p:nvPr/>
        </p:nvSpPr>
        <p:spPr>
          <a:xfrm>
            <a:off x="6400800" y="4846320"/>
            <a:ext cx="4846320" cy="502920"/>
          </a:xfrm>
          <a:prstGeom prst="rect">
            <a:avLst/>
          </a:prstGeom>
          <a:noFill/>
          <a:ln/>
        </p:spPr>
        <p:txBody>
          <a:bodyPr wrap="square" lIns="0" tIns="0" rIns="0" bIns="0" rtlCol="0" anchor="ctr"/>
          <a:lstStyle/>
          <a:p>
            <a:pPr indent="0" marL="0">
              <a:buNone/>
            </a:pPr>
            <a:r>
              <a:rPr lang="en-US" sz="1350" dirty="0">
                <a:solidFill>
                  <a:srgbClr val="1F2733"/>
                </a:solidFill>
                <a:latin typeface="Arial" pitchFamily="34" charset="0"/>
                <a:ea typeface="Arial" pitchFamily="34" charset="-122"/>
                <a:cs typeface="Arial" pitchFamily="34" charset="-120"/>
              </a:rPr>
              <a:t>Amplio, útil para rastrear, menos curado</a:t>
            </a:r>
            <a:endParaRPr lang="en-US" sz="1350" dirty="0"/>
          </a:p>
        </p:txBody>
      </p:sp>
      <p:sp>
        <p:nvSpPr>
          <p:cNvPr id="22" name="Shape 20"/>
          <p:cNvSpPr/>
          <p:nvPr/>
        </p:nvSpPr>
        <p:spPr>
          <a:xfrm>
            <a:off x="548640" y="5669280"/>
            <a:ext cx="10972800" cy="640080"/>
          </a:xfrm>
          <a:prstGeom prst="roundRect">
            <a:avLst>
              <a:gd name="adj" fmla="val 12857"/>
            </a:avLst>
          </a:prstGeom>
          <a:solidFill>
            <a:srgbClr val="13294B"/>
          </a:solidFill>
          <a:ln/>
        </p:spPr>
      </p:sp>
      <p:sp>
        <p:nvSpPr>
          <p:cNvPr id="23" name="Text 21"/>
          <p:cNvSpPr/>
          <p:nvPr/>
        </p:nvSpPr>
        <p:spPr>
          <a:xfrm>
            <a:off x="914400" y="5669280"/>
            <a:ext cx="10241280" cy="64008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Empieza por Scopus o WoS (curadas e indexadas). Google Scholar sirve para rastrear, no como fuente final de calidad.</a:t>
            </a:r>
            <a:endParaRPr lang="en-US" sz="140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25" name="Text 23"/>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D · IA DE DESCUBRIMIENTO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IA para explorar la literatura</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3291840"/>
                <a:gridCol w="7799832"/>
              </a:tblGrid>
              <a:tr h="502920">
                <a:tc>
                  <a:txBody>
                    <a:bodyPr/>
                    <a:lstStyle/>
                    <a:p>
                      <a:pPr indent="0" marL="0">
                        <a:buNone/>
                      </a:pPr>
                      <a:r>
                        <a:rPr lang="en-US" sz="1400" b="1" dirty="0">
                          <a:solidFill>
                            <a:srgbClr val="FFFFFF"/>
                          </a:solidFill>
                          <a:latin typeface="Arial" pitchFamily="34" charset="0"/>
                          <a:ea typeface="Arial" pitchFamily="34" charset="-122"/>
                          <a:cs typeface="Arial" pitchFamily="34" charset="-120"/>
                        </a:rPr>
                        <a:t>Herramienta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400" b="1" dirty="0">
                          <a:solidFill>
                            <a:srgbClr val="FFFFFF"/>
                          </a:solidFill>
                          <a:latin typeface="Arial" pitchFamily="34" charset="0"/>
                          <a:ea typeface="Arial" pitchFamily="34" charset="-122"/>
                          <a:cs typeface="Arial" pitchFamily="34" charset="-120"/>
                        </a:rPr>
                        <a:t>Qué aporta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r>
              <a:tr h="658368">
                <a:tc>
                  <a:txBody>
                    <a:bodyPr/>
                    <a:lstStyle/>
                    <a:p>
                      <a:pPr indent="0" marL="0">
                        <a:buNone/>
                      </a:pPr>
                      <a:r>
                        <a:rPr lang="en-US" sz="1400" b="1" dirty="0">
                          <a:solidFill>
                            <a:srgbClr val="7A1420"/>
                          </a:solidFill>
                          <a:latin typeface="Arial" pitchFamily="34" charset="0"/>
                          <a:ea typeface="Arial" pitchFamily="34" charset="-122"/>
                          <a:cs typeface="Arial" pitchFamily="34" charset="-120"/>
                        </a:rPr>
                        <a:t>Elicit</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F2733"/>
                          </a:solidFill>
                          <a:latin typeface="Arial" pitchFamily="34" charset="0"/>
                          <a:ea typeface="Arial" pitchFamily="34" charset="-122"/>
                          <a:cs typeface="Arial" pitchFamily="34" charset="-120"/>
                        </a:rPr>
                        <a:t>Extrae datos de papers en columnas (objetivo, método, resultado)</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7A1420"/>
                          </a:solidFill>
                          <a:latin typeface="Arial" pitchFamily="34" charset="0"/>
                          <a:ea typeface="Arial" pitchFamily="34" charset="-122"/>
                          <a:cs typeface="Arial" pitchFamily="34" charset="-120"/>
                        </a:rPr>
                        <a:t>Consensus</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400" dirty="0">
                          <a:solidFill>
                            <a:srgbClr val="1F2733"/>
                          </a:solidFill>
                          <a:latin typeface="Arial" pitchFamily="34" charset="0"/>
                          <a:ea typeface="Arial" pitchFamily="34" charset="-122"/>
                          <a:cs typeface="Arial" pitchFamily="34" charset="-120"/>
                        </a:rPr>
                        <a:t>Responde con hallazgos de papers e indica el nivel de consenso</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r h="658368">
                <a:tc>
                  <a:txBody>
                    <a:bodyPr/>
                    <a:lstStyle/>
                    <a:p>
                      <a:pPr indent="0" marL="0">
                        <a:buNone/>
                      </a:pPr>
                      <a:r>
                        <a:rPr lang="en-US" sz="1400" b="1" dirty="0">
                          <a:solidFill>
                            <a:srgbClr val="7A1420"/>
                          </a:solidFill>
                          <a:latin typeface="Arial" pitchFamily="34" charset="0"/>
                          <a:ea typeface="Arial" pitchFamily="34" charset="-122"/>
                          <a:cs typeface="Arial" pitchFamily="34" charset="-120"/>
                        </a:rPr>
                        <a:t>Research Rabbit</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F2733"/>
                          </a:solidFill>
                          <a:latin typeface="Arial" pitchFamily="34" charset="0"/>
                          <a:ea typeface="Arial" pitchFamily="34" charset="-122"/>
                          <a:cs typeface="Arial" pitchFamily="34" charset="-120"/>
                        </a:rPr>
                        <a:t>Mapa de citaciones y recomendación de trabajos relacionados</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r h="658368">
                <a:tc>
                  <a:txBody>
                    <a:bodyPr/>
                    <a:lstStyle/>
                    <a:p>
                      <a:pPr indent="0" marL="0">
                        <a:buNone/>
                      </a:pPr>
                      <a:r>
                        <a:rPr lang="en-US" sz="1400" b="1" dirty="0">
                          <a:solidFill>
                            <a:srgbClr val="7A1420"/>
                          </a:solidFill>
                          <a:latin typeface="Arial" pitchFamily="34" charset="0"/>
                          <a:ea typeface="Arial" pitchFamily="34" charset="-122"/>
                          <a:cs typeface="Arial" pitchFamily="34" charset="-120"/>
                        </a:rPr>
                        <a:t>Connected Papers</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400" dirty="0">
                          <a:solidFill>
                            <a:srgbClr val="1F2733"/>
                          </a:solidFill>
                          <a:latin typeface="Arial" pitchFamily="34" charset="0"/>
                          <a:ea typeface="Arial" pitchFamily="34" charset="-122"/>
                          <a:cs typeface="Arial" pitchFamily="34" charset="-120"/>
                        </a:rPr>
                        <a:t>Grafo de papers similares: ubica los seminales</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r h="658368">
                <a:tc>
                  <a:txBody>
                    <a:bodyPr/>
                    <a:lstStyle/>
                    <a:p>
                      <a:pPr indent="0" marL="0">
                        <a:buNone/>
                      </a:pPr>
                      <a:r>
                        <a:rPr lang="en-US" sz="1400" b="1" dirty="0">
                          <a:solidFill>
                            <a:srgbClr val="7A1420"/>
                          </a:solidFill>
                          <a:latin typeface="Arial" pitchFamily="34" charset="0"/>
                          <a:ea typeface="Arial" pitchFamily="34" charset="-122"/>
                          <a:cs typeface="Arial" pitchFamily="34" charset="-120"/>
                        </a:rPr>
                        <a:t>Litmaps / Semantic Scholar</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c>
                  <a:txBody>
                    <a:bodyPr/>
                    <a:lstStyle/>
                    <a:p>
                      <a:pPr indent="0" marL="0">
                        <a:buNone/>
                      </a:pPr>
                      <a:r>
                        <a:rPr lang="en-US" sz="1400" dirty="0">
                          <a:solidFill>
                            <a:srgbClr val="1F2733"/>
                          </a:solidFill>
                          <a:latin typeface="Arial" pitchFamily="34" charset="0"/>
                          <a:ea typeface="Arial" pitchFamily="34" charset="-122"/>
                          <a:cs typeface="Arial" pitchFamily="34" charset="-120"/>
                        </a:rPr>
                        <a:t>Seguimiento y búsqueda académica asistida por IA</a:t>
                      </a:r>
                      <a:endParaRPr lang="en-US" sz="1400" dirty="0">
                        <a:latin typeface="Arial" charset="0"/>
                        <a:ea typeface="Arial" charset="0"/>
                        <a:cs typeface="Arial" charset="0"/>
                      </a:endParaRPr>
                    </a:p>
                  </a:txBody>
                  <a:tcPr marL="101600" marR="101600" marT="50800" marB="508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FFFFFF"/>
                    </a:solidFill>
                  </a:tcPr>
                </a:tc>
              </a:tr>
            </a:tbl>
          </a:graphicData>
        </a:graphic>
      </p:graphicFrame>
      <p:sp>
        <p:nvSpPr>
          <p:cNvPr id="5" name="Shape 2"/>
          <p:cNvSpPr/>
          <p:nvPr/>
        </p:nvSpPr>
        <p:spPr>
          <a:xfrm>
            <a:off x="548640" y="5623560"/>
            <a:ext cx="10972800" cy="731520"/>
          </a:xfrm>
          <a:prstGeom prst="roundRect">
            <a:avLst>
              <a:gd name="adj" fmla="val 11250"/>
            </a:avLst>
          </a:prstGeom>
          <a:solidFill>
            <a:srgbClr val="F3E1E4"/>
          </a:solidFill>
          <a:ln/>
        </p:spPr>
      </p:sp>
      <p:sp>
        <p:nvSpPr>
          <p:cNvPr id="6" name="Text 3"/>
          <p:cNvSpPr/>
          <p:nvPr/>
        </p:nvSpPr>
        <p:spPr>
          <a:xfrm>
            <a:off x="914400" y="5623560"/>
            <a:ext cx="10241280" cy="73152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Regla (igual que en U1):  </a:t>
            </a:r>
            <a:pPr indent="0" marL="0">
              <a:buNone/>
            </a:pPr>
            <a:r>
              <a:rPr lang="en-US" sz="1500" dirty="0">
                <a:solidFill>
                  <a:srgbClr val="1F2733"/>
                </a:solidFill>
                <a:latin typeface="Arial" pitchFamily="34" charset="0"/>
                <a:ea typeface="Arial" pitchFamily="34" charset="-122"/>
                <a:cs typeface="Arial" pitchFamily="34" charset="-120"/>
              </a:rPr>
              <a:t>la IA de descubrimiento acelera el hallazgo, pero la cita final se verifica en la base indexada. IA ≠ fuente.</a:t>
            </a:r>
            <a:endParaRPr lang="en-US" sz="1500" dirty="0"/>
          </a:p>
        </p:txBody>
      </p:sp>
      <p:sp>
        <p:nvSpPr>
          <p:cNvPr id="7" name="Text 4"/>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8" name="Text 5"/>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E · CRIBADO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PRISMA: de miles a los que importan</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45–55 min</a:t>
            </a:r>
            <a:endParaRPr lang="en-US" sz="1200" dirty="0"/>
          </a:p>
        </p:txBody>
      </p:sp>
      <p:sp>
        <p:nvSpPr>
          <p:cNvPr id="6" name="Shape 4"/>
          <p:cNvSpPr/>
          <p:nvPr/>
        </p:nvSpPr>
        <p:spPr>
          <a:xfrm>
            <a:off x="1828800" y="1828800"/>
            <a:ext cx="6400800" cy="786384"/>
          </a:xfrm>
          <a:prstGeom prst="roundRect">
            <a:avLst>
              <a:gd name="adj" fmla="val 10465"/>
            </a:avLst>
          </a:prstGeom>
          <a:solidFill>
            <a:srgbClr val="13294B"/>
          </a:solidFill>
          <a:ln/>
        </p:spPr>
      </p:sp>
      <p:sp>
        <p:nvSpPr>
          <p:cNvPr id="7" name="Text 5"/>
          <p:cNvSpPr/>
          <p:nvPr/>
        </p:nvSpPr>
        <p:spPr>
          <a:xfrm>
            <a:off x="2057400" y="1828800"/>
            <a:ext cx="2377440" cy="7863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Identificación</a:t>
            </a:r>
            <a:endParaRPr lang="en-US" sz="1600" dirty="0"/>
          </a:p>
        </p:txBody>
      </p:sp>
      <p:sp>
        <p:nvSpPr>
          <p:cNvPr id="8" name="Text 6"/>
          <p:cNvSpPr/>
          <p:nvPr/>
        </p:nvSpPr>
        <p:spPr>
          <a:xfrm>
            <a:off x="4297680" y="1828800"/>
            <a:ext cx="3749040" cy="786384"/>
          </a:xfrm>
          <a:prstGeom prst="rect">
            <a:avLst/>
          </a:prstGeom>
          <a:noFill/>
          <a:ln/>
        </p:spPr>
        <p:txBody>
          <a:bodyPr wrap="square" lIns="0" tIns="0" rIns="0" bIns="0" rtlCol="0" anchor="ctr"/>
          <a:lstStyle/>
          <a:p>
            <a:pPr indent="0" marL="0">
              <a:buNone/>
            </a:pPr>
            <a:r>
              <a:rPr lang="en-US" sz="1250" dirty="0">
                <a:solidFill>
                  <a:srgbClr val="EAF0F7"/>
                </a:solidFill>
                <a:latin typeface="Arial" pitchFamily="34" charset="0"/>
                <a:ea typeface="Arial" pitchFamily="34" charset="-122"/>
                <a:cs typeface="Arial" pitchFamily="34" charset="-120"/>
              </a:rPr>
              <a:t>Registros de bases + IA de descubrimiento</a:t>
            </a:r>
            <a:endParaRPr lang="en-US" sz="1250" dirty="0"/>
          </a:p>
        </p:txBody>
      </p:sp>
      <p:sp>
        <p:nvSpPr>
          <p:cNvPr id="9" name="Shape 7"/>
          <p:cNvSpPr/>
          <p:nvPr/>
        </p:nvSpPr>
        <p:spPr>
          <a:xfrm>
            <a:off x="8412480" y="1947672"/>
            <a:ext cx="1554480" cy="548640"/>
          </a:xfrm>
          <a:prstGeom prst="roundRect">
            <a:avLst>
              <a:gd name="adj" fmla="val 13333"/>
            </a:avLst>
          </a:prstGeom>
          <a:solidFill>
            <a:srgbClr val="FFFFFF"/>
          </a:solidFill>
          <a:ln w="12700">
            <a:solidFill>
              <a:srgbClr val="DDE2E8"/>
            </a:solidFill>
            <a:prstDash val="solid"/>
          </a:ln>
        </p:spPr>
      </p:sp>
      <p:sp>
        <p:nvSpPr>
          <p:cNvPr id="10" name="Text 8"/>
          <p:cNvSpPr/>
          <p:nvPr/>
        </p:nvSpPr>
        <p:spPr>
          <a:xfrm>
            <a:off x="8412480" y="1947672"/>
            <a:ext cx="1554480" cy="548640"/>
          </a:xfrm>
          <a:prstGeom prst="rect">
            <a:avLst/>
          </a:prstGeom>
          <a:noFill/>
          <a:ln/>
        </p:spPr>
        <p:txBody>
          <a:bodyPr wrap="square" lIns="0" tIns="0" rIns="0" bIns="0" rtlCol="0" anchor="ctr"/>
          <a:lstStyle/>
          <a:p>
            <a:pPr algn="ctr" indent="0" marL="0">
              <a:buNone/>
            </a:pPr>
            <a:r>
              <a:rPr lang="en-US" sz="1500" b="1" dirty="0">
                <a:solidFill>
                  <a:srgbClr val="7A1420"/>
                </a:solidFill>
                <a:latin typeface="Arial" pitchFamily="34" charset="0"/>
                <a:ea typeface="Arial" pitchFamily="34" charset="-122"/>
                <a:cs typeface="Arial" pitchFamily="34" charset="-120"/>
              </a:rPr>
              <a:t>n = 420</a:t>
            </a:r>
            <a:endParaRPr lang="en-US" sz="1500" dirty="0"/>
          </a:p>
        </p:txBody>
      </p:sp>
      <p:sp>
        <p:nvSpPr>
          <p:cNvPr id="11" name="Text 9"/>
          <p:cNvSpPr/>
          <p:nvPr/>
        </p:nvSpPr>
        <p:spPr>
          <a:xfrm>
            <a:off x="4754880" y="2587752"/>
            <a:ext cx="548640" cy="292608"/>
          </a:xfrm>
          <a:prstGeom prst="rect">
            <a:avLst/>
          </a:prstGeom>
          <a:noFill/>
          <a:ln/>
        </p:spPr>
        <p:txBody>
          <a:bodyPr wrap="square" lIns="0" tIns="0" rIns="0" bIns="0" rtlCol="0" anchor="ctr"/>
          <a:lstStyle/>
          <a:p>
            <a:pPr algn="ctr" indent="0" marL="0">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2" name="Shape 10"/>
          <p:cNvSpPr/>
          <p:nvPr/>
        </p:nvSpPr>
        <p:spPr>
          <a:xfrm>
            <a:off x="1828800" y="2852928"/>
            <a:ext cx="6400800" cy="786384"/>
          </a:xfrm>
          <a:prstGeom prst="roundRect">
            <a:avLst>
              <a:gd name="adj" fmla="val 10465"/>
            </a:avLst>
          </a:prstGeom>
          <a:solidFill>
            <a:srgbClr val="13294B"/>
          </a:solidFill>
          <a:ln/>
        </p:spPr>
      </p:sp>
      <p:sp>
        <p:nvSpPr>
          <p:cNvPr id="13" name="Text 11"/>
          <p:cNvSpPr/>
          <p:nvPr/>
        </p:nvSpPr>
        <p:spPr>
          <a:xfrm>
            <a:off x="2057400" y="2852928"/>
            <a:ext cx="2377440" cy="7863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Cribado</a:t>
            </a:r>
            <a:endParaRPr lang="en-US" sz="1600" dirty="0"/>
          </a:p>
        </p:txBody>
      </p:sp>
      <p:sp>
        <p:nvSpPr>
          <p:cNvPr id="14" name="Text 12"/>
          <p:cNvSpPr/>
          <p:nvPr/>
        </p:nvSpPr>
        <p:spPr>
          <a:xfrm>
            <a:off x="4297680" y="2852928"/>
            <a:ext cx="3749040" cy="786384"/>
          </a:xfrm>
          <a:prstGeom prst="rect">
            <a:avLst/>
          </a:prstGeom>
          <a:noFill/>
          <a:ln/>
        </p:spPr>
        <p:txBody>
          <a:bodyPr wrap="square" lIns="0" tIns="0" rIns="0" bIns="0" rtlCol="0" anchor="ctr"/>
          <a:lstStyle/>
          <a:p>
            <a:pPr indent="0" marL="0">
              <a:buNone/>
            </a:pPr>
            <a:r>
              <a:rPr lang="en-US" sz="1250" dirty="0">
                <a:solidFill>
                  <a:srgbClr val="EAF0F7"/>
                </a:solidFill>
                <a:latin typeface="Arial" pitchFamily="34" charset="0"/>
                <a:ea typeface="Arial" pitchFamily="34" charset="-122"/>
                <a:cs typeface="Arial" pitchFamily="34" charset="-120"/>
              </a:rPr>
              <a:t>Título y resumen; eliminar duplicados</a:t>
            </a:r>
            <a:endParaRPr lang="en-US" sz="1250" dirty="0"/>
          </a:p>
        </p:txBody>
      </p:sp>
      <p:sp>
        <p:nvSpPr>
          <p:cNvPr id="15" name="Shape 13"/>
          <p:cNvSpPr/>
          <p:nvPr/>
        </p:nvSpPr>
        <p:spPr>
          <a:xfrm>
            <a:off x="8412480" y="2971800"/>
            <a:ext cx="1554480" cy="548640"/>
          </a:xfrm>
          <a:prstGeom prst="roundRect">
            <a:avLst>
              <a:gd name="adj" fmla="val 13333"/>
            </a:avLst>
          </a:prstGeom>
          <a:solidFill>
            <a:srgbClr val="FFFFFF"/>
          </a:solidFill>
          <a:ln w="12700">
            <a:solidFill>
              <a:srgbClr val="DDE2E8"/>
            </a:solidFill>
            <a:prstDash val="solid"/>
          </a:ln>
        </p:spPr>
      </p:sp>
      <p:sp>
        <p:nvSpPr>
          <p:cNvPr id="16" name="Text 14"/>
          <p:cNvSpPr/>
          <p:nvPr/>
        </p:nvSpPr>
        <p:spPr>
          <a:xfrm>
            <a:off x="8412480" y="2971800"/>
            <a:ext cx="1554480" cy="548640"/>
          </a:xfrm>
          <a:prstGeom prst="rect">
            <a:avLst/>
          </a:prstGeom>
          <a:noFill/>
          <a:ln/>
        </p:spPr>
        <p:txBody>
          <a:bodyPr wrap="square" lIns="0" tIns="0" rIns="0" bIns="0" rtlCol="0" anchor="ctr"/>
          <a:lstStyle/>
          <a:p>
            <a:pPr algn="ctr" indent="0" marL="0">
              <a:buNone/>
            </a:pPr>
            <a:r>
              <a:rPr lang="en-US" sz="1500" b="1" dirty="0">
                <a:solidFill>
                  <a:srgbClr val="7A1420"/>
                </a:solidFill>
                <a:latin typeface="Arial" pitchFamily="34" charset="0"/>
                <a:ea typeface="Arial" pitchFamily="34" charset="-122"/>
                <a:cs typeface="Arial" pitchFamily="34" charset="-120"/>
              </a:rPr>
              <a:t>n = 90</a:t>
            </a:r>
            <a:endParaRPr lang="en-US" sz="1500" dirty="0"/>
          </a:p>
        </p:txBody>
      </p:sp>
      <p:sp>
        <p:nvSpPr>
          <p:cNvPr id="17" name="Text 15"/>
          <p:cNvSpPr/>
          <p:nvPr/>
        </p:nvSpPr>
        <p:spPr>
          <a:xfrm>
            <a:off x="4754880" y="3611880"/>
            <a:ext cx="548640" cy="292608"/>
          </a:xfrm>
          <a:prstGeom prst="rect">
            <a:avLst/>
          </a:prstGeom>
          <a:noFill/>
          <a:ln/>
        </p:spPr>
        <p:txBody>
          <a:bodyPr wrap="square" lIns="0" tIns="0" rIns="0" bIns="0" rtlCol="0" anchor="ctr"/>
          <a:lstStyle/>
          <a:p>
            <a:pPr algn="ctr" indent="0" marL="0">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18" name="Shape 16"/>
          <p:cNvSpPr/>
          <p:nvPr/>
        </p:nvSpPr>
        <p:spPr>
          <a:xfrm>
            <a:off x="1828800" y="3877056"/>
            <a:ext cx="6400800" cy="786384"/>
          </a:xfrm>
          <a:prstGeom prst="roundRect">
            <a:avLst>
              <a:gd name="adj" fmla="val 10465"/>
            </a:avLst>
          </a:prstGeom>
          <a:solidFill>
            <a:srgbClr val="13294B"/>
          </a:solidFill>
          <a:ln/>
        </p:spPr>
      </p:sp>
      <p:sp>
        <p:nvSpPr>
          <p:cNvPr id="19" name="Text 17"/>
          <p:cNvSpPr/>
          <p:nvPr/>
        </p:nvSpPr>
        <p:spPr>
          <a:xfrm>
            <a:off x="2057400" y="3877056"/>
            <a:ext cx="2377440" cy="7863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Elegibilidad</a:t>
            </a:r>
            <a:endParaRPr lang="en-US" sz="1600" dirty="0"/>
          </a:p>
        </p:txBody>
      </p:sp>
      <p:sp>
        <p:nvSpPr>
          <p:cNvPr id="20" name="Text 18"/>
          <p:cNvSpPr/>
          <p:nvPr/>
        </p:nvSpPr>
        <p:spPr>
          <a:xfrm>
            <a:off x="4297680" y="3877056"/>
            <a:ext cx="3749040" cy="786384"/>
          </a:xfrm>
          <a:prstGeom prst="rect">
            <a:avLst/>
          </a:prstGeom>
          <a:noFill/>
          <a:ln/>
        </p:spPr>
        <p:txBody>
          <a:bodyPr wrap="square" lIns="0" tIns="0" rIns="0" bIns="0" rtlCol="0" anchor="ctr"/>
          <a:lstStyle/>
          <a:p>
            <a:pPr indent="0" marL="0">
              <a:buNone/>
            </a:pPr>
            <a:r>
              <a:rPr lang="en-US" sz="1250" dirty="0">
                <a:solidFill>
                  <a:srgbClr val="EAF0F7"/>
                </a:solidFill>
                <a:latin typeface="Arial" pitchFamily="34" charset="0"/>
                <a:ea typeface="Arial" pitchFamily="34" charset="-122"/>
                <a:cs typeface="Arial" pitchFamily="34" charset="-120"/>
              </a:rPr>
              <a:t>Texto completo según criterios</a:t>
            </a:r>
            <a:endParaRPr lang="en-US" sz="1250" dirty="0"/>
          </a:p>
        </p:txBody>
      </p:sp>
      <p:sp>
        <p:nvSpPr>
          <p:cNvPr id="21" name="Shape 19"/>
          <p:cNvSpPr/>
          <p:nvPr/>
        </p:nvSpPr>
        <p:spPr>
          <a:xfrm>
            <a:off x="8412480" y="3995928"/>
            <a:ext cx="1554480" cy="548640"/>
          </a:xfrm>
          <a:prstGeom prst="roundRect">
            <a:avLst>
              <a:gd name="adj" fmla="val 13333"/>
            </a:avLst>
          </a:prstGeom>
          <a:solidFill>
            <a:srgbClr val="FFFFFF"/>
          </a:solidFill>
          <a:ln w="12700">
            <a:solidFill>
              <a:srgbClr val="DDE2E8"/>
            </a:solidFill>
            <a:prstDash val="solid"/>
          </a:ln>
        </p:spPr>
      </p:sp>
      <p:sp>
        <p:nvSpPr>
          <p:cNvPr id="22" name="Text 20"/>
          <p:cNvSpPr/>
          <p:nvPr/>
        </p:nvSpPr>
        <p:spPr>
          <a:xfrm>
            <a:off x="8412480" y="3995928"/>
            <a:ext cx="1554480" cy="548640"/>
          </a:xfrm>
          <a:prstGeom prst="rect">
            <a:avLst/>
          </a:prstGeom>
          <a:noFill/>
          <a:ln/>
        </p:spPr>
        <p:txBody>
          <a:bodyPr wrap="square" lIns="0" tIns="0" rIns="0" bIns="0" rtlCol="0" anchor="ctr"/>
          <a:lstStyle/>
          <a:p>
            <a:pPr algn="ctr" indent="0" marL="0">
              <a:buNone/>
            </a:pPr>
            <a:r>
              <a:rPr lang="en-US" sz="1500" b="1" dirty="0">
                <a:solidFill>
                  <a:srgbClr val="7A1420"/>
                </a:solidFill>
                <a:latin typeface="Arial" pitchFamily="34" charset="0"/>
                <a:ea typeface="Arial" pitchFamily="34" charset="-122"/>
                <a:cs typeface="Arial" pitchFamily="34" charset="-120"/>
              </a:rPr>
              <a:t>n = 28</a:t>
            </a:r>
            <a:endParaRPr lang="en-US" sz="1500" dirty="0"/>
          </a:p>
        </p:txBody>
      </p:sp>
      <p:sp>
        <p:nvSpPr>
          <p:cNvPr id="23" name="Text 21"/>
          <p:cNvSpPr/>
          <p:nvPr/>
        </p:nvSpPr>
        <p:spPr>
          <a:xfrm>
            <a:off x="4754880" y="4636008"/>
            <a:ext cx="548640" cy="292608"/>
          </a:xfrm>
          <a:prstGeom prst="rect">
            <a:avLst/>
          </a:prstGeom>
          <a:noFill/>
          <a:ln/>
        </p:spPr>
        <p:txBody>
          <a:bodyPr wrap="square" lIns="0" tIns="0" rIns="0" bIns="0" rtlCol="0" anchor="ctr"/>
          <a:lstStyle/>
          <a:p>
            <a:pPr algn="ctr" indent="0" marL="0">
              <a:buNone/>
            </a:pPr>
            <a:r>
              <a:rPr lang="en-US" sz="2200" b="1" dirty="0">
                <a:solidFill>
                  <a:srgbClr val="6B7280"/>
                </a:solidFill>
                <a:latin typeface="Arial" pitchFamily="34" charset="0"/>
                <a:ea typeface="Arial" pitchFamily="34" charset="-122"/>
                <a:cs typeface="Arial" pitchFamily="34" charset="-120"/>
              </a:rPr>
              <a:t>↓</a:t>
            </a:r>
            <a:endParaRPr lang="en-US" sz="2200" dirty="0"/>
          </a:p>
        </p:txBody>
      </p:sp>
      <p:sp>
        <p:nvSpPr>
          <p:cNvPr id="24" name="Shape 22"/>
          <p:cNvSpPr/>
          <p:nvPr/>
        </p:nvSpPr>
        <p:spPr>
          <a:xfrm>
            <a:off x="1828800" y="4901184"/>
            <a:ext cx="6400800" cy="786384"/>
          </a:xfrm>
          <a:prstGeom prst="roundRect">
            <a:avLst>
              <a:gd name="adj" fmla="val 10465"/>
            </a:avLst>
          </a:prstGeom>
          <a:solidFill>
            <a:srgbClr val="2E7D32"/>
          </a:solidFill>
          <a:ln/>
        </p:spPr>
      </p:sp>
      <p:sp>
        <p:nvSpPr>
          <p:cNvPr id="25" name="Text 23"/>
          <p:cNvSpPr/>
          <p:nvPr/>
        </p:nvSpPr>
        <p:spPr>
          <a:xfrm>
            <a:off x="2057400" y="4901184"/>
            <a:ext cx="2377440" cy="786384"/>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Incluidos</a:t>
            </a:r>
            <a:endParaRPr lang="en-US" sz="1600" dirty="0"/>
          </a:p>
        </p:txBody>
      </p:sp>
      <p:sp>
        <p:nvSpPr>
          <p:cNvPr id="26" name="Text 24"/>
          <p:cNvSpPr/>
          <p:nvPr/>
        </p:nvSpPr>
        <p:spPr>
          <a:xfrm>
            <a:off x="4297680" y="4901184"/>
            <a:ext cx="3749040" cy="786384"/>
          </a:xfrm>
          <a:prstGeom prst="rect">
            <a:avLst/>
          </a:prstGeom>
          <a:noFill/>
          <a:ln/>
        </p:spPr>
        <p:txBody>
          <a:bodyPr wrap="square" lIns="0" tIns="0" rIns="0" bIns="0" rtlCol="0" anchor="ctr"/>
          <a:lstStyle/>
          <a:p>
            <a:pPr indent="0" marL="0">
              <a:buNone/>
            </a:pPr>
            <a:r>
              <a:rPr lang="en-US" sz="1250" dirty="0">
                <a:solidFill>
                  <a:srgbClr val="EAF0F7"/>
                </a:solidFill>
                <a:latin typeface="Arial" pitchFamily="34" charset="0"/>
                <a:ea typeface="Arial" pitchFamily="34" charset="-122"/>
                <a:cs typeface="Arial" pitchFamily="34" charset="-120"/>
              </a:rPr>
              <a:t>Estudios en tu síntesis</a:t>
            </a:r>
            <a:endParaRPr lang="en-US" sz="1250" dirty="0"/>
          </a:p>
        </p:txBody>
      </p:sp>
      <p:sp>
        <p:nvSpPr>
          <p:cNvPr id="27" name="Shape 25"/>
          <p:cNvSpPr/>
          <p:nvPr/>
        </p:nvSpPr>
        <p:spPr>
          <a:xfrm>
            <a:off x="8412480" y="5020056"/>
            <a:ext cx="1554480" cy="548640"/>
          </a:xfrm>
          <a:prstGeom prst="roundRect">
            <a:avLst>
              <a:gd name="adj" fmla="val 13333"/>
            </a:avLst>
          </a:prstGeom>
          <a:solidFill>
            <a:srgbClr val="FFFFFF"/>
          </a:solidFill>
          <a:ln w="12700">
            <a:solidFill>
              <a:srgbClr val="DDE2E8"/>
            </a:solidFill>
            <a:prstDash val="solid"/>
          </a:ln>
        </p:spPr>
      </p:sp>
      <p:sp>
        <p:nvSpPr>
          <p:cNvPr id="28" name="Text 26"/>
          <p:cNvSpPr/>
          <p:nvPr/>
        </p:nvSpPr>
        <p:spPr>
          <a:xfrm>
            <a:off x="8412480" y="5020056"/>
            <a:ext cx="1554480" cy="548640"/>
          </a:xfrm>
          <a:prstGeom prst="rect">
            <a:avLst/>
          </a:prstGeom>
          <a:noFill/>
          <a:ln/>
        </p:spPr>
        <p:txBody>
          <a:bodyPr wrap="square" lIns="0" tIns="0" rIns="0" bIns="0" rtlCol="0" anchor="ctr"/>
          <a:lstStyle/>
          <a:p>
            <a:pPr algn="ctr" indent="0" marL="0">
              <a:buNone/>
            </a:pPr>
            <a:r>
              <a:rPr lang="en-US" sz="1500" b="1" dirty="0">
                <a:solidFill>
                  <a:srgbClr val="7A1420"/>
                </a:solidFill>
                <a:latin typeface="Arial" pitchFamily="34" charset="0"/>
                <a:ea typeface="Arial" pitchFamily="34" charset="-122"/>
                <a:cs typeface="Arial" pitchFamily="34" charset="-120"/>
              </a:rPr>
              <a:t>n = 12</a:t>
            </a:r>
            <a:endParaRPr lang="en-US" sz="1500" dirty="0"/>
          </a:p>
        </p:txBody>
      </p:sp>
      <p:sp>
        <p:nvSpPr>
          <p:cNvPr id="29" name="Text 27"/>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30" name="Text 2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E · CRIBADO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Criterios de inclusión y exclusión</a:t>
            </a:r>
            <a:endParaRPr lang="en-US" sz="3000" dirty="0"/>
          </a:p>
        </p:txBody>
      </p:sp>
      <p:sp>
        <p:nvSpPr>
          <p:cNvPr id="4" name="Shape 2"/>
          <p:cNvSpPr/>
          <p:nvPr/>
        </p:nvSpPr>
        <p:spPr>
          <a:xfrm>
            <a:off x="548640" y="1828800"/>
            <a:ext cx="5440680" cy="4023360"/>
          </a:xfrm>
          <a:prstGeom prst="roundRect">
            <a:avLst>
              <a:gd name="adj" fmla="val 2045"/>
            </a:avLst>
          </a:prstGeom>
          <a:solidFill>
            <a:srgbClr val="E7F0E9"/>
          </a:solidFill>
          <a:ln/>
          <a:effectLst>
            <a:outerShdw sx="100000" sy="100000" kx="0" ky="0" algn="bl" rotWithShape="0" blurRad="76200" dist="25400" dir="5400000">
              <a:srgbClr val="9AA0A6">
                <a:alpha val="35000"/>
              </a:srgbClr>
            </a:outerShdw>
          </a:effectLst>
        </p:spPr>
      </p:sp>
      <p:sp>
        <p:nvSpPr>
          <p:cNvPr id="5" name="Text 3"/>
          <p:cNvSpPr/>
          <p:nvPr/>
        </p:nvSpPr>
        <p:spPr>
          <a:xfrm>
            <a:off x="868680" y="2057400"/>
            <a:ext cx="4846320" cy="411480"/>
          </a:xfrm>
          <a:prstGeom prst="rect">
            <a:avLst/>
          </a:prstGeom>
          <a:noFill/>
          <a:ln/>
        </p:spPr>
        <p:txBody>
          <a:bodyPr wrap="square" lIns="0" tIns="0" rIns="0" bIns="0" rtlCol="0" anchor="ctr"/>
          <a:lstStyle/>
          <a:p>
            <a:pPr indent="0" marL="0">
              <a:buNone/>
            </a:pPr>
            <a:r>
              <a:rPr lang="en-US" sz="1800" b="1" dirty="0">
                <a:solidFill>
                  <a:srgbClr val="2E7D32"/>
                </a:solidFill>
                <a:latin typeface="Arial" pitchFamily="34" charset="0"/>
                <a:ea typeface="Arial" pitchFamily="34" charset="-122"/>
                <a:cs typeface="Arial" pitchFamily="34" charset="-120"/>
              </a:rPr>
              <a:t>INCLUIR si…</a:t>
            </a:r>
            <a:endParaRPr lang="en-US" sz="1800" dirty="0"/>
          </a:p>
        </p:txBody>
      </p:sp>
      <p:sp>
        <p:nvSpPr>
          <p:cNvPr id="6" name="Text 4"/>
          <p:cNvSpPr/>
          <p:nvPr/>
        </p:nvSpPr>
        <p:spPr>
          <a:xfrm>
            <a:off x="868680" y="2560320"/>
            <a:ext cx="4937760" cy="3108960"/>
          </a:xfrm>
          <a:prstGeom prst="rect">
            <a:avLst/>
          </a:prstGeom>
          <a:noFill/>
          <a:ln/>
        </p:spPr>
        <p:txBody>
          <a:bodyPr wrap="square" lIns="0" tIns="0" rIns="0" bIns="0" rtlCol="0" anchor="ctr"/>
          <a:lstStyle/>
          <a:p>
            <a:pPr marL="203200" indent="-203200">
              <a:lnSpc>
                <a:spcPct val="150000"/>
              </a:lnSpc>
              <a:buSzPct val="100000"/>
              <a:buChar char="✓"/>
            </a:pPr>
            <a:r>
              <a:rPr lang="en-US" sz="1500" dirty="0">
                <a:solidFill>
                  <a:srgbClr val="1F2733"/>
                </a:solidFill>
                <a:latin typeface="Arial" pitchFamily="34" charset="0"/>
                <a:ea typeface="Arial" pitchFamily="34" charset="-122"/>
                <a:cs typeface="Arial" pitchFamily="34" charset="-120"/>
              </a:rPr>
              <a:t>Responde a tu pregunta (PICOC)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Últimos ~5–10 años (según campo)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Revista indexada / revisada por pares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Texto completo disponible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Idioma que puedes leer</a:t>
            </a:r>
            <a:endParaRPr lang="en-US" sz="1500" dirty="0"/>
          </a:p>
        </p:txBody>
      </p:sp>
      <p:sp>
        <p:nvSpPr>
          <p:cNvPr id="7" name="Shape 5"/>
          <p:cNvSpPr/>
          <p:nvPr/>
        </p:nvSpPr>
        <p:spPr>
          <a:xfrm>
            <a:off x="6172200" y="1828800"/>
            <a:ext cx="5440680" cy="4023360"/>
          </a:xfrm>
          <a:prstGeom prst="roundRect">
            <a:avLst>
              <a:gd name="adj" fmla="val 2045"/>
            </a:avLst>
          </a:prstGeom>
          <a:solidFill>
            <a:srgbClr val="F3E1E4"/>
          </a:solidFill>
          <a:ln/>
          <a:effectLst>
            <a:outerShdw sx="100000" sy="100000" kx="0" ky="0" algn="bl" rotWithShape="0" blurRad="76200" dist="25400" dir="5400000">
              <a:srgbClr val="9AA0A6">
                <a:alpha val="35000"/>
              </a:srgbClr>
            </a:outerShdw>
          </a:effectLst>
        </p:spPr>
      </p:sp>
      <p:sp>
        <p:nvSpPr>
          <p:cNvPr id="8" name="Text 6"/>
          <p:cNvSpPr/>
          <p:nvPr/>
        </p:nvSpPr>
        <p:spPr>
          <a:xfrm>
            <a:off x="6492240" y="2057400"/>
            <a:ext cx="4846320" cy="411480"/>
          </a:xfrm>
          <a:prstGeom prst="rect">
            <a:avLst/>
          </a:prstGeom>
          <a:noFill/>
          <a:ln/>
        </p:spPr>
        <p:txBody>
          <a:bodyPr wrap="square" lIns="0" tIns="0" rIns="0" bIns="0" rtlCol="0" anchor="ctr"/>
          <a:lstStyle/>
          <a:p>
            <a:pPr indent="0" marL="0">
              <a:buNone/>
            </a:pPr>
            <a:r>
              <a:rPr lang="en-US" sz="1800" b="1" dirty="0">
                <a:solidFill>
                  <a:srgbClr val="7A1420"/>
                </a:solidFill>
                <a:latin typeface="Arial" pitchFamily="34" charset="0"/>
                <a:ea typeface="Arial" pitchFamily="34" charset="-122"/>
                <a:cs typeface="Arial" pitchFamily="34" charset="-120"/>
              </a:rPr>
              <a:t>EXCLUIR si…</a:t>
            </a:r>
            <a:endParaRPr lang="en-US" sz="1800" dirty="0"/>
          </a:p>
        </p:txBody>
      </p:sp>
      <p:sp>
        <p:nvSpPr>
          <p:cNvPr id="9" name="Text 7"/>
          <p:cNvSpPr/>
          <p:nvPr/>
        </p:nvSpPr>
        <p:spPr>
          <a:xfrm>
            <a:off x="6492240" y="2560320"/>
            <a:ext cx="4937760" cy="3108960"/>
          </a:xfrm>
          <a:prstGeom prst="rect">
            <a:avLst/>
          </a:prstGeom>
          <a:noFill/>
          <a:ln/>
        </p:spPr>
        <p:txBody>
          <a:bodyPr wrap="square" lIns="0" tIns="0" rIns="0" bIns="0" rtlCol="0" anchor="ctr"/>
          <a:lstStyle/>
          <a:p>
            <a:pPr marL="203200" indent="-203200">
              <a:lnSpc>
                <a:spcPct val="150000"/>
              </a:lnSpc>
              <a:buSzPct val="100000"/>
              <a:buChar char="✗"/>
            </a:pPr>
            <a:r>
              <a:rPr lang="en-US" sz="1500" dirty="0">
                <a:solidFill>
                  <a:srgbClr val="1F2733"/>
                </a:solidFill>
                <a:latin typeface="Arial" pitchFamily="34" charset="0"/>
                <a:ea typeface="Arial" pitchFamily="34" charset="-122"/>
                <a:cs typeface="Arial" pitchFamily="34" charset="-120"/>
              </a:rPr>
              <a:t>Fuera del alcance / otro problema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Sin revisión por pares (blogs, notas)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Duplicado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Solo resumen, sin método ni datos
</a:t>
            </a:r>
            <a:pPr indent="0" marL="0">
              <a:lnSpc>
                <a:spcPct val="150000"/>
              </a:lnSpc>
              <a:buNone/>
            </a:pPr>
            <a:r>
              <a:rPr lang="en-US" sz="1500" dirty="0">
                <a:solidFill>
                  <a:srgbClr val="1F2733"/>
                </a:solidFill>
                <a:latin typeface="Arial" pitchFamily="34" charset="0"/>
                <a:ea typeface="Arial" pitchFamily="34" charset="-122"/>
                <a:cs typeface="Arial" pitchFamily="34" charset="-120"/>
              </a:rPr>
              <a:t>Retractado o revista depredadora</a:t>
            </a:r>
            <a:endParaRPr lang="en-US" sz="1500" dirty="0"/>
          </a:p>
        </p:txBody>
      </p:sp>
      <p:sp>
        <p:nvSpPr>
          <p:cNvPr id="10" name="Text 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1" name="Text 9"/>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E · GESTIÓN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Ordena y deduplica: Zotero / Mendeley</a:t>
            </a:r>
            <a:endParaRPr lang="en-US" sz="3000" dirty="0"/>
          </a:p>
        </p:txBody>
      </p:sp>
      <p:sp>
        <p:nvSpPr>
          <p:cNvPr id="4" name="Shape 2"/>
          <p:cNvSpPr/>
          <p:nvPr/>
        </p:nvSpPr>
        <p:spPr>
          <a:xfrm>
            <a:off x="548640" y="1828800"/>
            <a:ext cx="10972800" cy="868680"/>
          </a:xfrm>
          <a:prstGeom prst="roundRect">
            <a:avLst>
              <a:gd name="adj" fmla="val 9474"/>
            </a:avLst>
          </a:prstGeom>
          <a:solidFill>
            <a:srgbClr val="EDEFF2"/>
          </a:solidFill>
          <a:ln/>
        </p:spPr>
      </p:sp>
      <p:sp>
        <p:nvSpPr>
          <p:cNvPr id="5" name="Shape 3"/>
          <p:cNvSpPr/>
          <p:nvPr/>
        </p:nvSpPr>
        <p:spPr>
          <a:xfrm>
            <a:off x="731520" y="2011680"/>
            <a:ext cx="502920" cy="502920"/>
          </a:xfrm>
          <a:prstGeom prst="roundRect">
            <a:avLst>
              <a:gd name="adj" fmla="val 18182"/>
            </a:avLst>
          </a:prstGeom>
          <a:solidFill>
            <a:srgbClr val="13294B"/>
          </a:solidFill>
          <a:ln/>
        </p:spPr>
      </p:sp>
      <p:sp>
        <p:nvSpPr>
          <p:cNvPr id="6" name="Text 4"/>
          <p:cNvSpPr/>
          <p:nvPr/>
        </p:nvSpPr>
        <p:spPr>
          <a:xfrm>
            <a:off x="731520" y="201168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463040" y="1828800"/>
            <a:ext cx="2560320" cy="8686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Importar</a:t>
            </a:r>
            <a:endParaRPr lang="en-US" sz="1600" dirty="0"/>
          </a:p>
        </p:txBody>
      </p:sp>
      <p:sp>
        <p:nvSpPr>
          <p:cNvPr id="8" name="Text 6"/>
          <p:cNvSpPr/>
          <p:nvPr/>
        </p:nvSpPr>
        <p:spPr>
          <a:xfrm>
            <a:off x="4023360" y="1828800"/>
            <a:ext cx="7315200" cy="86868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Exporta resultados de Scopus/WoS/IEEE (.ris/.bib) e impórtalos</a:t>
            </a:r>
            <a:endParaRPr lang="en-US" sz="1450" dirty="0"/>
          </a:p>
        </p:txBody>
      </p:sp>
      <p:sp>
        <p:nvSpPr>
          <p:cNvPr id="9" name="Shape 7"/>
          <p:cNvSpPr/>
          <p:nvPr/>
        </p:nvSpPr>
        <p:spPr>
          <a:xfrm>
            <a:off x="548640" y="2788920"/>
            <a:ext cx="10972800" cy="868680"/>
          </a:xfrm>
          <a:prstGeom prst="roundRect">
            <a:avLst>
              <a:gd name="adj" fmla="val 9474"/>
            </a:avLst>
          </a:prstGeom>
          <a:solidFill>
            <a:srgbClr val="EDEFF2"/>
          </a:solidFill>
          <a:ln/>
        </p:spPr>
      </p:sp>
      <p:sp>
        <p:nvSpPr>
          <p:cNvPr id="10" name="Shape 8"/>
          <p:cNvSpPr/>
          <p:nvPr/>
        </p:nvSpPr>
        <p:spPr>
          <a:xfrm>
            <a:off x="731520" y="2971800"/>
            <a:ext cx="502920" cy="502920"/>
          </a:xfrm>
          <a:prstGeom prst="roundRect">
            <a:avLst>
              <a:gd name="adj" fmla="val 18182"/>
            </a:avLst>
          </a:prstGeom>
          <a:solidFill>
            <a:srgbClr val="13294B"/>
          </a:solidFill>
          <a:ln/>
        </p:spPr>
      </p:sp>
      <p:sp>
        <p:nvSpPr>
          <p:cNvPr id="11" name="Text 9"/>
          <p:cNvSpPr/>
          <p:nvPr/>
        </p:nvSpPr>
        <p:spPr>
          <a:xfrm>
            <a:off x="731520" y="297180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463040" y="2788920"/>
            <a:ext cx="2560320" cy="8686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Deduplicar</a:t>
            </a:r>
            <a:endParaRPr lang="en-US" sz="1600" dirty="0"/>
          </a:p>
        </p:txBody>
      </p:sp>
      <p:sp>
        <p:nvSpPr>
          <p:cNvPr id="13" name="Text 11"/>
          <p:cNvSpPr/>
          <p:nvPr/>
        </p:nvSpPr>
        <p:spPr>
          <a:xfrm>
            <a:off x="4023360" y="2788920"/>
            <a:ext cx="7315200" cy="86868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‘Duplicate Items’ en Zotero fusiona repetidos entre bases</a:t>
            </a:r>
            <a:endParaRPr lang="en-US" sz="1450" dirty="0"/>
          </a:p>
        </p:txBody>
      </p:sp>
      <p:sp>
        <p:nvSpPr>
          <p:cNvPr id="14" name="Shape 12"/>
          <p:cNvSpPr/>
          <p:nvPr/>
        </p:nvSpPr>
        <p:spPr>
          <a:xfrm>
            <a:off x="548640" y="3749040"/>
            <a:ext cx="10972800" cy="868680"/>
          </a:xfrm>
          <a:prstGeom prst="roundRect">
            <a:avLst>
              <a:gd name="adj" fmla="val 9474"/>
            </a:avLst>
          </a:prstGeom>
          <a:solidFill>
            <a:srgbClr val="EDEFF2"/>
          </a:solidFill>
          <a:ln/>
        </p:spPr>
      </p:sp>
      <p:sp>
        <p:nvSpPr>
          <p:cNvPr id="15" name="Shape 13"/>
          <p:cNvSpPr/>
          <p:nvPr/>
        </p:nvSpPr>
        <p:spPr>
          <a:xfrm>
            <a:off x="731520" y="3931920"/>
            <a:ext cx="502920" cy="502920"/>
          </a:xfrm>
          <a:prstGeom prst="roundRect">
            <a:avLst>
              <a:gd name="adj" fmla="val 18182"/>
            </a:avLst>
          </a:prstGeom>
          <a:solidFill>
            <a:srgbClr val="13294B"/>
          </a:solidFill>
          <a:ln/>
        </p:spPr>
      </p:sp>
      <p:sp>
        <p:nvSpPr>
          <p:cNvPr id="16" name="Text 14"/>
          <p:cNvSpPr/>
          <p:nvPr/>
        </p:nvSpPr>
        <p:spPr>
          <a:xfrm>
            <a:off x="731520" y="393192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463040" y="3749040"/>
            <a:ext cx="2560320" cy="8686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Etiquetar</a:t>
            </a:r>
            <a:endParaRPr lang="en-US" sz="1600" dirty="0"/>
          </a:p>
        </p:txBody>
      </p:sp>
      <p:sp>
        <p:nvSpPr>
          <p:cNvPr id="18" name="Text 16"/>
          <p:cNvSpPr/>
          <p:nvPr/>
        </p:nvSpPr>
        <p:spPr>
          <a:xfrm>
            <a:off x="4023360" y="3749040"/>
            <a:ext cx="7315200" cy="86868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Marca incluido/excluido y el motivo de exclusión</a:t>
            </a:r>
            <a:endParaRPr lang="en-US" sz="1450" dirty="0"/>
          </a:p>
        </p:txBody>
      </p:sp>
      <p:sp>
        <p:nvSpPr>
          <p:cNvPr id="19" name="Shape 17"/>
          <p:cNvSpPr/>
          <p:nvPr/>
        </p:nvSpPr>
        <p:spPr>
          <a:xfrm>
            <a:off x="548640" y="4709160"/>
            <a:ext cx="10972800" cy="868680"/>
          </a:xfrm>
          <a:prstGeom prst="roundRect">
            <a:avLst>
              <a:gd name="adj" fmla="val 9474"/>
            </a:avLst>
          </a:prstGeom>
          <a:solidFill>
            <a:srgbClr val="EDEFF2"/>
          </a:solidFill>
          <a:ln/>
        </p:spPr>
      </p:sp>
      <p:sp>
        <p:nvSpPr>
          <p:cNvPr id="20" name="Shape 18"/>
          <p:cNvSpPr/>
          <p:nvPr/>
        </p:nvSpPr>
        <p:spPr>
          <a:xfrm>
            <a:off x="731520" y="4892040"/>
            <a:ext cx="502920" cy="502920"/>
          </a:xfrm>
          <a:prstGeom prst="roundRect">
            <a:avLst>
              <a:gd name="adj" fmla="val 18182"/>
            </a:avLst>
          </a:prstGeom>
          <a:solidFill>
            <a:srgbClr val="13294B"/>
          </a:solidFill>
          <a:ln/>
        </p:spPr>
      </p:sp>
      <p:sp>
        <p:nvSpPr>
          <p:cNvPr id="21" name="Text 19"/>
          <p:cNvSpPr/>
          <p:nvPr/>
        </p:nvSpPr>
        <p:spPr>
          <a:xfrm>
            <a:off x="731520" y="489204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463040" y="4709160"/>
            <a:ext cx="2560320" cy="868680"/>
          </a:xfrm>
          <a:prstGeom prst="rect">
            <a:avLst/>
          </a:prstGeom>
          <a:noFill/>
          <a:ln/>
        </p:spPr>
        <p:txBody>
          <a:bodyPr wrap="square" lIns="0" tIns="0" rIns="0" bIns="0" rtlCol="0" anchor="ctr"/>
          <a:lstStyle/>
          <a:p>
            <a:pPr indent="0" marL="0">
              <a:buNone/>
            </a:pPr>
            <a:r>
              <a:rPr lang="en-US" sz="1600" b="1" dirty="0">
                <a:solidFill>
                  <a:srgbClr val="7A1420"/>
                </a:solidFill>
                <a:latin typeface="Arial" pitchFamily="34" charset="0"/>
                <a:ea typeface="Arial" pitchFamily="34" charset="-122"/>
                <a:cs typeface="Arial" pitchFamily="34" charset="-120"/>
              </a:rPr>
              <a:t>Citar</a:t>
            </a:r>
            <a:endParaRPr lang="en-US" sz="1600" dirty="0"/>
          </a:p>
        </p:txBody>
      </p:sp>
      <p:sp>
        <p:nvSpPr>
          <p:cNvPr id="23" name="Text 21"/>
          <p:cNvSpPr/>
          <p:nvPr/>
        </p:nvSpPr>
        <p:spPr>
          <a:xfrm>
            <a:off x="4023360" y="4709160"/>
            <a:ext cx="7315200" cy="868680"/>
          </a:xfrm>
          <a:prstGeom prst="rect">
            <a:avLst/>
          </a:prstGeom>
          <a:noFill/>
          <a:ln/>
        </p:spPr>
        <p:txBody>
          <a:bodyPr wrap="square" lIns="0" tIns="0" rIns="0" bIns="0" rtlCol="0" anchor="ctr"/>
          <a:lstStyle/>
          <a:p>
            <a:pPr indent="0" marL="0">
              <a:buNone/>
            </a:pPr>
            <a:r>
              <a:rPr lang="en-US" sz="1450" dirty="0">
                <a:solidFill>
                  <a:srgbClr val="1F2733"/>
                </a:solidFill>
                <a:latin typeface="Arial" pitchFamily="34" charset="0"/>
                <a:ea typeface="Arial" pitchFamily="34" charset="-122"/>
                <a:cs typeface="Arial" pitchFamily="34" charset="-120"/>
              </a:rPr>
              <a:t>Inserta citas y bibliografía en Word (APA/IEEE)</a:t>
            </a:r>
            <a:endParaRPr lang="en-US" sz="1450" dirty="0"/>
          </a:p>
        </p:txBody>
      </p:sp>
      <p:sp>
        <p:nvSpPr>
          <p:cNvPr id="24" name="Text 22"/>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25" name="Text 23"/>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F · DEL LISTADO AL ARGUMENTO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La matriz de literatura</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55–62 min</a:t>
            </a:r>
            <a:endParaRPr lang="en-US" sz="1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1672" cy="914400"/>
        </p:xfrm>
        <a:graphic>
          <a:graphicData uri="http://schemas.openxmlformats.org/drawingml/2006/table">
            <a:tbl>
              <a:tblPr/>
              <a:tblGrid>
                <a:gridCol w="1490472"/>
                <a:gridCol w="1463040"/>
                <a:gridCol w="1463040"/>
                <a:gridCol w="1737360"/>
                <a:gridCol w="1371600"/>
                <a:gridCol w="1737360"/>
                <a:gridCol w="1828800"/>
              </a:tblGrid>
              <a:tr h="822960">
                <a:tc>
                  <a:txBody>
                    <a:bodyPr/>
                    <a:lstStyle/>
                    <a:p>
                      <a:pPr indent="0" marL="0">
                        <a:buNone/>
                      </a:pPr>
                      <a:r>
                        <a:rPr lang="en-US" sz="1150" b="1" dirty="0">
                          <a:solidFill>
                            <a:srgbClr val="FFFFFF"/>
                          </a:solidFill>
                          <a:latin typeface="Arial" pitchFamily="34" charset="0"/>
                          <a:ea typeface="Arial" pitchFamily="34" charset="-122"/>
                          <a:cs typeface="Arial" pitchFamily="34" charset="-120"/>
                        </a:rPr>
                        <a:t>Autor / Año</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Fuente (cuartil)</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Objetivo</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Método / muestra</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Hallazgo</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Limitación / vacío</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Relación con mi tesis</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13294B"/>
                    </a:solidFill>
                  </a:tcPr>
                </a:tc>
              </a:tr>
              <a:tr h="822960">
                <a:tc>
                  <a:txBody>
                    <a:bodyPr/>
                    <a:lstStyle/>
                    <a:p>
                      <a:pPr indent="0" marL="0">
                        <a:buNone/>
                      </a:pPr>
                      <a:r>
                        <a:rPr lang="en-US" sz="1150" dirty="0">
                          <a:solidFill>
                            <a:srgbClr val="1F2733"/>
                          </a:solidFill>
                          <a:latin typeface="Arial" pitchFamily="34" charset="0"/>
                          <a:ea typeface="Arial" pitchFamily="34" charset="-122"/>
                          <a:cs typeface="Arial" pitchFamily="34" charset="-120"/>
                        </a:rPr>
                        <a:t>Ej: Li 2022</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IEEE T. (Q1)</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Predecir fallas</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CNN / 3 líneas</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AUC 0.94</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No datos reales</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c>
                  <a:txBody>
                    <a:bodyPr/>
                    <a:lstStyle/>
                    <a:p>
                      <a:pPr indent="0" marL="0">
                        <a:buNone/>
                      </a:pPr>
                      <a:r>
                        <a:rPr lang="en-US" sz="1150" dirty="0">
                          <a:solidFill>
                            <a:srgbClr val="1F2733"/>
                          </a:solidFill>
                          <a:latin typeface="Arial" pitchFamily="34" charset="0"/>
                          <a:ea typeface="Arial" pitchFamily="34" charset="-122"/>
                          <a:cs typeface="Arial" pitchFamily="34" charset="-120"/>
                        </a:rPr>
                        <a:t>Base de mi modelo</a:t>
                      </a:r>
                      <a:endParaRPr lang="en-US" sz="1150" dirty="0">
                        <a:latin typeface="Arial" charset="0"/>
                        <a:ea typeface="Arial" charset="0"/>
                        <a:cs typeface="Arial" charset="0"/>
                      </a:endParaRPr>
                    </a:p>
                  </a:txBody>
                  <a:tcPr marL="50800" marR="50800" marT="38100" marB="38100" anchor="ctr">
                    <a:lnL w="12700" cap="flat" cmpd="sng" algn="ctr">
                      <a:solidFill>
                        <a:srgbClr val="DDE2E8"/>
                      </a:solidFill>
                      <a:prstDash val="solid"/>
                      <a:round/>
                      <a:headEnd type="none" w="med" len="med"/>
                      <a:tailEnd type="none" w="med" len="med"/>
                    </a:lnL>
                    <a:lnR w="12700" cap="flat" cmpd="sng" algn="ctr">
                      <a:solidFill>
                        <a:srgbClr val="DDE2E8"/>
                      </a:solidFill>
                      <a:prstDash val="solid"/>
                      <a:round/>
                      <a:headEnd type="none" w="med" len="med"/>
                      <a:tailEnd type="none" w="med" len="med"/>
                    </a:lnR>
                    <a:lnT w="12700" cap="flat" cmpd="sng" algn="ctr">
                      <a:solidFill>
                        <a:srgbClr val="DDE2E8"/>
                      </a:solidFill>
                      <a:prstDash val="solid"/>
                      <a:round/>
                      <a:headEnd type="none" w="med" len="med"/>
                      <a:tailEnd type="none" w="med" len="med"/>
                    </a:lnT>
                    <a:lnB w="12700" cap="flat" cmpd="sng" algn="ctr">
                      <a:solidFill>
                        <a:srgbClr val="DDE2E8"/>
                      </a:solidFill>
                      <a:prstDash val="solid"/>
                      <a:round/>
                      <a:headEnd type="none" w="med" len="med"/>
                      <a:tailEnd type="none" w="med" len="med"/>
                    </a:lnB>
                    <a:solidFill>
                      <a:srgbClr val="EDEFF2"/>
                    </a:solidFill>
                  </a:tcPr>
                </a:tc>
              </a:tr>
            </a:tbl>
          </a:graphicData>
        </a:graphic>
      </p:graphicFrame>
      <p:sp>
        <p:nvSpPr>
          <p:cNvPr id="7" name="Shape 4"/>
          <p:cNvSpPr/>
          <p:nvPr/>
        </p:nvSpPr>
        <p:spPr>
          <a:xfrm>
            <a:off x="548640" y="3931920"/>
            <a:ext cx="10972800" cy="2011680"/>
          </a:xfrm>
          <a:prstGeom prst="roundRect">
            <a:avLst>
              <a:gd name="adj" fmla="val 4091"/>
            </a:avLst>
          </a:prstGeom>
          <a:solidFill>
            <a:srgbClr val="F3E1E4"/>
          </a:solidFill>
          <a:ln/>
        </p:spPr>
      </p:sp>
      <p:sp>
        <p:nvSpPr>
          <p:cNvPr id="8" name="Text 5"/>
          <p:cNvSpPr/>
          <p:nvPr/>
        </p:nvSpPr>
        <p:spPr>
          <a:xfrm>
            <a:off x="914400" y="3931920"/>
            <a:ext cx="10241280" cy="2011680"/>
          </a:xfrm>
          <a:prstGeom prst="rect">
            <a:avLst/>
          </a:prstGeom>
          <a:noFill/>
          <a:ln/>
        </p:spPr>
        <p:txBody>
          <a:bodyPr wrap="square" lIns="0" tIns="0" rIns="0" bIns="0" rtlCol="0" anchor="ctr"/>
          <a:lstStyle/>
          <a:p>
            <a:pPr indent="0" marL="0">
              <a:lnSpc>
                <a:spcPct val="110000"/>
              </a:lnSpc>
              <a:buNone/>
            </a:pPr>
            <a:r>
              <a:rPr lang="en-US" sz="1700" b="1" dirty="0">
                <a:solidFill>
                  <a:srgbClr val="7A1420"/>
                </a:solidFill>
                <a:latin typeface="Arial" pitchFamily="34" charset="0"/>
                <a:ea typeface="Arial" pitchFamily="34" charset="-122"/>
                <a:cs typeface="Arial" pitchFamily="34" charset="-120"/>
              </a:rPr>
              <a:t>Es la matriz de evidencia de la U1, ampliada.  </a:t>
            </a:r>
            <a:pPr indent="0" marL="0">
              <a:lnSpc>
                <a:spcPct val="110000"/>
              </a:lnSpc>
              <a:buNone/>
            </a:pPr>
            <a:endParaRPr lang="en-US" sz="1700" dirty="0"/>
          </a:p>
          <a:p>
            <a:pPr indent="0" marL="0">
              <a:lnSpc>
                <a:spcPct val="110000"/>
              </a:lnSpc>
              <a:buNone/>
            </a:pPr>
            <a:endParaRPr lang="en-US" sz="1700" dirty="0"/>
          </a:p>
          <a:p>
            <a:pPr indent="0" marL="0">
              <a:lnSpc>
                <a:spcPct val="110000"/>
              </a:lnSpc>
              <a:buNone/>
            </a:pPr>
            <a:r>
              <a:rPr lang="en-US" sz="1500" dirty="0">
                <a:solidFill>
                  <a:srgbClr val="1F2733"/>
                </a:solidFill>
                <a:latin typeface="Arial" pitchFamily="34" charset="0"/>
                <a:ea typeface="Arial" pitchFamily="34" charset="-122"/>
                <a:cs typeface="Arial" pitchFamily="34" charset="-120"/>
              </a:rPr>
              <a:t>Cada fila es un antecedente estructurado; la columna ‘limitación / vacío’ es el oro: ahí nace la justificación de tu tesis. Léela por COLUMNAS (comparar métodos, hallazgos, vacíos), no solo por filas.</a:t>
            </a:r>
            <a:endParaRPr lang="en-US" sz="1700" dirty="0"/>
          </a:p>
        </p:txBody>
      </p:sp>
      <p:sp>
        <p:nvSpPr>
          <p:cNvPr id="9" name="Text 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0" name="Text 7"/>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F · EL VACÍO</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Cómo encontrar el gap</a:t>
            </a:r>
            <a:endParaRPr lang="en-US" sz="3000" dirty="0"/>
          </a:p>
        </p:txBody>
      </p:sp>
      <p:sp>
        <p:nvSpPr>
          <p:cNvPr id="4" name="Shape 2"/>
          <p:cNvSpPr/>
          <p:nvPr/>
        </p:nvSpPr>
        <p:spPr>
          <a:xfrm>
            <a:off x="548640" y="1828800"/>
            <a:ext cx="5349240" cy="1417320"/>
          </a:xfrm>
          <a:prstGeom prst="roundRect">
            <a:avLst>
              <a:gd name="adj" fmla="val 5806"/>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822960" y="2011680"/>
            <a:ext cx="4846320" cy="45720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Ausencia</a:t>
            </a:r>
            <a:endParaRPr lang="en-US" sz="1700" dirty="0"/>
          </a:p>
        </p:txBody>
      </p:sp>
      <p:sp>
        <p:nvSpPr>
          <p:cNvPr id="6" name="Text 4"/>
          <p:cNvSpPr/>
          <p:nvPr/>
        </p:nvSpPr>
        <p:spPr>
          <a:xfrm>
            <a:off x="822960" y="2468880"/>
            <a:ext cx="4846320" cy="685800"/>
          </a:xfrm>
          <a:prstGeom prst="rect">
            <a:avLst/>
          </a:prstGeom>
          <a:noFill/>
          <a:ln/>
        </p:spPr>
        <p:txBody>
          <a:bodyPr wrap="square" lIns="0" tIns="0" rIns="0" bIns="0" rtlCol="0" anchor="ctr"/>
          <a:lstStyle/>
          <a:p>
            <a:pPr indent="0" marL="0">
              <a:lnSpc>
                <a:spcPct val="110000"/>
              </a:lnSpc>
              <a:buNone/>
            </a:pPr>
            <a:r>
              <a:rPr lang="en-US" sz="1400" dirty="0">
                <a:solidFill>
                  <a:srgbClr val="1F2733"/>
                </a:solidFill>
                <a:latin typeface="Arial" pitchFamily="34" charset="0"/>
                <a:ea typeface="Arial" pitchFamily="34" charset="-122"/>
                <a:cs typeface="Arial" pitchFamily="34" charset="-120"/>
              </a:rPr>
              <a:t>Nadie lo ha estudiado en tu contexto/población</a:t>
            </a:r>
            <a:endParaRPr lang="en-US" sz="1400" dirty="0"/>
          </a:p>
        </p:txBody>
      </p:sp>
      <p:sp>
        <p:nvSpPr>
          <p:cNvPr id="7" name="Shape 5"/>
          <p:cNvSpPr/>
          <p:nvPr/>
        </p:nvSpPr>
        <p:spPr>
          <a:xfrm>
            <a:off x="6126480" y="1828800"/>
            <a:ext cx="5349240" cy="1417320"/>
          </a:xfrm>
          <a:prstGeom prst="roundRect">
            <a:avLst>
              <a:gd name="adj" fmla="val 5806"/>
            </a:avLst>
          </a:prstGeom>
          <a:solidFill>
            <a:srgbClr val="EDEFF2"/>
          </a:solidFill>
          <a:ln/>
          <a:effectLst>
            <a:outerShdw sx="100000" sy="100000" kx="0" ky="0" algn="bl" rotWithShape="0" blurRad="76200" dist="25400" dir="5400000">
              <a:srgbClr val="9AA0A6">
                <a:alpha val="35000"/>
              </a:srgbClr>
            </a:outerShdw>
          </a:effectLst>
        </p:spPr>
      </p:sp>
      <p:sp>
        <p:nvSpPr>
          <p:cNvPr id="8" name="Text 6"/>
          <p:cNvSpPr/>
          <p:nvPr/>
        </p:nvSpPr>
        <p:spPr>
          <a:xfrm>
            <a:off x="6400800" y="2011680"/>
            <a:ext cx="4846320" cy="45720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Contradicción</a:t>
            </a:r>
            <a:endParaRPr lang="en-US" sz="1700" dirty="0"/>
          </a:p>
        </p:txBody>
      </p:sp>
      <p:sp>
        <p:nvSpPr>
          <p:cNvPr id="9" name="Text 7"/>
          <p:cNvSpPr/>
          <p:nvPr/>
        </p:nvSpPr>
        <p:spPr>
          <a:xfrm>
            <a:off x="6400800" y="2468880"/>
            <a:ext cx="4846320" cy="685800"/>
          </a:xfrm>
          <a:prstGeom prst="rect">
            <a:avLst/>
          </a:prstGeom>
          <a:noFill/>
          <a:ln/>
        </p:spPr>
        <p:txBody>
          <a:bodyPr wrap="square" lIns="0" tIns="0" rIns="0" bIns="0" rtlCol="0" anchor="ctr"/>
          <a:lstStyle/>
          <a:p>
            <a:pPr indent="0" marL="0">
              <a:lnSpc>
                <a:spcPct val="110000"/>
              </a:lnSpc>
              <a:buNone/>
            </a:pPr>
            <a:r>
              <a:rPr lang="en-US" sz="1400" dirty="0">
                <a:solidFill>
                  <a:srgbClr val="1F2733"/>
                </a:solidFill>
                <a:latin typeface="Arial" pitchFamily="34" charset="0"/>
                <a:ea typeface="Arial" pitchFamily="34" charset="-122"/>
                <a:cs typeface="Arial" pitchFamily="34" charset="-120"/>
              </a:rPr>
              <a:t>Resultados que se contradicen y nadie resolvió</a:t>
            </a:r>
            <a:endParaRPr lang="en-US" sz="1400" dirty="0"/>
          </a:p>
        </p:txBody>
      </p:sp>
      <p:sp>
        <p:nvSpPr>
          <p:cNvPr id="10" name="Shape 8"/>
          <p:cNvSpPr/>
          <p:nvPr/>
        </p:nvSpPr>
        <p:spPr>
          <a:xfrm>
            <a:off x="548640" y="3383280"/>
            <a:ext cx="5349240" cy="1417320"/>
          </a:xfrm>
          <a:prstGeom prst="roundRect">
            <a:avLst>
              <a:gd name="adj" fmla="val 5806"/>
            </a:avLst>
          </a:prstGeom>
          <a:solidFill>
            <a:srgbClr val="EDEFF2"/>
          </a:solidFill>
          <a:ln/>
          <a:effectLst>
            <a:outerShdw sx="100000" sy="100000" kx="0" ky="0" algn="bl" rotWithShape="0" blurRad="76200" dist="25400" dir="5400000">
              <a:srgbClr val="9AA0A6">
                <a:alpha val="35000"/>
              </a:srgbClr>
            </a:outerShdw>
          </a:effectLst>
        </p:spPr>
      </p:sp>
      <p:sp>
        <p:nvSpPr>
          <p:cNvPr id="11" name="Text 9"/>
          <p:cNvSpPr/>
          <p:nvPr/>
        </p:nvSpPr>
        <p:spPr>
          <a:xfrm>
            <a:off x="822960" y="3566160"/>
            <a:ext cx="4846320" cy="45720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Limitación repetida</a:t>
            </a:r>
            <a:endParaRPr lang="en-US" sz="1700" dirty="0"/>
          </a:p>
        </p:txBody>
      </p:sp>
      <p:sp>
        <p:nvSpPr>
          <p:cNvPr id="12" name="Text 10"/>
          <p:cNvSpPr/>
          <p:nvPr/>
        </p:nvSpPr>
        <p:spPr>
          <a:xfrm>
            <a:off x="822960" y="4023360"/>
            <a:ext cx="4846320" cy="685800"/>
          </a:xfrm>
          <a:prstGeom prst="rect">
            <a:avLst/>
          </a:prstGeom>
          <a:noFill/>
          <a:ln/>
        </p:spPr>
        <p:txBody>
          <a:bodyPr wrap="square" lIns="0" tIns="0" rIns="0" bIns="0" rtlCol="0" anchor="ctr"/>
          <a:lstStyle/>
          <a:p>
            <a:pPr indent="0" marL="0">
              <a:lnSpc>
                <a:spcPct val="110000"/>
              </a:lnSpc>
              <a:buNone/>
            </a:pPr>
            <a:r>
              <a:rPr lang="en-US" sz="1400" dirty="0">
                <a:solidFill>
                  <a:srgbClr val="1F2733"/>
                </a:solidFill>
                <a:latin typeface="Arial" pitchFamily="34" charset="0"/>
                <a:ea typeface="Arial" pitchFamily="34" charset="-122"/>
                <a:cs typeface="Arial" pitchFamily="34" charset="-120"/>
              </a:rPr>
              <a:t>Todos comparten una debilidad (p. ej. sin datos reales)</a:t>
            </a:r>
            <a:endParaRPr lang="en-US" sz="1400" dirty="0"/>
          </a:p>
        </p:txBody>
      </p:sp>
      <p:sp>
        <p:nvSpPr>
          <p:cNvPr id="13" name="Shape 11"/>
          <p:cNvSpPr/>
          <p:nvPr/>
        </p:nvSpPr>
        <p:spPr>
          <a:xfrm>
            <a:off x="6126480" y="3383280"/>
            <a:ext cx="5349240" cy="1417320"/>
          </a:xfrm>
          <a:prstGeom prst="roundRect">
            <a:avLst>
              <a:gd name="adj" fmla="val 5806"/>
            </a:avLst>
          </a:prstGeom>
          <a:solidFill>
            <a:srgbClr val="EDEFF2"/>
          </a:solidFill>
          <a:ln/>
          <a:effectLst>
            <a:outerShdw sx="100000" sy="100000" kx="0" ky="0" algn="bl" rotWithShape="0" blurRad="76200" dist="25400" dir="5400000">
              <a:srgbClr val="9AA0A6">
                <a:alpha val="35000"/>
              </a:srgbClr>
            </a:outerShdw>
          </a:effectLst>
        </p:spPr>
      </p:sp>
      <p:sp>
        <p:nvSpPr>
          <p:cNvPr id="14" name="Text 12"/>
          <p:cNvSpPr/>
          <p:nvPr/>
        </p:nvSpPr>
        <p:spPr>
          <a:xfrm>
            <a:off x="6400800" y="3566160"/>
            <a:ext cx="4846320" cy="457200"/>
          </a:xfrm>
          <a:prstGeom prst="rect">
            <a:avLst/>
          </a:prstGeom>
          <a:noFill/>
          <a:ln/>
        </p:spPr>
        <p:txBody>
          <a:bodyPr wrap="square" lIns="0" tIns="0" rIns="0" bIns="0" rtlCol="0" anchor="ctr"/>
          <a:lstStyle/>
          <a:p>
            <a:pPr indent="0" marL="0">
              <a:buNone/>
            </a:pPr>
            <a:r>
              <a:rPr lang="en-US" sz="1700" b="1" dirty="0">
                <a:solidFill>
                  <a:srgbClr val="7A1420"/>
                </a:solidFill>
                <a:latin typeface="Arial" pitchFamily="34" charset="0"/>
                <a:ea typeface="Arial" pitchFamily="34" charset="-122"/>
                <a:cs typeface="Arial" pitchFamily="34" charset="-120"/>
              </a:rPr>
              <a:t>Método nuevo</a:t>
            </a:r>
            <a:endParaRPr lang="en-US" sz="1700" dirty="0"/>
          </a:p>
        </p:txBody>
      </p:sp>
      <p:sp>
        <p:nvSpPr>
          <p:cNvPr id="15" name="Text 13"/>
          <p:cNvSpPr/>
          <p:nvPr/>
        </p:nvSpPr>
        <p:spPr>
          <a:xfrm>
            <a:off x="6400800" y="4023360"/>
            <a:ext cx="4846320" cy="685800"/>
          </a:xfrm>
          <a:prstGeom prst="rect">
            <a:avLst/>
          </a:prstGeom>
          <a:noFill/>
          <a:ln/>
        </p:spPr>
        <p:txBody>
          <a:bodyPr wrap="square" lIns="0" tIns="0" rIns="0" bIns="0" rtlCol="0" anchor="ctr"/>
          <a:lstStyle/>
          <a:p>
            <a:pPr indent="0" marL="0">
              <a:lnSpc>
                <a:spcPct val="110000"/>
              </a:lnSpc>
              <a:buNone/>
            </a:pPr>
            <a:r>
              <a:rPr lang="en-US" sz="1400" dirty="0">
                <a:solidFill>
                  <a:srgbClr val="1F2733"/>
                </a:solidFill>
                <a:latin typeface="Arial" pitchFamily="34" charset="0"/>
                <a:ea typeface="Arial" pitchFamily="34" charset="-122"/>
                <a:cs typeface="Arial" pitchFamily="34" charset="-120"/>
              </a:rPr>
              <a:t>Una técnica no probada aún en tu problema</a:t>
            </a:r>
            <a:endParaRPr lang="en-US" sz="1400" dirty="0"/>
          </a:p>
        </p:txBody>
      </p:sp>
      <p:sp>
        <p:nvSpPr>
          <p:cNvPr id="16" name="Shape 14"/>
          <p:cNvSpPr/>
          <p:nvPr/>
        </p:nvSpPr>
        <p:spPr>
          <a:xfrm>
            <a:off x="548640" y="5029200"/>
            <a:ext cx="10972800" cy="1005840"/>
          </a:xfrm>
          <a:prstGeom prst="roundRect">
            <a:avLst>
              <a:gd name="adj" fmla="val 8182"/>
            </a:avLst>
          </a:prstGeom>
          <a:solidFill>
            <a:srgbClr val="13294B"/>
          </a:solidFill>
          <a:ln/>
        </p:spPr>
      </p:sp>
      <p:sp>
        <p:nvSpPr>
          <p:cNvPr id="17" name="Text 15"/>
          <p:cNvSpPr/>
          <p:nvPr/>
        </p:nvSpPr>
        <p:spPr>
          <a:xfrm>
            <a:off x="914400" y="5029200"/>
            <a:ext cx="10241280" cy="10058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El vacío no se inventa: se demuestra con tu matriz. ‘A diferencia de los estudios previos, que…, esta tesis…’.</a:t>
            </a:r>
            <a:endParaRPr lang="en-US" sz="1700" dirty="0"/>
          </a:p>
        </p:txBody>
      </p:sp>
      <p:sp>
        <p:nvSpPr>
          <p:cNvPr id="18" name="Text 16"/>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9" name="Text 17"/>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F · HACIA TU TSP</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Del listado a la justificación</a:t>
            </a:r>
            <a:endParaRPr lang="en-US" sz="3000" dirty="0"/>
          </a:p>
        </p:txBody>
      </p:sp>
      <p:sp>
        <p:nvSpPr>
          <p:cNvPr id="4" name="Shape 2"/>
          <p:cNvSpPr/>
          <p:nvPr/>
        </p:nvSpPr>
        <p:spPr>
          <a:xfrm>
            <a:off x="548640" y="2377440"/>
            <a:ext cx="2011680" cy="1737360"/>
          </a:xfrm>
          <a:prstGeom prst="roundRect">
            <a:avLst>
              <a:gd name="adj" fmla="val 4737"/>
            </a:avLst>
          </a:prstGeom>
          <a:solidFill>
            <a:srgbClr val="EDEFF2"/>
          </a:solidFill>
          <a:ln/>
          <a:effectLst>
            <a:outerShdw sx="100000" sy="100000" kx="0" ky="0" algn="bl" rotWithShape="0" blurRad="76200" dist="25400" dir="5400000">
              <a:srgbClr val="9AA0A6">
                <a:alpha val="35000"/>
              </a:srgbClr>
            </a:outerShdw>
          </a:effectLst>
        </p:spPr>
      </p:sp>
      <p:sp>
        <p:nvSpPr>
          <p:cNvPr id="5" name="Text 3"/>
          <p:cNvSpPr/>
          <p:nvPr/>
        </p:nvSpPr>
        <p:spPr>
          <a:xfrm>
            <a:off x="685800" y="2606040"/>
            <a:ext cx="1737360" cy="822960"/>
          </a:xfrm>
          <a:prstGeom prst="rect">
            <a:avLst/>
          </a:prstGeom>
          <a:noFill/>
          <a:ln/>
        </p:spPr>
        <p:txBody>
          <a:bodyPr wrap="square" lIns="0" tIns="0" rIns="0" bIns="0" rtlCol="0" anchor="ctr"/>
          <a:lstStyle/>
          <a:p>
            <a:pPr algn="ctr" indent="0" marL="0">
              <a:buNone/>
            </a:pPr>
            <a:r>
              <a:rPr lang="en-US" sz="1450" b="1" dirty="0">
                <a:solidFill>
                  <a:srgbClr val="13294B"/>
                </a:solidFill>
                <a:latin typeface="Arial" pitchFamily="34" charset="0"/>
                <a:ea typeface="Arial" pitchFamily="34" charset="-122"/>
                <a:cs typeface="Arial" pitchFamily="34" charset="-120"/>
              </a:rPr>
              <a:t>Fuentes cribadas</a:t>
            </a:r>
            <a:endParaRPr lang="en-US" sz="1450" dirty="0"/>
          </a:p>
        </p:txBody>
      </p:sp>
      <p:sp>
        <p:nvSpPr>
          <p:cNvPr id="6" name="Text 4"/>
          <p:cNvSpPr/>
          <p:nvPr/>
        </p:nvSpPr>
        <p:spPr>
          <a:xfrm>
            <a:off x="685800" y="3383280"/>
            <a:ext cx="1737360" cy="640080"/>
          </a:xfrm>
          <a:prstGeom prst="rect">
            <a:avLst/>
          </a:prstGeom>
          <a:noFill/>
          <a:ln/>
        </p:spPr>
        <p:txBody>
          <a:bodyPr wrap="square" lIns="0" tIns="0" rIns="0" bIns="0" rtlCol="0" anchor="ctr"/>
          <a:lstStyle/>
          <a:p>
            <a:pPr algn="ctr" indent="0" marL="0">
              <a:buNone/>
            </a:pPr>
            <a:r>
              <a:rPr lang="en-US" sz="1150" dirty="0">
                <a:solidFill>
                  <a:srgbClr val="1F2733"/>
                </a:solidFill>
                <a:latin typeface="Arial" pitchFamily="34" charset="0"/>
                <a:ea typeface="Arial" pitchFamily="34" charset="-122"/>
                <a:cs typeface="Arial" pitchFamily="34" charset="-120"/>
              </a:rPr>
              <a:t>Incluidos por PRISMA</a:t>
            </a:r>
            <a:endParaRPr lang="en-US" sz="1150" dirty="0"/>
          </a:p>
        </p:txBody>
      </p:sp>
      <p:sp>
        <p:nvSpPr>
          <p:cNvPr id="7" name="Text 5"/>
          <p:cNvSpPr/>
          <p:nvPr/>
        </p:nvSpPr>
        <p:spPr>
          <a:xfrm>
            <a:off x="2505456" y="2971800"/>
            <a:ext cx="365760" cy="548640"/>
          </a:xfrm>
          <a:prstGeom prst="rect">
            <a:avLst/>
          </a:prstGeom>
          <a:noFill/>
          <a:ln/>
        </p:spPr>
        <p:txBody>
          <a:bodyPr wrap="square" lIns="0" tIns="0" rIns="0" bIns="0" rtlCol="0" anchor="ctr"/>
          <a:lstStyle/>
          <a:p>
            <a:pPr algn="ctr" indent="0" marL="0">
              <a:buNone/>
            </a:pPr>
            <a:r>
              <a:rPr lang="en-US" sz="3000" b="1" dirty="0">
                <a:solidFill>
                  <a:srgbClr val="7A1420"/>
                </a:solidFill>
                <a:latin typeface="Arial" pitchFamily="34" charset="0"/>
                <a:ea typeface="Arial" pitchFamily="34" charset="-122"/>
                <a:cs typeface="Arial" pitchFamily="34" charset="-120"/>
              </a:rPr>
              <a:t>→</a:t>
            </a:r>
            <a:endParaRPr lang="en-US" sz="3000" dirty="0"/>
          </a:p>
        </p:txBody>
      </p:sp>
      <p:sp>
        <p:nvSpPr>
          <p:cNvPr id="8" name="Shape 6"/>
          <p:cNvSpPr/>
          <p:nvPr/>
        </p:nvSpPr>
        <p:spPr>
          <a:xfrm>
            <a:off x="2852928" y="2377440"/>
            <a:ext cx="2011680" cy="1737360"/>
          </a:xfrm>
          <a:prstGeom prst="roundRect">
            <a:avLst>
              <a:gd name="adj" fmla="val 4737"/>
            </a:avLst>
          </a:prstGeom>
          <a:solidFill>
            <a:srgbClr val="EDEFF2"/>
          </a:solidFill>
          <a:ln/>
          <a:effectLst>
            <a:outerShdw sx="100000" sy="100000" kx="0" ky="0" algn="bl" rotWithShape="0" blurRad="76200" dist="25400" dir="5400000">
              <a:srgbClr val="9AA0A6">
                <a:alpha val="35000"/>
              </a:srgbClr>
            </a:outerShdw>
          </a:effectLst>
        </p:spPr>
      </p:sp>
      <p:sp>
        <p:nvSpPr>
          <p:cNvPr id="9" name="Text 7"/>
          <p:cNvSpPr/>
          <p:nvPr/>
        </p:nvSpPr>
        <p:spPr>
          <a:xfrm>
            <a:off x="2990088" y="2606040"/>
            <a:ext cx="1737360" cy="822960"/>
          </a:xfrm>
          <a:prstGeom prst="rect">
            <a:avLst/>
          </a:prstGeom>
          <a:noFill/>
          <a:ln/>
        </p:spPr>
        <p:txBody>
          <a:bodyPr wrap="square" lIns="0" tIns="0" rIns="0" bIns="0" rtlCol="0" anchor="ctr"/>
          <a:lstStyle/>
          <a:p>
            <a:pPr algn="ctr" indent="0" marL="0">
              <a:buNone/>
            </a:pPr>
            <a:r>
              <a:rPr lang="en-US" sz="1450" b="1" dirty="0">
                <a:solidFill>
                  <a:srgbClr val="13294B"/>
                </a:solidFill>
                <a:latin typeface="Arial" pitchFamily="34" charset="0"/>
                <a:ea typeface="Arial" pitchFamily="34" charset="-122"/>
                <a:cs typeface="Arial" pitchFamily="34" charset="-120"/>
              </a:rPr>
              <a:t>Matriz de literatura</a:t>
            </a:r>
            <a:endParaRPr lang="en-US" sz="1450" dirty="0"/>
          </a:p>
        </p:txBody>
      </p:sp>
      <p:sp>
        <p:nvSpPr>
          <p:cNvPr id="10" name="Text 8"/>
          <p:cNvSpPr/>
          <p:nvPr/>
        </p:nvSpPr>
        <p:spPr>
          <a:xfrm>
            <a:off x="2990088" y="3383280"/>
            <a:ext cx="1737360" cy="640080"/>
          </a:xfrm>
          <a:prstGeom prst="rect">
            <a:avLst/>
          </a:prstGeom>
          <a:noFill/>
          <a:ln/>
        </p:spPr>
        <p:txBody>
          <a:bodyPr wrap="square" lIns="0" tIns="0" rIns="0" bIns="0" rtlCol="0" anchor="ctr"/>
          <a:lstStyle/>
          <a:p>
            <a:pPr algn="ctr" indent="0" marL="0">
              <a:buNone/>
            </a:pPr>
            <a:r>
              <a:rPr lang="en-US" sz="1150" dirty="0">
                <a:solidFill>
                  <a:srgbClr val="1F2733"/>
                </a:solidFill>
                <a:latin typeface="Arial" pitchFamily="34" charset="0"/>
                <a:ea typeface="Arial" pitchFamily="34" charset="-122"/>
                <a:cs typeface="Arial" pitchFamily="34" charset="-120"/>
              </a:rPr>
              <a:t>Comparación estructurada</a:t>
            </a:r>
            <a:endParaRPr lang="en-US" sz="1150" dirty="0"/>
          </a:p>
        </p:txBody>
      </p:sp>
      <p:sp>
        <p:nvSpPr>
          <p:cNvPr id="11" name="Text 9"/>
          <p:cNvSpPr/>
          <p:nvPr/>
        </p:nvSpPr>
        <p:spPr>
          <a:xfrm>
            <a:off x="4809744" y="2971800"/>
            <a:ext cx="365760" cy="548640"/>
          </a:xfrm>
          <a:prstGeom prst="rect">
            <a:avLst/>
          </a:prstGeom>
          <a:noFill/>
          <a:ln/>
        </p:spPr>
        <p:txBody>
          <a:bodyPr wrap="square" lIns="0" tIns="0" rIns="0" bIns="0" rtlCol="0" anchor="ctr"/>
          <a:lstStyle/>
          <a:p>
            <a:pPr algn="ctr" indent="0" marL="0">
              <a:buNone/>
            </a:pPr>
            <a:r>
              <a:rPr lang="en-US" sz="3000" b="1" dirty="0">
                <a:solidFill>
                  <a:srgbClr val="7A1420"/>
                </a:solidFill>
                <a:latin typeface="Arial" pitchFamily="34" charset="0"/>
                <a:ea typeface="Arial" pitchFamily="34" charset="-122"/>
                <a:cs typeface="Arial" pitchFamily="34" charset="-120"/>
              </a:rPr>
              <a:t>→</a:t>
            </a:r>
            <a:endParaRPr lang="en-US" sz="3000" dirty="0"/>
          </a:p>
        </p:txBody>
      </p:sp>
      <p:sp>
        <p:nvSpPr>
          <p:cNvPr id="12" name="Shape 10"/>
          <p:cNvSpPr/>
          <p:nvPr/>
        </p:nvSpPr>
        <p:spPr>
          <a:xfrm>
            <a:off x="5157216" y="2377440"/>
            <a:ext cx="2011680" cy="1737360"/>
          </a:xfrm>
          <a:prstGeom prst="roundRect">
            <a:avLst>
              <a:gd name="adj" fmla="val 4737"/>
            </a:avLst>
          </a:prstGeom>
          <a:solidFill>
            <a:srgbClr val="EDEFF2"/>
          </a:solidFill>
          <a:ln/>
          <a:effectLst>
            <a:outerShdw sx="100000" sy="100000" kx="0" ky="0" algn="bl" rotWithShape="0" blurRad="76200" dist="25400" dir="5400000">
              <a:srgbClr val="9AA0A6">
                <a:alpha val="35000"/>
              </a:srgbClr>
            </a:outerShdw>
          </a:effectLst>
        </p:spPr>
      </p:sp>
      <p:sp>
        <p:nvSpPr>
          <p:cNvPr id="13" name="Text 11"/>
          <p:cNvSpPr/>
          <p:nvPr/>
        </p:nvSpPr>
        <p:spPr>
          <a:xfrm>
            <a:off x="5294376" y="2606040"/>
            <a:ext cx="1737360" cy="822960"/>
          </a:xfrm>
          <a:prstGeom prst="rect">
            <a:avLst/>
          </a:prstGeom>
          <a:noFill/>
          <a:ln/>
        </p:spPr>
        <p:txBody>
          <a:bodyPr wrap="square" lIns="0" tIns="0" rIns="0" bIns="0" rtlCol="0" anchor="ctr"/>
          <a:lstStyle/>
          <a:p>
            <a:pPr algn="ctr" indent="0" marL="0">
              <a:buNone/>
            </a:pPr>
            <a:r>
              <a:rPr lang="en-US" sz="1450" b="1" dirty="0">
                <a:solidFill>
                  <a:srgbClr val="13294B"/>
                </a:solidFill>
                <a:latin typeface="Arial" pitchFamily="34" charset="0"/>
                <a:ea typeface="Arial" pitchFamily="34" charset="-122"/>
                <a:cs typeface="Arial" pitchFamily="34" charset="-120"/>
              </a:rPr>
              <a:t>Estado del arte</a:t>
            </a:r>
            <a:endParaRPr lang="en-US" sz="1450" dirty="0"/>
          </a:p>
        </p:txBody>
      </p:sp>
      <p:sp>
        <p:nvSpPr>
          <p:cNvPr id="14" name="Text 12"/>
          <p:cNvSpPr/>
          <p:nvPr/>
        </p:nvSpPr>
        <p:spPr>
          <a:xfrm>
            <a:off x="5294376" y="3383280"/>
            <a:ext cx="1737360" cy="640080"/>
          </a:xfrm>
          <a:prstGeom prst="rect">
            <a:avLst/>
          </a:prstGeom>
          <a:noFill/>
          <a:ln/>
        </p:spPr>
        <p:txBody>
          <a:bodyPr wrap="square" lIns="0" tIns="0" rIns="0" bIns="0" rtlCol="0" anchor="ctr"/>
          <a:lstStyle/>
          <a:p>
            <a:pPr algn="ctr" indent="0" marL="0">
              <a:buNone/>
            </a:pPr>
            <a:r>
              <a:rPr lang="en-US" sz="1150" dirty="0">
                <a:solidFill>
                  <a:srgbClr val="1F2733"/>
                </a:solidFill>
                <a:latin typeface="Arial" pitchFamily="34" charset="0"/>
                <a:ea typeface="Arial" pitchFamily="34" charset="-122"/>
                <a:cs typeface="Arial" pitchFamily="34" charset="-120"/>
              </a:rPr>
              <a:t>Síntesis + tendencias</a:t>
            </a:r>
            <a:endParaRPr lang="en-US" sz="1150" dirty="0"/>
          </a:p>
        </p:txBody>
      </p:sp>
      <p:sp>
        <p:nvSpPr>
          <p:cNvPr id="15" name="Text 13"/>
          <p:cNvSpPr/>
          <p:nvPr/>
        </p:nvSpPr>
        <p:spPr>
          <a:xfrm>
            <a:off x="7114032" y="2971800"/>
            <a:ext cx="365760" cy="548640"/>
          </a:xfrm>
          <a:prstGeom prst="rect">
            <a:avLst/>
          </a:prstGeom>
          <a:noFill/>
          <a:ln/>
        </p:spPr>
        <p:txBody>
          <a:bodyPr wrap="square" lIns="0" tIns="0" rIns="0" bIns="0" rtlCol="0" anchor="ctr"/>
          <a:lstStyle/>
          <a:p>
            <a:pPr algn="ctr" indent="0" marL="0">
              <a:buNone/>
            </a:pPr>
            <a:r>
              <a:rPr lang="en-US" sz="3000" b="1" dirty="0">
                <a:solidFill>
                  <a:srgbClr val="7A1420"/>
                </a:solidFill>
                <a:latin typeface="Arial" pitchFamily="34" charset="0"/>
                <a:ea typeface="Arial" pitchFamily="34" charset="-122"/>
                <a:cs typeface="Arial" pitchFamily="34" charset="-120"/>
              </a:rPr>
              <a:t>→</a:t>
            </a:r>
            <a:endParaRPr lang="en-US" sz="3000" dirty="0"/>
          </a:p>
        </p:txBody>
      </p:sp>
      <p:sp>
        <p:nvSpPr>
          <p:cNvPr id="16" name="Shape 14"/>
          <p:cNvSpPr/>
          <p:nvPr/>
        </p:nvSpPr>
        <p:spPr>
          <a:xfrm>
            <a:off x="7461504" y="2377440"/>
            <a:ext cx="2011680" cy="1737360"/>
          </a:xfrm>
          <a:prstGeom prst="roundRect">
            <a:avLst>
              <a:gd name="adj" fmla="val 4737"/>
            </a:avLst>
          </a:prstGeom>
          <a:solidFill>
            <a:srgbClr val="EDEFF2"/>
          </a:solidFill>
          <a:ln/>
          <a:effectLst>
            <a:outerShdw sx="100000" sy="100000" kx="0" ky="0" algn="bl" rotWithShape="0" blurRad="76200" dist="25400" dir="5400000">
              <a:srgbClr val="9AA0A6">
                <a:alpha val="35000"/>
              </a:srgbClr>
            </a:outerShdw>
          </a:effectLst>
        </p:spPr>
      </p:sp>
      <p:sp>
        <p:nvSpPr>
          <p:cNvPr id="17" name="Text 15"/>
          <p:cNvSpPr/>
          <p:nvPr/>
        </p:nvSpPr>
        <p:spPr>
          <a:xfrm>
            <a:off x="7598664" y="2606040"/>
            <a:ext cx="1737360" cy="822960"/>
          </a:xfrm>
          <a:prstGeom prst="rect">
            <a:avLst/>
          </a:prstGeom>
          <a:noFill/>
          <a:ln/>
        </p:spPr>
        <p:txBody>
          <a:bodyPr wrap="square" lIns="0" tIns="0" rIns="0" bIns="0" rtlCol="0" anchor="ctr"/>
          <a:lstStyle/>
          <a:p>
            <a:pPr algn="ctr" indent="0" marL="0">
              <a:buNone/>
            </a:pPr>
            <a:r>
              <a:rPr lang="en-US" sz="1450" b="1" dirty="0">
                <a:solidFill>
                  <a:srgbClr val="13294B"/>
                </a:solidFill>
                <a:latin typeface="Arial" pitchFamily="34" charset="0"/>
                <a:ea typeface="Arial" pitchFamily="34" charset="-122"/>
                <a:cs typeface="Arial" pitchFamily="34" charset="-120"/>
              </a:rPr>
              <a:t>Vacío (gap)</a:t>
            </a:r>
            <a:endParaRPr lang="en-US" sz="1450" dirty="0"/>
          </a:p>
        </p:txBody>
      </p:sp>
      <p:sp>
        <p:nvSpPr>
          <p:cNvPr id="18" name="Text 16"/>
          <p:cNvSpPr/>
          <p:nvPr/>
        </p:nvSpPr>
        <p:spPr>
          <a:xfrm>
            <a:off x="7598664" y="3383280"/>
            <a:ext cx="1737360" cy="640080"/>
          </a:xfrm>
          <a:prstGeom prst="rect">
            <a:avLst/>
          </a:prstGeom>
          <a:noFill/>
          <a:ln/>
        </p:spPr>
        <p:txBody>
          <a:bodyPr wrap="square" lIns="0" tIns="0" rIns="0" bIns="0" rtlCol="0" anchor="ctr"/>
          <a:lstStyle/>
          <a:p>
            <a:pPr algn="ctr" indent="0" marL="0">
              <a:buNone/>
            </a:pPr>
            <a:r>
              <a:rPr lang="en-US" sz="1150" dirty="0">
                <a:solidFill>
                  <a:srgbClr val="1F2733"/>
                </a:solidFill>
                <a:latin typeface="Arial" pitchFamily="34" charset="0"/>
                <a:ea typeface="Arial" pitchFamily="34" charset="-122"/>
                <a:cs typeface="Arial" pitchFamily="34" charset="-120"/>
              </a:rPr>
              <a:t>Lo que falta</a:t>
            </a:r>
            <a:endParaRPr lang="en-US" sz="1150" dirty="0"/>
          </a:p>
        </p:txBody>
      </p:sp>
      <p:sp>
        <p:nvSpPr>
          <p:cNvPr id="19" name="Text 17"/>
          <p:cNvSpPr/>
          <p:nvPr/>
        </p:nvSpPr>
        <p:spPr>
          <a:xfrm>
            <a:off x="9418320" y="2971800"/>
            <a:ext cx="365760" cy="548640"/>
          </a:xfrm>
          <a:prstGeom prst="rect">
            <a:avLst/>
          </a:prstGeom>
          <a:noFill/>
          <a:ln/>
        </p:spPr>
        <p:txBody>
          <a:bodyPr wrap="square" lIns="0" tIns="0" rIns="0" bIns="0" rtlCol="0" anchor="ctr"/>
          <a:lstStyle/>
          <a:p>
            <a:pPr algn="ctr" indent="0" marL="0">
              <a:buNone/>
            </a:pPr>
            <a:r>
              <a:rPr lang="en-US" sz="3000" b="1" dirty="0">
                <a:solidFill>
                  <a:srgbClr val="7A1420"/>
                </a:solidFill>
                <a:latin typeface="Arial" pitchFamily="34" charset="0"/>
                <a:ea typeface="Arial" pitchFamily="34" charset="-122"/>
                <a:cs typeface="Arial" pitchFamily="34" charset="-120"/>
              </a:rPr>
              <a:t>→</a:t>
            </a:r>
            <a:endParaRPr lang="en-US" sz="3000" dirty="0"/>
          </a:p>
        </p:txBody>
      </p:sp>
      <p:sp>
        <p:nvSpPr>
          <p:cNvPr id="20" name="Shape 18"/>
          <p:cNvSpPr/>
          <p:nvPr/>
        </p:nvSpPr>
        <p:spPr>
          <a:xfrm>
            <a:off x="9765792" y="2377440"/>
            <a:ext cx="2011680" cy="1737360"/>
          </a:xfrm>
          <a:prstGeom prst="roundRect">
            <a:avLst>
              <a:gd name="adj" fmla="val 4737"/>
            </a:avLst>
          </a:prstGeom>
          <a:solidFill>
            <a:srgbClr val="F3E1E4"/>
          </a:solidFill>
          <a:ln/>
          <a:effectLst>
            <a:outerShdw sx="100000" sy="100000" kx="0" ky="0" algn="bl" rotWithShape="0" blurRad="76200" dist="25400" dir="5400000">
              <a:srgbClr val="9AA0A6">
                <a:alpha val="35000"/>
              </a:srgbClr>
            </a:outerShdw>
          </a:effectLst>
        </p:spPr>
      </p:sp>
      <p:sp>
        <p:nvSpPr>
          <p:cNvPr id="21" name="Text 19"/>
          <p:cNvSpPr/>
          <p:nvPr/>
        </p:nvSpPr>
        <p:spPr>
          <a:xfrm>
            <a:off x="9902952" y="2606040"/>
            <a:ext cx="1737360" cy="822960"/>
          </a:xfrm>
          <a:prstGeom prst="rect">
            <a:avLst/>
          </a:prstGeom>
          <a:noFill/>
          <a:ln/>
        </p:spPr>
        <p:txBody>
          <a:bodyPr wrap="square" lIns="0" tIns="0" rIns="0" bIns="0" rtlCol="0" anchor="ctr"/>
          <a:lstStyle/>
          <a:p>
            <a:pPr algn="ctr" indent="0" marL="0">
              <a:buNone/>
            </a:pPr>
            <a:r>
              <a:rPr lang="en-US" sz="1450" b="1" dirty="0">
                <a:solidFill>
                  <a:srgbClr val="7A1420"/>
                </a:solidFill>
                <a:latin typeface="Arial" pitchFamily="34" charset="0"/>
                <a:ea typeface="Arial" pitchFamily="34" charset="-122"/>
                <a:cs typeface="Arial" pitchFamily="34" charset="-120"/>
              </a:rPr>
              <a:t>Justificación</a:t>
            </a:r>
            <a:endParaRPr lang="en-US" sz="1450" dirty="0"/>
          </a:p>
        </p:txBody>
      </p:sp>
      <p:sp>
        <p:nvSpPr>
          <p:cNvPr id="22" name="Text 20"/>
          <p:cNvSpPr/>
          <p:nvPr/>
        </p:nvSpPr>
        <p:spPr>
          <a:xfrm>
            <a:off x="9902952" y="3383280"/>
            <a:ext cx="1737360" cy="640080"/>
          </a:xfrm>
          <a:prstGeom prst="rect">
            <a:avLst/>
          </a:prstGeom>
          <a:noFill/>
          <a:ln/>
        </p:spPr>
        <p:txBody>
          <a:bodyPr wrap="square" lIns="0" tIns="0" rIns="0" bIns="0" rtlCol="0" anchor="ctr"/>
          <a:lstStyle/>
          <a:p>
            <a:pPr algn="ctr" indent="0" marL="0">
              <a:buNone/>
            </a:pPr>
            <a:r>
              <a:rPr lang="en-US" sz="1150" dirty="0">
                <a:solidFill>
                  <a:srgbClr val="1F2733"/>
                </a:solidFill>
                <a:latin typeface="Arial" pitchFamily="34" charset="0"/>
                <a:ea typeface="Arial" pitchFamily="34" charset="-122"/>
                <a:cs typeface="Arial" pitchFamily="34" charset="-120"/>
              </a:rPr>
              <a:t>Por qué tu tesis</a:t>
            </a:r>
            <a:endParaRPr lang="en-US" sz="1150" dirty="0"/>
          </a:p>
        </p:txBody>
      </p:sp>
      <p:sp>
        <p:nvSpPr>
          <p:cNvPr id="23" name="Shape 21"/>
          <p:cNvSpPr/>
          <p:nvPr/>
        </p:nvSpPr>
        <p:spPr>
          <a:xfrm>
            <a:off x="548640" y="4846320"/>
            <a:ext cx="10972800" cy="1188720"/>
          </a:xfrm>
          <a:prstGeom prst="roundRect">
            <a:avLst>
              <a:gd name="adj" fmla="val 6923"/>
            </a:avLst>
          </a:prstGeom>
          <a:solidFill>
            <a:srgbClr val="13294B"/>
          </a:solidFill>
          <a:ln/>
        </p:spPr>
      </p:sp>
      <p:sp>
        <p:nvSpPr>
          <p:cNvPr id="24" name="Text 22"/>
          <p:cNvSpPr/>
          <p:nvPr/>
        </p:nvSpPr>
        <p:spPr>
          <a:xfrm>
            <a:off x="914400" y="4846320"/>
            <a:ext cx="10241280" cy="1188720"/>
          </a:xfrm>
          <a:prstGeom prst="rect">
            <a:avLst/>
          </a:prstGeom>
          <a:noFill/>
          <a:ln/>
        </p:spPr>
        <p:txBody>
          <a:bodyPr wrap="square" lIns="0" tIns="0" rIns="0" bIns="0" rtlCol="0" anchor="ctr"/>
          <a:lstStyle/>
          <a:p>
            <a:pPr indent="0" marL="0">
              <a:lnSpc>
                <a:spcPct val="110000"/>
              </a:lnSpc>
              <a:buNone/>
            </a:pPr>
            <a:r>
              <a:rPr lang="en-US" sz="1700" b="1" dirty="0">
                <a:solidFill>
                  <a:srgbClr val="FFFFFF"/>
                </a:solidFill>
                <a:latin typeface="Arial" pitchFamily="34" charset="0"/>
                <a:ea typeface="Arial" pitchFamily="34" charset="-122"/>
                <a:cs typeface="Arial" pitchFamily="34" charset="-120"/>
              </a:rPr>
              <a:t>Esta cadena es, literalmente, el hilo argumental de tu Capítulo I y II. La revisión no es un requisito: es el motor de tu problema de investigación.</a:t>
            </a:r>
            <a:endParaRPr lang="en-US" sz="170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26" name="Text 24"/>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G · CALIDAD</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No toda revista pesa igual</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62–72 min</a:t>
            </a:r>
            <a:endParaRPr lang="en-US" sz="1200" dirty="0"/>
          </a:p>
        </p:txBody>
      </p:sp>
      <p:sp>
        <p:nvSpPr>
          <p:cNvPr id="6" name="Shape 4"/>
          <p:cNvSpPr/>
          <p:nvPr/>
        </p:nvSpPr>
        <p:spPr>
          <a:xfrm>
            <a:off x="548640" y="1828800"/>
            <a:ext cx="7680960" cy="786384"/>
          </a:xfrm>
          <a:prstGeom prst="roundRect">
            <a:avLst>
              <a:gd name="adj" fmla="val 10465"/>
            </a:avLst>
          </a:prstGeom>
          <a:solidFill>
            <a:srgbClr val="EDEFF2"/>
          </a:solidFill>
          <a:ln/>
        </p:spPr>
      </p:sp>
      <p:sp>
        <p:nvSpPr>
          <p:cNvPr id="7" name="Shape 5"/>
          <p:cNvSpPr/>
          <p:nvPr/>
        </p:nvSpPr>
        <p:spPr>
          <a:xfrm>
            <a:off x="731520" y="1947672"/>
            <a:ext cx="914400" cy="548640"/>
          </a:xfrm>
          <a:prstGeom prst="roundRect">
            <a:avLst>
              <a:gd name="adj" fmla="val 13333"/>
            </a:avLst>
          </a:prstGeom>
          <a:solidFill>
            <a:srgbClr val="2E7D32"/>
          </a:solidFill>
          <a:ln/>
        </p:spPr>
      </p:sp>
      <p:sp>
        <p:nvSpPr>
          <p:cNvPr id="8" name="Text 6"/>
          <p:cNvSpPr/>
          <p:nvPr/>
        </p:nvSpPr>
        <p:spPr>
          <a:xfrm>
            <a:off x="731520" y="1947672"/>
            <a:ext cx="9144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Q1</a:t>
            </a:r>
            <a:endParaRPr lang="en-US" sz="1800" dirty="0"/>
          </a:p>
        </p:txBody>
      </p:sp>
      <p:sp>
        <p:nvSpPr>
          <p:cNvPr id="9" name="Text 7"/>
          <p:cNvSpPr/>
          <p:nvPr/>
        </p:nvSpPr>
        <p:spPr>
          <a:xfrm>
            <a:off x="1828800" y="1828800"/>
            <a:ext cx="630936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Top 25% de su área — máxima calidad</a:t>
            </a:r>
            <a:endParaRPr lang="en-US" sz="1500" dirty="0"/>
          </a:p>
        </p:txBody>
      </p:sp>
      <p:sp>
        <p:nvSpPr>
          <p:cNvPr id="10" name="Shape 8"/>
          <p:cNvSpPr/>
          <p:nvPr/>
        </p:nvSpPr>
        <p:spPr>
          <a:xfrm>
            <a:off x="548640" y="2706624"/>
            <a:ext cx="7680960" cy="786384"/>
          </a:xfrm>
          <a:prstGeom prst="roundRect">
            <a:avLst>
              <a:gd name="adj" fmla="val 10465"/>
            </a:avLst>
          </a:prstGeom>
          <a:solidFill>
            <a:srgbClr val="EDEFF2"/>
          </a:solidFill>
          <a:ln/>
        </p:spPr>
      </p:sp>
      <p:sp>
        <p:nvSpPr>
          <p:cNvPr id="11" name="Shape 9"/>
          <p:cNvSpPr/>
          <p:nvPr/>
        </p:nvSpPr>
        <p:spPr>
          <a:xfrm>
            <a:off x="731520" y="2825496"/>
            <a:ext cx="914400" cy="548640"/>
          </a:xfrm>
          <a:prstGeom prst="roundRect">
            <a:avLst>
              <a:gd name="adj" fmla="val 13333"/>
            </a:avLst>
          </a:prstGeom>
          <a:solidFill>
            <a:srgbClr val="13294B"/>
          </a:solidFill>
          <a:ln/>
        </p:spPr>
      </p:sp>
      <p:sp>
        <p:nvSpPr>
          <p:cNvPr id="12" name="Text 10"/>
          <p:cNvSpPr/>
          <p:nvPr/>
        </p:nvSpPr>
        <p:spPr>
          <a:xfrm>
            <a:off x="731520" y="2825496"/>
            <a:ext cx="9144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Q2</a:t>
            </a:r>
            <a:endParaRPr lang="en-US" sz="1800" dirty="0"/>
          </a:p>
        </p:txBody>
      </p:sp>
      <p:sp>
        <p:nvSpPr>
          <p:cNvPr id="13" name="Text 11"/>
          <p:cNvSpPr/>
          <p:nvPr/>
        </p:nvSpPr>
        <p:spPr>
          <a:xfrm>
            <a:off x="1828800" y="2706624"/>
            <a:ext cx="630936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25–50% — alta calidad</a:t>
            </a:r>
            <a:endParaRPr lang="en-US" sz="1500" dirty="0"/>
          </a:p>
        </p:txBody>
      </p:sp>
      <p:sp>
        <p:nvSpPr>
          <p:cNvPr id="14" name="Shape 12"/>
          <p:cNvSpPr/>
          <p:nvPr/>
        </p:nvSpPr>
        <p:spPr>
          <a:xfrm>
            <a:off x="548640" y="3584448"/>
            <a:ext cx="7680960" cy="786384"/>
          </a:xfrm>
          <a:prstGeom prst="roundRect">
            <a:avLst>
              <a:gd name="adj" fmla="val 10465"/>
            </a:avLst>
          </a:prstGeom>
          <a:solidFill>
            <a:srgbClr val="EDEFF2"/>
          </a:solidFill>
          <a:ln/>
        </p:spPr>
      </p:sp>
      <p:sp>
        <p:nvSpPr>
          <p:cNvPr id="15" name="Shape 13"/>
          <p:cNvSpPr/>
          <p:nvPr/>
        </p:nvSpPr>
        <p:spPr>
          <a:xfrm>
            <a:off x="731520" y="3703320"/>
            <a:ext cx="914400" cy="548640"/>
          </a:xfrm>
          <a:prstGeom prst="roundRect">
            <a:avLst>
              <a:gd name="adj" fmla="val 13333"/>
            </a:avLst>
          </a:prstGeom>
          <a:solidFill>
            <a:srgbClr val="C88A00"/>
          </a:solidFill>
          <a:ln/>
        </p:spPr>
      </p:sp>
      <p:sp>
        <p:nvSpPr>
          <p:cNvPr id="16" name="Text 14"/>
          <p:cNvSpPr/>
          <p:nvPr/>
        </p:nvSpPr>
        <p:spPr>
          <a:xfrm>
            <a:off x="731520" y="3703320"/>
            <a:ext cx="9144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Q3</a:t>
            </a:r>
            <a:endParaRPr lang="en-US" sz="1800" dirty="0"/>
          </a:p>
        </p:txBody>
      </p:sp>
      <p:sp>
        <p:nvSpPr>
          <p:cNvPr id="17" name="Text 15"/>
          <p:cNvSpPr/>
          <p:nvPr/>
        </p:nvSpPr>
        <p:spPr>
          <a:xfrm>
            <a:off x="1828800" y="3584448"/>
            <a:ext cx="630936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50–75% — calidad media</a:t>
            </a:r>
            <a:endParaRPr lang="en-US" sz="1500" dirty="0"/>
          </a:p>
        </p:txBody>
      </p:sp>
      <p:sp>
        <p:nvSpPr>
          <p:cNvPr id="18" name="Shape 16"/>
          <p:cNvSpPr/>
          <p:nvPr/>
        </p:nvSpPr>
        <p:spPr>
          <a:xfrm>
            <a:off x="548640" y="4462272"/>
            <a:ext cx="7680960" cy="786384"/>
          </a:xfrm>
          <a:prstGeom prst="roundRect">
            <a:avLst>
              <a:gd name="adj" fmla="val 10465"/>
            </a:avLst>
          </a:prstGeom>
          <a:solidFill>
            <a:srgbClr val="EDEFF2"/>
          </a:solidFill>
          <a:ln/>
        </p:spPr>
      </p:sp>
      <p:sp>
        <p:nvSpPr>
          <p:cNvPr id="19" name="Shape 17"/>
          <p:cNvSpPr/>
          <p:nvPr/>
        </p:nvSpPr>
        <p:spPr>
          <a:xfrm>
            <a:off x="731520" y="4581144"/>
            <a:ext cx="914400" cy="548640"/>
          </a:xfrm>
          <a:prstGeom prst="roundRect">
            <a:avLst>
              <a:gd name="adj" fmla="val 13333"/>
            </a:avLst>
          </a:prstGeom>
          <a:solidFill>
            <a:srgbClr val="6B7280"/>
          </a:solidFill>
          <a:ln/>
        </p:spPr>
      </p:sp>
      <p:sp>
        <p:nvSpPr>
          <p:cNvPr id="20" name="Text 18"/>
          <p:cNvSpPr/>
          <p:nvPr/>
        </p:nvSpPr>
        <p:spPr>
          <a:xfrm>
            <a:off x="731520" y="4581144"/>
            <a:ext cx="91440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Q4</a:t>
            </a:r>
            <a:endParaRPr lang="en-US" sz="1800" dirty="0"/>
          </a:p>
        </p:txBody>
      </p:sp>
      <p:sp>
        <p:nvSpPr>
          <p:cNvPr id="21" name="Text 19"/>
          <p:cNvSpPr/>
          <p:nvPr/>
        </p:nvSpPr>
        <p:spPr>
          <a:xfrm>
            <a:off x="1828800" y="4462272"/>
            <a:ext cx="6309360" cy="786384"/>
          </a:xfrm>
          <a:prstGeom prst="rect">
            <a:avLst/>
          </a:prstGeom>
          <a:noFill/>
          <a:ln/>
        </p:spPr>
        <p:txBody>
          <a:bodyPr wrap="square" lIns="0" tIns="0" rIns="0" bIns="0" rtlCol="0" anchor="ctr"/>
          <a:lstStyle/>
          <a:p>
            <a:pPr indent="0" marL="0">
              <a:buNone/>
            </a:pPr>
            <a:r>
              <a:rPr lang="en-US" sz="1500" dirty="0">
                <a:solidFill>
                  <a:srgbClr val="1F2733"/>
                </a:solidFill>
                <a:latin typeface="Arial" pitchFamily="34" charset="0"/>
                <a:ea typeface="Arial" pitchFamily="34" charset="-122"/>
                <a:cs typeface="Arial" pitchFamily="34" charset="-120"/>
              </a:rPr>
              <a:t>75–100% — usar con cautela</a:t>
            </a:r>
            <a:endParaRPr lang="en-US" sz="1500" dirty="0"/>
          </a:p>
        </p:txBody>
      </p:sp>
      <p:sp>
        <p:nvSpPr>
          <p:cNvPr id="22" name="Shape 20"/>
          <p:cNvSpPr/>
          <p:nvPr/>
        </p:nvSpPr>
        <p:spPr>
          <a:xfrm>
            <a:off x="8412480" y="1828800"/>
            <a:ext cx="3108960" cy="3364992"/>
          </a:xfrm>
          <a:prstGeom prst="roundRect">
            <a:avLst>
              <a:gd name="adj" fmla="val 2647"/>
            </a:avLst>
          </a:prstGeom>
          <a:solidFill>
            <a:srgbClr val="13294B"/>
          </a:solidFill>
          <a:ln/>
        </p:spPr>
      </p:sp>
      <p:sp>
        <p:nvSpPr>
          <p:cNvPr id="23" name="Text 21"/>
          <p:cNvSpPr/>
          <p:nvPr/>
        </p:nvSpPr>
        <p:spPr>
          <a:xfrm>
            <a:off x="8641080" y="2011680"/>
            <a:ext cx="2651760" cy="365760"/>
          </a:xfrm>
          <a:prstGeom prst="rect">
            <a:avLst/>
          </a:prstGeom>
          <a:noFill/>
          <a:ln/>
        </p:spPr>
        <p:txBody>
          <a:bodyPr wrap="square" lIns="0" tIns="0" rIns="0" bIns="0" rtlCol="0" anchor="ctr"/>
          <a:lstStyle/>
          <a:p>
            <a:pPr indent="0" marL="0">
              <a:buNone/>
            </a:pPr>
            <a:r>
              <a:rPr lang="en-US" sz="1500" b="1" dirty="0">
                <a:solidFill>
                  <a:srgbClr val="9FB4D0"/>
                </a:solidFill>
                <a:latin typeface="Arial" pitchFamily="34" charset="0"/>
                <a:ea typeface="Arial" pitchFamily="34" charset="-122"/>
                <a:cs typeface="Arial" pitchFamily="34" charset="-120"/>
              </a:rPr>
              <a:t>Dónde mirar</a:t>
            </a:r>
            <a:endParaRPr lang="en-US" sz="1500" dirty="0"/>
          </a:p>
        </p:txBody>
      </p:sp>
      <p:sp>
        <p:nvSpPr>
          <p:cNvPr id="24" name="Text 22"/>
          <p:cNvSpPr/>
          <p:nvPr/>
        </p:nvSpPr>
        <p:spPr>
          <a:xfrm>
            <a:off x="8641080" y="2423160"/>
            <a:ext cx="2697480" cy="2743200"/>
          </a:xfrm>
          <a:prstGeom prst="rect">
            <a:avLst/>
          </a:prstGeom>
          <a:noFill/>
          <a:ln/>
        </p:spPr>
        <p:txBody>
          <a:bodyPr wrap="square" lIns="0" tIns="0" rIns="0" bIns="0" rtlCol="0" anchor="ctr"/>
          <a:lstStyle/>
          <a:p>
            <a:pPr indent="0" marL="0">
              <a:lnSpc>
                <a:spcPct val="115000"/>
              </a:lnSpc>
              <a:buNone/>
            </a:pPr>
            <a:r>
              <a:rPr lang="en-US" sz="1350" dirty="0">
                <a:solidFill>
                  <a:srgbClr val="FFFFFF"/>
                </a:solidFill>
                <a:latin typeface="Arial" pitchFamily="34" charset="0"/>
                <a:ea typeface="Arial" pitchFamily="34" charset="-122"/>
                <a:cs typeface="Arial" pitchFamily="34" charset="-120"/>
              </a:rPr>
              <a:t>Cuartil SJR: Scimago (scimagojr.com).</a:t>
            </a:r>
            <a:endParaRPr lang="en-US" sz="1350" dirty="0"/>
          </a:p>
          <a:p>
            <a:pPr indent="0" marL="0">
              <a:lnSpc>
                <a:spcPct val="115000"/>
              </a:lnSpc>
              <a:buNone/>
            </a:pPr>
            <a:endParaRPr lang="en-US" sz="1350" dirty="0"/>
          </a:p>
          <a:p>
            <a:pPr indent="0" marL="0">
              <a:lnSpc>
                <a:spcPct val="115000"/>
              </a:lnSpc>
              <a:buNone/>
            </a:pPr>
            <a:r>
              <a:rPr lang="en-US" sz="1350" dirty="0">
                <a:solidFill>
                  <a:srgbClr val="FFFFFF"/>
                </a:solidFill>
                <a:latin typeface="Arial" pitchFamily="34" charset="0"/>
                <a:ea typeface="Arial" pitchFamily="34" charset="-122"/>
                <a:cs typeface="Arial" pitchFamily="34" charset="-120"/>
              </a:rPr>
              <a:t>JCR / factor de impacto: Web of Science.</a:t>
            </a:r>
            <a:endParaRPr lang="en-US" sz="1350" dirty="0"/>
          </a:p>
          <a:p>
            <a:pPr indent="0" marL="0">
              <a:lnSpc>
                <a:spcPct val="115000"/>
              </a:lnSpc>
              <a:buNone/>
            </a:pPr>
            <a:endParaRPr lang="en-US" sz="1350" dirty="0"/>
          </a:p>
          <a:p>
            <a:pPr indent="0" marL="0">
              <a:lnSpc>
                <a:spcPct val="115000"/>
              </a:lnSpc>
              <a:buNone/>
            </a:pPr>
            <a:r>
              <a:rPr lang="en-US" sz="1350" dirty="0">
                <a:solidFill>
                  <a:srgbClr val="FFFFFF"/>
                </a:solidFill>
                <a:latin typeface="Arial" pitchFamily="34" charset="0"/>
                <a:ea typeface="Arial" pitchFamily="34" charset="-122"/>
                <a:cs typeface="Arial" pitchFamily="34" charset="-120"/>
              </a:rPr>
              <a:t>Prioriza Q1–Q2 para tus antecedentes.</a:t>
            </a:r>
            <a:endParaRPr lang="en-US" sz="1350" dirty="0"/>
          </a:p>
        </p:txBody>
      </p:sp>
      <p:sp>
        <p:nvSpPr>
          <p:cNvPr id="25" name="Text 2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26" name="Text 24"/>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23</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BLOQUE G · INTEGRIDAD</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Trampas que arruinan una revisión</a:t>
            </a:r>
            <a:endParaRPr lang="en-US" sz="3000" dirty="0"/>
          </a:p>
        </p:txBody>
      </p:sp>
      <p:sp>
        <p:nvSpPr>
          <p:cNvPr id="4" name="Shape 2"/>
          <p:cNvSpPr/>
          <p:nvPr/>
        </p:nvSpPr>
        <p:spPr>
          <a:xfrm>
            <a:off x="548640" y="1828800"/>
            <a:ext cx="5440680" cy="4023360"/>
          </a:xfrm>
          <a:prstGeom prst="roundRect">
            <a:avLst>
              <a:gd name="adj" fmla="val 2045"/>
            </a:avLst>
          </a:prstGeom>
          <a:solidFill>
            <a:srgbClr val="F7E4E3"/>
          </a:solidFill>
          <a:ln/>
          <a:effectLst>
            <a:outerShdw sx="100000" sy="100000" kx="0" ky="0" algn="bl" rotWithShape="0" blurRad="76200" dist="25400" dir="5400000">
              <a:srgbClr val="9AA0A6">
                <a:alpha val="35000"/>
              </a:srgbClr>
            </a:outerShdw>
          </a:effectLst>
        </p:spPr>
      </p:sp>
      <p:sp>
        <p:nvSpPr>
          <p:cNvPr id="5" name="Text 3"/>
          <p:cNvSpPr/>
          <p:nvPr/>
        </p:nvSpPr>
        <p:spPr>
          <a:xfrm>
            <a:off x="868680" y="2057400"/>
            <a:ext cx="4846320" cy="411480"/>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Revistas depredadoras</a:t>
            </a:r>
            <a:endParaRPr lang="en-US" sz="1700" dirty="0"/>
          </a:p>
        </p:txBody>
      </p:sp>
      <p:sp>
        <p:nvSpPr>
          <p:cNvPr id="6" name="Text 4"/>
          <p:cNvSpPr/>
          <p:nvPr/>
        </p:nvSpPr>
        <p:spPr>
          <a:xfrm>
            <a:off x="868680" y="2560320"/>
            <a:ext cx="4937760" cy="3108960"/>
          </a:xfrm>
          <a:prstGeom prst="rect">
            <a:avLst/>
          </a:prstGeom>
          <a:noFill/>
          <a:ln/>
        </p:spPr>
        <p:txBody>
          <a:bodyPr wrap="square" lIns="0" tIns="0" rIns="0" bIns="0" rtlCol="0" anchor="ctr"/>
          <a:lstStyle/>
          <a:p>
            <a:pPr marL="203200" indent="-203200">
              <a:lnSpc>
                <a:spcPct val="140000"/>
              </a:lnSpc>
              <a:buSzPct val="100000"/>
              <a:buChar char="✗"/>
            </a:pPr>
            <a:r>
              <a:rPr lang="en-US" sz="1450" dirty="0">
                <a:solidFill>
                  <a:srgbClr val="1F2733"/>
                </a:solidFill>
                <a:latin typeface="Arial" pitchFamily="34" charset="0"/>
                <a:ea typeface="Arial" pitchFamily="34" charset="-122"/>
                <a:cs typeface="Arial" pitchFamily="34" charset="-120"/>
              </a:rPr>
              <a:t>Cobran por publicar sin revisión seria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Prometen publicación en días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No indexadas en Scopus/WoS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Correos masivos invitando a publicar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Verifica en el índice, no en su web</a:t>
            </a:r>
            <a:endParaRPr lang="en-US" sz="1450" dirty="0"/>
          </a:p>
        </p:txBody>
      </p:sp>
      <p:sp>
        <p:nvSpPr>
          <p:cNvPr id="7" name="Shape 5"/>
          <p:cNvSpPr/>
          <p:nvPr/>
        </p:nvSpPr>
        <p:spPr>
          <a:xfrm>
            <a:off x="6172200" y="1828800"/>
            <a:ext cx="5440680" cy="4023360"/>
          </a:xfrm>
          <a:prstGeom prst="roundRect">
            <a:avLst>
              <a:gd name="adj" fmla="val 2045"/>
            </a:avLst>
          </a:prstGeom>
          <a:solidFill>
            <a:srgbClr val="FBF3E0"/>
          </a:solidFill>
          <a:ln/>
          <a:effectLst>
            <a:outerShdw sx="100000" sy="100000" kx="0" ky="0" algn="bl" rotWithShape="0" blurRad="76200" dist="25400" dir="5400000">
              <a:srgbClr val="9AA0A6">
                <a:alpha val="35000"/>
              </a:srgbClr>
            </a:outerShdw>
          </a:effectLst>
        </p:spPr>
      </p:sp>
      <p:sp>
        <p:nvSpPr>
          <p:cNvPr id="8" name="Text 6"/>
          <p:cNvSpPr/>
          <p:nvPr/>
        </p:nvSpPr>
        <p:spPr>
          <a:xfrm>
            <a:off x="6492240" y="2057400"/>
            <a:ext cx="4846320" cy="411480"/>
          </a:xfrm>
          <a:prstGeom prst="rect">
            <a:avLst/>
          </a:prstGeom>
          <a:noFill/>
          <a:ln/>
        </p:spPr>
        <p:txBody>
          <a:bodyPr wrap="square" lIns="0" tIns="0" rIns="0" bIns="0" rtlCol="0" anchor="ctr"/>
          <a:lstStyle/>
          <a:p>
            <a:pPr indent="0" marL="0">
              <a:buNone/>
            </a:pPr>
            <a:r>
              <a:rPr lang="en-US" sz="1700" b="1" dirty="0">
                <a:solidFill>
                  <a:srgbClr val="C88A00"/>
                </a:solidFill>
                <a:latin typeface="Arial" pitchFamily="34" charset="0"/>
                <a:ea typeface="Arial" pitchFamily="34" charset="-122"/>
                <a:cs typeface="Arial" pitchFamily="34" charset="-120"/>
              </a:rPr>
              <a:t>Artículos retractados</a:t>
            </a:r>
            <a:endParaRPr lang="en-US" sz="1700" dirty="0"/>
          </a:p>
        </p:txBody>
      </p:sp>
      <p:sp>
        <p:nvSpPr>
          <p:cNvPr id="9" name="Text 7"/>
          <p:cNvSpPr/>
          <p:nvPr/>
        </p:nvSpPr>
        <p:spPr>
          <a:xfrm>
            <a:off x="6492240" y="2560320"/>
            <a:ext cx="4937760" cy="3108960"/>
          </a:xfrm>
          <a:prstGeom prst="rect">
            <a:avLst/>
          </a:prstGeom>
          <a:noFill/>
          <a:ln/>
        </p:spPr>
        <p:txBody>
          <a:bodyPr wrap="square" lIns="0" tIns="0" rIns="0" bIns="0" rtlCol="0" anchor="ctr"/>
          <a:lstStyle/>
          <a:p>
            <a:pPr marL="203200" indent="-203200">
              <a:lnSpc>
                <a:spcPct val="140000"/>
              </a:lnSpc>
              <a:buSzPct val="100000"/>
              <a:buChar char="✗"/>
            </a:pPr>
            <a:r>
              <a:rPr lang="en-US" sz="1450" dirty="0">
                <a:solidFill>
                  <a:srgbClr val="1F2733"/>
                </a:solidFill>
                <a:latin typeface="Arial" pitchFamily="34" charset="0"/>
                <a:ea typeface="Arial" pitchFamily="34" charset="-122"/>
                <a:cs typeface="Arial" pitchFamily="34" charset="-120"/>
              </a:rPr>
              <a:t>Retirados por error o fraude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Siguen apareciendo en búsquedas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Revisa Retraction Watch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Verifica el estado del DOI
</a:t>
            </a:r>
            <a:pPr indent="0" marL="0">
              <a:lnSpc>
                <a:spcPct val="140000"/>
              </a:lnSpc>
              <a:buNone/>
            </a:pPr>
            <a:r>
              <a:rPr lang="en-US" sz="1450" dirty="0">
                <a:solidFill>
                  <a:srgbClr val="1F2733"/>
                </a:solidFill>
                <a:latin typeface="Arial" pitchFamily="34" charset="0"/>
                <a:ea typeface="Arial" pitchFamily="34" charset="-122"/>
                <a:cs typeface="Arial" pitchFamily="34" charset="-120"/>
              </a:rPr>
              <a:t>Nunca cites un paper retractado</a:t>
            </a:r>
            <a:endParaRPr lang="en-US" sz="1450" dirty="0"/>
          </a:p>
        </p:txBody>
      </p:sp>
      <p:sp>
        <p:nvSpPr>
          <p:cNvPr id="10" name="Text 8"/>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1" name="Text 9"/>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3294B"/>
        </a:solidFill>
      </p:bgPr>
    </p:bg>
    <p:spTree>
      <p:nvGrpSpPr>
        <p:cNvPr id="1" name=""/>
        <p:cNvGrpSpPr/>
        <p:nvPr/>
      </p:nvGrpSpPr>
      <p:grpSpPr>
        <a:xfrm>
          <a:off x="0" y="0"/>
          <a:ext cx="0" cy="0"/>
          <a:chOff x="0" y="0"/>
          <a:chExt cx="0" cy="0"/>
        </a:xfrm>
      </p:grpSpPr>
      <p:sp>
        <p:nvSpPr>
          <p:cNvPr id="2" name="Text 0"/>
          <p:cNvSpPr/>
          <p:nvPr/>
        </p:nvSpPr>
        <p:spPr>
          <a:xfrm>
            <a:off x="548640" y="502920"/>
            <a:ext cx="10058400" cy="320040"/>
          </a:xfrm>
          <a:prstGeom prst="rect">
            <a:avLst/>
          </a:prstGeom>
          <a:noFill/>
          <a:ln/>
        </p:spPr>
        <p:txBody>
          <a:bodyPr wrap="square" lIns="0" tIns="0" rIns="0" bIns="0" rtlCol="0" anchor="ctr"/>
          <a:lstStyle/>
          <a:p>
            <a:pPr indent="0" marL="0">
              <a:buNone/>
            </a:pPr>
            <a:r>
              <a:rPr lang="en-US" sz="1200" b="1" spc="200" kern="0" dirty="0">
                <a:solidFill>
                  <a:srgbClr val="9FB4D0"/>
                </a:solidFill>
                <a:latin typeface="Arial" pitchFamily="34" charset="0"/>
                <a:ea typeface="Arial" pitchFamily="34" charset="-122"/>
                <a:cs typeface="Arial" pitchFamily="34" charset="-120"/>
              </a:rPr>
              <a:t>USO RESPONSABLE DE IA EN LA REVISIÓN</a:t>
            </a:r>
            <a:endParaRPr lang="en-US" sz="1200" dirty="0"/>
          </a:p>
        </p:txBody>
      </p:sp>
      <p:sp>
        <p:nvSpPr>
          <p:cNvPr id="3" name="Text 1"/>
          <p:cNvSpPr/>
          <p:nvPr/>
        </p:nvSpPr>
        <p:spPr>
          <a:xfrm>
            <a:off x="530352" y="822960"/>
            <a:ext cx="10972800" cy="822960"/>
          </a:xfrm>
          <a:prstGeom prst="rect">
            <a:avLst/>
          </a:prstGeom>
          <a:noFill/>
          <a:ln/>
        </p:spPr>
        <p:txBody>
          <a:bodyPr wrap="square" lIns="0" tIns="0" rIns="0" bIns="0" rtlCol="0" anchor="ctr"/>
          <a:lstStyle/>
          <a:p>
            <a:pPr indent="0" marL="0">
              <a:buNone/>
            </a:pPr>
            <a:r>
              <a:rPr lang="en-US" sz="3000" b="1" dirty="0">
                <a:solidFill>
                  <a:srgbClr val="FFFFFF"/>
                </a:solidFill>
                <a:latin typeface="Arial" pitchFamily="34" charset="0"/>
                <a:ea typeface="Arial" pitchFamily="34" charset="-122"/>
                <a:cs typeface="Arial" pitchFamily="34" charset="-120"/>
              </a:rPr>
              <a:t>El investigador sigue siendo responsable</a:t>
            </a:r>
            <a:endParaRPr lang="en-US" sz="3000" dirty="0"/>
          </a:p>
        </p:txBody>
      </p:sp>
      <p:sp>
        <p:nvSpPr>
          <p:cNvPr id="4" name="Shape 2"/>
          <p:cNvSpPr/>
          <p:nvPr/>
        </p:nvSpPr>
        <p:spPr>
          <a:xfrm>
            <a:off x="548640" y="1828800"/>
            <a:ext cx="3566160" cy="3200400"/>
          </a:xfrm>
          <a:prstGeom prst="roundRect">
            <a:avLst>
              <a:gd name="adj" fmla="val 2571"/>
            </a:avLst>
          </a:prstGeom>
          <a:solidFill>
            <a:srgbClr val="E7F0E9"/>
          </a:solidFill>
          <a:ln/>
        </p:spPr>
      </p:sp>
      <p:sp>
        <p:nvSpPr>
          <p:cNvPr id="5" name="Shape 3"/>
          <p:cNvSpPr/>
          <p:nvPr/>
        </p:nvSpPr>
        <p:spPr>
          <a:xfrm>
            <a:off x="1965960" y="2057400"/>
            <a:ext cx="731520" cy="731520"/>
          </a:xfrm>
          <a:prstGeom prst="ellipse">
            <a:avLst/>
          </a:prstGeom>
          <a:solidFill>
            <a:srgbClr val="2E7D32"/>
          </a:solidFill>
          <a:ln/>
        </p:spPr>
      </p:sp>
      <p:sp>
        <p:nvSpPr>
          <p:cNvPr id="6" name="Text 4"/>
          <p:cNvSpPr/>
          <p:nvPr/>
        </p:nvSpPr>
        <p:spPr>
          <a:xfrm>
            <a:off x="548640" y="2880360"/>
            <a:ext cx="3566160" cy="457200"/>
          </a:xfrm>
          <a:prstGeom prst="rect">
            <a:avLst/>
          </a:prstGeom>
          <a:noFill/>
          <a:ln/>
        </p:spPr>
        <p:txBody>
          <a:bodyPr wrap="square" lIns="0" tIns="0" rIns="0" bIns="0" rtlCol="0" anchor="ctr"/>
          <a:lstStyle/>
          <a:p>
            <a:pPr algn="ctr" indent="0" marL="0">
              <a:buNone/>
            </a:pPr>
            <a:r>
              <a:rPr lang="en-US" sz="1800" b="1" dirty="0">
                <a:solidFill>
                  <a:srgbClr val="2E7D32"/>
                </a:solidFill>
                <a:latin typeface="Arial" pitchFamily="34" charset="0"/>
                <a:ea typeface="Arial" pitchFamily="34" charset="-122"/>
                <a:cs typeface="Arial" pitchFamily="34" charset="-120"/>
              </a:rPr>
              <a:t>VERDE</a:t>
            </a:r>
            <a:endParaRPr lang="en-US" sz="1800" dirty="0"/>
          </a:p>
        </p:txBody>
      </p:sp>
      <p:sp>
        <p:nvSpPr>
          <p:cNvPr id="7" name="Text 5"/>
          <p:cNvSpPr/>
          <p:nvPr/>
        </p:nvSpPr>
        <p:spPr>
          <a:xfrm>
            <a:off x="822960" y="3383280"/>
            <a:ext cx="3017520" cy="1554480"/>
          </a:xfrm>
          <a:prstGeom prst="rect">
            <a:avLst/>
          </a:prstGeom>
          <a:noFill/>
          <a:ln/>
        </p:spPr>
        <p:txBody>
          <a:bodyPr wrap="square" lIns="0" tIns="0" rIns="0" bIns="0" rtlCol="0" anchor="ctr"/>
          <a:lstStyle/>
          <a:p>
            <a:pPr algn="ctr" indent="0" marL="0">
              <a:lnSpc>
                <a:spcPct val="115000"/>
              </a:lnSpc>
              <a:buNone/>
            </a:pPr>
            <a:r>
              <a:rPr lang="en-US" sz="1350" dirty="0">
                <a:solidFill>
                  <a:srgbClr val="1F2733"/>
                </a:solidFill>
                <a:latin typeface="Arial" pitchFamily="34" charset="0"/>
                <a:ea typeface="Arial" pitchFamily="34" charset="-122"/>
                <a:cs typeface="Arial" pitchFamily="34" charset="-120"/>
              </a:rPr>
              <a:t>Sugerir sinónimos, resumir un paper que leíste, mapear citaciones</a:t>
            </a:r>
            <a:endParaRPr lang="en-US" sz="1350" dirty="0"/>
          </a:p>
        </p:txBody>
      </p:sp>
      <p:sp>
        <p:nvSpPr>
          <p:cNvPr id="8" name="Shape 6"/>
          <p:cNvSpPr/>
          <p:nvPr/>
        </p:nvSpPr>
        <p:spPr>
          <a:xfrm>
            <a:off x="4251960" y="1828800"/>
            <a:ext cx="3566160" cy="3200400"/>
          </a:xfrm>
          <a:prstGeom prst="roundRect">
            <a:avLst>
              <a:gd name="adj" fmla="val 2571"/>
            </a:avLst>
          </a:prstGeom>
          <a:solidFill>
            <a:srgbClr val="FBF3E0"/>
          </a:solidFill>
          <a:ln/>
        </p:spPr>
      </p:sp>
      <p:sp>
        <p:nvSpPr>
          <p:cNvPr id="9" name="Shape 7"/>
          <p:cNvSpPr/>
          <p:nvPr/>
        </p:nvSpPr>
        <p:spPr>
          <a:xfrm>
            <a:off x="5669280" y="2057400"/>
            <a:ext cx="731520" cy="731520"/>
          </a:xfrm>
          <a:prstGeom prst="ellipse">
            <a:avLst/>
          </a:prstGeom>
          <a:solidFill>
            <a:srgbClr val="C88A00"/>
          </a:solidFill>
          <a:ln/>
        </p:spPr>
      </p:sp>
      <p:sp>
        <p:nvSpPr>
          <p:cNvPr id="10" name="Text 8"/>
          <p:cNvSpPr/>
          <p:nvPr/>
        </p:nvSpPr>
        <p:spPr>
          <a:xfrm>
            <a:off x="4251960" y="2880360"/>
            <a:ext cx="3566160" cy="457200"/>
          </a:xfrm>
          <a:prstGeom prst="rect">
            <a:avLst/>
          </a:prstGeom>
          <a:noFill/>
          <a:ln/>
        </p:spPr>
        <p:txBody>
          <a:bodyPr wrap="square" lIns="0" tIns="0" rIns="0" bIns="0" rtlCol="0" anchor="ctr"/>
          <a:lstStyle/>
          <a:p>
            <a:pPr algn="ctr" indent="0" marL="0">
              <a:buNone/>
            </a:pPr>
            <a:r>
              <a:rPr lang="en-US" sz="1800" b="1" dirty="0">
                <a:solidFill>
                  <a:srgbClr val="C88A00"/>
                </a:solidFill>
                <a:latin typeface="Arial" pitchFamily="34" charset="0"/>
                <a:ea typeface="Arial" pitchFamily="34" charset="-122"/>
                <a:cs typeface="Arial" pitchFamily="34" charset="-120"/>
              </a:rPr>
              <a:t>AMARILLO</a:t>
            </a:r>
            <a:endParaRPr lang="en-US" sz="1800" dirty="0"/>
          </a:p>
        </p:txBody>
      </p:sp>
      <p:sp>
        <p:nvSpPr>
          <p:cNvPr id="11" name="Text 9"/>
          <p:cNvSpPr/>
          <p:nvPr/>
        </p:nvSpPr>
        <p:spPr>
          <a:xfrm>
            <a:off x="4526280" y="3383280"/>
            <a:ext cx="3017520" cy="1554480"/>
          </a:xfrm>
          <a:prstGeom prst="rect">
            <a:avLst/>
          </a:prstGeom>
          <a:noFill/>
          <a:ln/>
        </p:spPr>
        <p:txBody>
          <a:bodyPr wrap="square" lIns="0" tIns="0" rIns="0" bIns="0" rtlCol="0" anchor="ctr"/>
          <a:lstStyle/>
          <a:p>
            <a:pPr algn="ctr" indent="0" marL="0">
              <a:lnSpc>
                <a:spcPct val="115000"/>
              </a:lnSpc>
              <a:buNone/>
            </a:pPr>
            <a:r>
              <a:rPr lang="en-US" sz="1350" dirty="0">
                <a:solidFill>
                  <a:srgbClr val="1F2733"/>
                </a:solidFill>
                <a:latin typeface="Arial" pitchFamily="34" charset="0"/>
                <a:ea typeface="Arial" pitchFamily="34" charset="-122"/>
                <a:cs typeface="Arial" pitchFamily="34" charset="-120"/>
              </a:rPr>
              <a:t>Proponer papers, extraer datos, redactar el estado del arte: verifica TODO (DOI, cuartil, cita textual)</a:t>
            </a:r>
            <a:endParaRPr lang="en-US" sz="1350" dirty="0"/>
          </a:p>
        </p:txBody>
      </p:sp>
      <p:sp>
        <p:nvSpPr>
          <p:cNvPr id="12" name="Shape 10"/>
          <p:cNvSpPr/>
          <p:nvPr/>
        </p:nvSpPr>
        <p:spPr>
          <a:xfrm>
            <a:off x="7955280" y="1828800"/>
            <a:ext cx="3566160" cy="3200400"/>
          </a:xfrm>
          <a:prstGeom prst="roundRect">
            <a:avLst>
              <a:gd name="adj" fmla="val 2571"/>
            </a:avLst>
          </a:prstGeom>
          <a:solidFill>
            <a:srgbClr val="F7E4E3"/>
          </a:solidFill>
          <a:ln/>
        </p:spPr>
      </p:sp>
      <p:sp>
        <p:nvSpPr>
          <p:cNvPr id="13" name="Shape 11"/>
          <p:cNvSpPr/>
          <p:nvPr/>
        </p:nvSpPr>
        <p:spPr>
          <a:xfrm>
            <a:off x="9372600" y="2057400"/>
            <a:ext cx="731520" cy="731520"/>
          </a:xfrm>
          <a:prstGeom prst="ellipse">
            <a:avLst/>
          </a:prstGeom>
          <a:solidFill>
            <a:srgbClr val="B3261E"/>
          </a:solidFill>
          <a:ln/>
        </p:spPr>
      </p:sp>
      <p:sp>
        <p:nvSpPr>
          <p:cNvPr id="14" name="Text 12"/>
          <p:cNvSpPr/>
          <p:nvPr/>
        </p:nvSpPr>
        <p:spPr>
          <a:xfrm>
            <a:off x="7955280" y="2880360"/>
            <a:ext cx="3566160" cy="457200"/>
          </a:xfrm>
          <a:prstGeom prst="rect">
            <a:avLst/>
          </a:prstGeom>
          <a:noFill/>
          <a:ln/>
        </p:spPr>
        <p:txBody>
          <a:bodyPr wrap="square" lIns="0" tIns="0" rIns="0" bIns="0" rtlCol="0" anchor="ctr"/>
          <a:lstStyle/>
          <a:p>
            <a:pPr algn="ctr" indent="0" marL="0">
              <a:buNone/>
            </a:pPr>
            <a:r>
              <a:rPr lang="en-US" sz="1800" b="1" dirty="0">
                <a:solidFill>
                  <a:srgbClr val="B3261E"/>
                </a:solidFill>
                <a:latin typeface="Arial" pitchFamily="34" charset="0"/>
                <a:ea typeface="Arial" pitchFamily="34" charset="-122"/>
                <a:cs typeface="Arial" pitchFamily="34" charset="-120"/>
              </a:rPr>
              <a:t>ROJO</a:t>
            </a:r>
            <a:endParaRPr lang="en-US" sz="1800" dirty="0"/>
          </a:p>
        </p:txBody>
      </p:sp>
      <p:sp>
        <p:nvSpPr>
          <p:cNvPr id="15" name="Text 13"/>
          <p:cNvSpPr/>
          <p:nvPr/>
        </p:nvSpPr>
        <p:spPr>
          <a:xfrm>
            <a:off x="8229600" y="3383280"/>
            <a:ext cx="3017520" cy="1554480"/>
          </a:xfrm>
          <a:prstGeom prst="rect">
            <a:avLst/>
          </a:prstGeom>
          <a:noFill/>
          <a:ln/>
        </p:spPr>
        <p:txBody>
          <a:bodyPr wrap="square" lIns="0" tIns="0" rIns="0" bIns="0" rtlCol="0" anchor="ctr"/>
          <a:lstStyle/>
          <a:p>
            <a:pPr algn="ctr" indent="0" marL="0">
              <a:lnSpc>
                <a:spcPct val="115000"/>
              </a:lnSpc>
              <a:buNone/>
            </a:pPr>
            <a:r>
              <a:rPr lang="en-US" sz="1350" dirty="0">
                <a:solidFill>
                  <a:srgbClr val="1F2733"/>
                </a:solidFill>
                <a:latin typeface="Arial" pitchFamily="34" charset="0"/>
                <a:ea typeface="Arial" pitchFamily="34" charset="-122"/>
                <a:cs typeface="Arial" pitchFamily="34" charset="-120"/>
              </a:rPr>
              <a:t>Citar lo que no leíste, inventar hallazgos o referencias, ocultar el uso de IA</a:t>
            </a:r>
            <a:endParaRPr lang="en-US" sz="1350" dirty="0"/>
          </a:p>
        </p:txBody>
      </p:sp>
      <p:sp>
        <p:nvSpPr>
          <p:cNvPr id="16" name="Text 14"/>
          <p:cNvSpPr/>
          <p:nvPr/>
        </p:nvSpPr>
        <p:spPr>
          <a:xfrm>
            <a:off x="548640" y="5257800"/>
            <a:ext cx="1097280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Cita solo lo que leíste y verificaste. Declara el uso de IA. Tú firmas la revisión.</a:t>
            </a:r>
            <a:endParaRPr lang="en-US" sz="16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7A1420"/>
        </a:solidFill>
      </p:bgPr>
    </p:bg>
    <p:spTree>
      <p:nvGrpSpPr>
        <p:cNvPr id="1" name=""/>
        <p:cNvGrpSpPr/>
        <p:nvPr/>
      </p:nvGrpSpPr>
      <p:grpSpPr>
        <a:xfrm>
          <a:off x="0" y="0"/>
          <a:ext cx="0" cy="0"/>
          <a:chOff x="0" y="0"/>
          <a:chExt cx="0" cy="0"/>
        </a:xfrm>
      </p:grpSpPr>
      <p:sp>
        <p:nvSpPr>
          <p:cNvPr id="2" name="Text 0"/>
          <p:cNvSpPr/>
          <p:nvPr/>
        </p:nvSpPr>
        <p:spPr>
          <a:xfrm>
            <a:off x="731520" y="2286000"/>
            <a:ext cx="10698480" cy="914400"/>
          </a:xfrm>
          <a:prstGeom prst="rect">
            <a:avLst/>
          </a:prstGeom>
          <a:noFill/>
          <a:ln/>
        </p:spPr>
        <p:txBody>
          <a:bodyPr wrap="square" lIns="0" tIns="0" rIns="0" bIns="0" rtlCol="0" anchor="ctr"/>
          <a:lstStyle/>
          <a:p>
            <a:pPr indent="0" marL="0">
              <a:buNone/>
            </a:pPr>
            <a:r>
              <a:rPr lang="en-US" sz="4000" b="1" dirty="0">
                <a:solidFill>
                  <a:srgbClr val="F6DDE1"/>
                </a:solidFill>
                <a:latin typeface="Arial" pitchFamily="34" charset="0"/>
                <a:ea typeface="Arial" pitchFamily="34" charset="-122"/>
                <a:cs typeface="Arial" pitchFamily="34" charset="-120"/>
              </a:rPr>
              <a:t>Suficiente teoría.</a:t>
            </a:r>
            <a:endParaRPr lang="en-US" sz="4000" dirty="0"/>
          </a:p>
        </p:txBody>
      </p:sp>
      <p:sp>
        <p:nvSpPr>
          <p:cNvPr id="3" name="Text 1"/>
          <p:cNvSpPr/>
          <p:nvPr/>
        </p:nvSpPr>
        <p:spPr>
          <a:xfrm>
            <a:off x="731520" y="3246120"/>
            <a:ext cx="10698480" cy="1097280"/>
          </a:xfrm>
          <a:prstGeom prst="rect">
            <a:avLst/>
          </a:prstGeom>
          <a:noFill/>
          <a:ln/>
        </p:spPr>
        <p:txBody>
          <a:bodyPr wrap="square" lIns="0" tIns="0" rIns="0" bIns="0" rtlCol="0" anchor="ctr"/>
          <a:lstStyle/>
          <a:p>
            <a:pPr indent="0" marL="0">
              <a:buNone/>
            </a:pPr>
            <a:r>
              <a:rPr lang="en-US" sz="5000" b="1" dirty="0">
                <a:solidFill>
                  <a:srgbClr val="FFFFFF"/>
                </a:solidFill>
                <a:latin typeface="Arial" pitchFamily="34" charset="0"/>
                <a:ea typeface="Arial" pitchFamily="34" charset="-122"/>
                <a:cs typeface="Arial" pitchFamily="34" charset="-120"/>
              </a:rPr>
              <a:t>Construyamos tu estado del arte.</a:t>
            </a:r>
            <a:endParaRPr lang="en-US" sz="5000" dirty="0"/>
          </a:p>
        </p:txBody>
      </p:sp>
      <p:sp>
        <p:nvSpPr>
          <p:cNvPr id="4" name="Text 2"/>
          <p:cNvSpPr/>
          <p:nvPr/>
        </p:nvSpPr>
        <p:spPr>
          <a:xfrm>
            <a:off x="749808" y="4800600"/>
            <a:ext cx="10698480" cy="731520"/>
          </a:xfrm>
          <a:prstGeom prst="rect">
            <a:avLst/>
          </a:prstGeom>
          <a:noFill/>
          <a:ln/>
        </p:spPr>
        <p:txBody>
          <a:bodyPr wrap="square" lIns="0" tIns="0" rIns="0" bIns="0" rtlCol="0" anchor="ctr"/>
          <a:lstStyle/>
          <a:p>
            <a:pPr indent="0" marL="0">
              <a:buNone/>
            </a:pPr>
            <a:r>
              <a:rPr lang="en-US" sz="1800" dirty="0">
                <a:solidFill>
                  <a:srgbClr val="F3D6DA"/>
                </a:solidFill>
                <a:latin typeface="Arial" pitchFamily="34" charset="0"/>
                <a:ea typeface="Arial" pitchFamily="34" charset="-122"/>
                <a:cs typeface="Arial" pitchFamily="34" charset="-120"/>
              </a:rPr>
              <a:t>Abre tu laptop, tu agente de la U1 y tu pregunta de tesis. En 108 minutos tendrás tu Revisión de Literatura v1.</a:t>
            </a:r>
            <a:endParaRPr lang="en-US" sz="1800" dirty="0"/>
          </a:p>
        </p:txBody>
      </p:sp>
      <p:sp>
        <p:nvSpPr>
          <p:cNvPr id="5" name="Text 3"/>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6" name="Text 4"/>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 108 MINUTOS</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Siete estaciones, una revisión propia</a:t>
            </a:r>
            <a:endParaRPr lang="en-US" sz="3000" dirty="0"/>
          </a:p>
        </p:txBody>
      </p:sp>
      <p:sp>
        <p:nvSpPr>
          <p:cNvPr id="4" name="Shape 2"/>
          <p:cNvSpPr/>
          <p:nvPr/>
        </p:nvSpPr>
        <p:spPr>
          <a:xfrm>
            <a:off x="548640" y="1737360"/>
            <a:ext cx="10972800" cy="603504"/>
          </a:xfrm>
          <a:prstGeom prst="roundRect">
            <a:avLst>
              <a:gd name="adj" fmla="val 13636"/>
            </a:avLst>
          </a:prstGeom>
          <a:solidFill>
            <a:srgbClr val="EDEFF2"/>
          </a:solidFill>
          <a:ln/>
        </p:spPr>
      </p:sp>
      <p:sp>
        <p:nvSpPr>
          <p:cNvPr id="5" name="Shape 3"/>
          <p:cNvSpPr/>
          <p:nvPr/>
        </p:nvSpPr>
        <p:spPr>
          <a:xfrm>
            <a:off x="685800" y="1810512"/>
            <a:ext cx="457200" cy="457200"/>
          </a:xfrm>
          <a:prstGeom prst="roundRect">
            <a:avLst>
              <a:gd name="adj" fmla="val 20000"/>
            </a:avLst>
          </a:prstGeom>
          <a:solidFill>
            <a:srgbClr val="13294B"/>
          </a:solidFill>
          <a:ln/>
        </p:spPr>
      </p:sp>
      <p:sp>
        <p:nvSpPr>
          <p:cNvPr id="6" name="Text 4"/>
          <p:cNvSpPr/>
          <p:nvPr/>
        </p:nvSpPr>
        <p:spPr>
          <a:xfrm>
            <a:off x="685800" y="181051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1</a:t>
            </a:r>
            <a:endParaRPr lang="en-US" sz="1800" dirty="0"/>
          </a:p>
        </p:txBody>
      </p:sp>
      <p:sp>
        <p:nvSpPr>
          <p:cNvPr id="7" name="Text 5"/>
          <p:cNvSpPr/>
          <p:nvPr/>
        </p:nvSpPr>
        <p:spPr>
          <a:xfrm>
            <a:off x="1371600" y="1737360"/>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De tema a pregunta (PICOC + keywords)</a:t>
            </a:r>
            <a:endParaRPr lang="en-US" sz="1600" dirty="0"/>
          </a:p>
        </p:txBody>
      </p:sp>
      <p:sp>
        <p:nvSpPr>
          <p:cNvPr id="8" name="Text 6"/>
          <p:cNvSpPr/>
          <p:nvPr/>
        </p:nvSpPr>
        <p:spPr>
          <a:xfrm>
            <a:off x="9692640" y="1737360"/>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12 min</a:t>
            </a:r>
            <a:endParaRPr lang="en-US" sz="1500" dirty="0"/>
          </a:p>
        </p:txBody>
      </p:sp>
      <p:sp>
        <p:nvSpPr>
          <p:cNvPr id="9" name="Shape 7"/>
          <p:cNvSpPr/>
          <p:nvPr/>
        </p:nvSpPr>
        <p:spPr>
          <a:xfrm>
            <a:off x="548640" y="2395728"/>
            <a:ext cx="10972800" cy="603504"/>
          </a:xfrm>
          <a:prstGeom prst="roundRect">
            <a:avLst>
              <a:gd name="adj" fmla="val 13636"/>
            </a:avLst>
          </a:prstGeom>
          <a:solidFill>
            <a:srgbClr val="FFFFFF"/>
          </a:solidFill>
          <a:ln/>
        </p:spPr>
      </p:sp>
      <p:sp>
        <p:nvSpPr>
          <p:cNvPr id="10" name="Shape 8"/>
          <p:cNvSpPr/>
          <p:nvPr/>
        </p:nvSpPr>
        <p:spPr>
          <a:xfrm>
            <a:off x="685800" y="2468880"/>
            <a:ext cx="457200" cy="457200"/>
          </a:xfrm>
          <a:prstGeom prst="roundRect">
            <a:avLst>
              <a:gd name="adj" fmla="val 20000"/>
            </a:avLst>
          </a:prstGeom>
          <a:solidFill>
            <a:srgbClr val="13294B"/>
          </a:solidFill>
          <a:ln/>
        </p:spPr>
      </p:sp>
      <p:sp>
        <p:nvSpPr>
          <p:cNvPr id="11" name="Text 9"/>
          <p:cNvSpPr/>
          <p:nvPr/>
        </p:nvSpPr>
        <p:spPr>
          <a:xfrm>
            <a:off x="685800" y="246888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2</a:t>
            </a:r>
            <a:endParaRPr lang="en-US" sz="1800" dirty="0"/>
          </a:p>
        </p:txBody>
      </p:sp>
      <p:sp>
        <p:nvSpPr>
          <p:cNvPr id="12" name="Text 10"/>
          <p:cNvSpPr/>
          <p:nvPr/>
        </p:nvSpPr>
        <p:spPr>
          <a:xfrm>
            <a:off x="1371600" y="2395728"/>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Cadena de búsqueda booleana</a:t>
            </a:r>
            <a:endParaRPr lang="en-US" sz="1600" dirty="0"/>
          </a:p>
        </p:txBody>
      </p:sp>
      <p:sp>
        <p:nvSpPr>
          <p:cNvPr id="13" name="Text 11"/>
          <p:cNvSpPr/>
          <p:nvPr/>
        </p:nvSpPr>
        <p:spPr>
          <a:xfrm>
            <a:off x="9692640" y="2395728"/>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18 min</a:t>
            </a:r>
            <a:endParaRPr lang="en-US" sz="1500" dirty="0"/>
          </a:p>
        </p:txBody>
      </p:sp>
      <p:sp>
        <p:nvSpPr>
          <p:cNvPr id="14" name="Shape 12"/>
          <p:cNvSpPr/>
          <p:nvPr/>
        </p:nvSpPr>
        <p:spPr>
          <a:xfrm>
            <a:off x="548640" y="3054096"/>
            <a:ext cx="10972800" cy="603504"/>
          </a:xfrm>
          <a:prstGeom prst="roundRect">
            <a:avLst>
              <a:gd name="adj" fmla="val 13636"/>
            </a:avLst>
          </a:prstGeom>
          <a:solidFill>
            <a:srgbClr val="EDEFF2"/>
          </a:solidFill>
          <a:ln/>
        </p:spPr>
      </p:sp>
      <p:sp>
        <p:nvSpPr>
          <p:cNvPr id="15" name="Shape 13"/>
          <p:cNvSpPr/>
          <p:nvPr/>
        </p:nvSpPr>
        <p:spPr>
          <a:xfrm>
            <a:off x="685800" y="3127248"/>
            <a:ext cx="457200" cy="457200"/>
          </a:xfrm>
          <a:prstGeom prst="roundRect">
            <a:avLst>
              <a:gd name="adj" fmla="val 20000"/>
            </a:avLst>
          </a:prstGeom>
          <a:solidFill>
            <a:srgbClr val="13294B"/>
          </a:solidFill>
          <a:ln/>
        </p:spPr>
      </p:sp>
      <p:sp>
        <p:nvSpPr>
          <p:cNvPr id="16" name="Text 14"/>
          <p:cNvSpPr/>
          <p:nvPr/>
        </p:nvSpPr>
        <p:spPr>
          <a:xfrm>
            <a:off x="685800" y="3127248"/>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3</a:t>
            </a:r>
            <a:endParaRPr lang="en-US" sz="1800" dirty="0"/>
          </a:p>
        </p:txBody>
      </p:sp>
      <p:sp>
        <p:nvSpPr>
          <p:cNvPr id="17" name="Text 15"/>
          <p:cNvSpPr/>
          <p:nvPr/>
        </p:nvSpPr>
        <p:spPr>
          <a:xfrm>
            <a:off x="1371600" y="3054096"/>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Descubrimiento con IA</a:t>
            </a:r>
            <a:endParaRPr lang="en-US" sz="1600" dirty="0"/>
          </a:p>
        </p:txBody>
      </p:sp>
      <p:sp>
        <p:nvSpPr>
          <p:cNvPr id="18" name="Text 16"/>
          <p:cNvSpPr/>
          <p:nvPr/>
        </p:nvSpPr>
        <p:spPr>
          <a:xfrm>
            <a:off x="9692640" y="3054096"/>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18 min</a:t>
            </a:r>
            <a:endParaRPr lang="en-US" sz="1500" dirty="0"/>
          </a:p>
        </p:txBody>
      </p:sp>
      <p:sp>
        <p:nvSpPr>
          <p:cNvPr id="19" name="Shape 17"/>
          <p:cNvSpPr/>
          <p:nvPr/>
        </p:nvSpPr>
        <p:spPr>
          <a:xfrm>
            <a:off x="548640" y="3712464"/>
            <a:ext cx="10972800" cy="603504"/>
          </a:xfrm>
          <a:prstGeom prst="roundRect">
            <a:avLst>
              <a:gd name="adj" fmla="val 13636"/>
            </a:avLst>
          </a:prstGeom>
          <a:solidFill>
            <a:srgbClr val="FFFFFF"/>
          </a:solidFill>
          <a:ln/>
        </p:spPr>
      </p:sp>
      <p:sp>
        <p:nvSpPr>
          <p:cNvPr id="20" name="Shape 18"/>
          <p:cNvSpPr/>
          <p:nvPr/>
        </p:nvSpPr>
        <p:spPr>
          <a:xfrm>
            <a:off x="685800" y="3785616"/>
            <a:ext cx="457200" cy="457200"/>
          </a:xfrm>
          <a:prstGeom prst="roundRect">
            <a:avLst>
              <a:gd name="adj" fmla="val 20000"/>
            </a:avLst>
          </a:prstGeom>
          <a:solidFill>
            <a:srgbClr val="7A1420"/>
          </a:solidFill>
          <a:ln/>
        </p:spPr>
      </p:sp>
      <p:sp>
        <p:nvSpPr>
          <p:cNvPr id="21" name="Text 19"/>
          <p:cNvSpPr/>
          <p:nvPr/>
        </p:nvSpPr>
        <p:spPr>
          <a:xfrm>
            <a:off x="685800" y="3785616"/>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4</a:t>
            </a:r>
            <a:endParaRPr lang="en-US" sz="1800" dirty="0"/>
          </a:p>
        </p:txBody>
      </p:sp>
      <p:sp>
        <p:nvSpPr>
          <p:cNvPr id="22" name="Text 20"/>
          <p:cNvSpPr/>
          <p:nvPr/>
        </p:nvSpPr>
        <p:spPr>
          <a:xfrm>
            <a:off x="1371600" y="3712464"/>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Cribado con PRISMA</a:t>
            </a:r>
            <a:endParaRPr lang="en-US" sz="1600" dirty="0"/>
          </a:p>
        </p:txBody>
      </p:sp>
      <p:sp>
        <p:nvSpPr>
          <p:cNvPr id="23" name="Text 21"/>
          <p:cNvSpPr/>
          <p:nvPr/>
        </p:nvSpPr>
        <p:spPr>
          <a:xfrm>
            <a:off x="9692640" y="3712464"/>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20 min</a:t>
            </a:r>
            <a:endParaRPr lang="en-US" sz="1500" dirty="0"/>
          </a:p>
        </p:txBody>
      </p:sp>
      <p:sp>
        <p:nvSpPr>
          <p:cNvPr id="24" name="Shape 22"/>
          <p:cNvSpPr/>
          <p:nvPr/>
        </p:nvSpPr>
        <p:spPr>
          <a:xfrm>
            <a:off x="548640" y="4370832"/>
            <a:ext cx="10972800" cy="603504"/>
          </a:xfrm>
          <a:prstGeom prst="roundRect">
            <a:avLst>
              <a:gd name="adj" fmla="val 13636"/>
            </a:avLst>
          </a:prstGeom>
          <a:solidFill>
            <a:srgbClr val="EDEFF2"/>
          </a:solidFill>
          <a:ln/>
        </p:spPr>
      </p:sp>
      <p:sp>
        <p:nvSpPr>
          <p:cNvPr id="25" name="Shape 23"/>
          <p:cNvSpPr/>
          <p:nvPr/>
        </p:nvSpPr>
        <p:spPr>
          <a:xfrm>
            <a:off x="685800" y="4443984"/>
            <a:ext cx="457200" cy="457200"/>
          </a:xfrm>
          <a:prstGeom prst="roundRect">
            <a:avLst>
              <a:gd name="adj" fmla="val 20000"/>
            </a:avLst>
          </a:prstGeom>
          <a:solidFill>
            <a:srgbClr val="7A1420"/>
          </a:solidFill>
          <a:ln/>
        </p:spPr>
      </p:sp>
      <p:sp>
        <p:nvSpPr>
          <p:cNvPr id="26" name="Text 24"/>
          <p:cNvSpPr/>
          <p:nvPr/>
        </p:nvSpPr>
        <p:spPr>
          <a:xfrm>
            <a:off x="685800" y="4443984"/>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5</a:t>
            </a:r>
            <a:endParaRPr lang="en-US" sz="1800" dirty="0"/>
          </a:p>
        </p:txBody>
      </p:sp>
      <p:sp>
        <p:nvSpPr>
          <p:cNvPr id="27" name="Text 25"/>
          <p:cNvSpPr/>
          <p:nvPr/>
        </p:nvSpPr>
        <p:spPr>
          <a:xfrm>
            <a:off x="1371600" y="4370832"/>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Matriz de literatura (estado del arte)</a:t>
            </a:r>
            <a:endParaRPr lang="en-US" sz="1600" dirty="0"/>
          </a:p>
        </p:txBody>
      </p:sp>
      <p:sp>
        <p:nvSpPr>
          <p:cNvPr id="28" name="Text 26"/>
          <p:cNvSpPr/>
          <p:nvPr/>
        </p:nvSpPr>
        <p:spPr>
          <a:xfrm>
            <a:off x="9692640" y="4370832"/>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20 min</a:t>
            </a:r>
            <a:endParaRPr lang="en-US" sz="1500" dirty="0"/>
          </a:p>
        </p:txBody>
      </p:sp>
      <p:sp>
        <p:nvSpPr>
          <p:cNvPr id="29" name="Shape 27"/>
          <p:cNvSpPr/>
          <p:nvPr/>
        </p:nvSpPr>
        <p:spPr>
          <a:xfrm>
            <a:off x="548640" y="5029200"/>
            <a:ext cx="10972800" cy="603504"/>
          </a:xfrm>
          <a:prstGeom prst="roundRect">
            <a:avLst>
              <a:gd name="adj" fmla="val 13636"/>
            </a:avLst>
          </a:prstGeom>
          <a:solidFill>
            <a:srgbClr val="FFFFFF"/>
          </a:solidFill>
          <a:ln/>
        </p:spPr>
      </p:sp>
      <p:sp>
        <p:nvSpPr>
          <p:cNvPr id="30" name="Shape 28"/>
          <p:cNvSpPr/>
          <p:nvPr/>
        </p:nvSpPr>
        <p:spPr>
          <a:xfrm>
            <a:off x="685800" y="5102352"/>
            <a:ext cx="457200" cy="457200"/>
          </a:xfrm>
          <a:prstGeom prst="roundRect">
            <a:avLst>
              <a:gd name="adj" fmla="val 20000"/>
            </a:avLst>
          </a:prstGeom>
          <a:solidFill>
            <a:srgbClr val="13294B"/>
          </a:solidFill>
          <a:ln/>
        </p:spPr>
      </p:sp>
      <p:sp>
        <p:nvSpPr>
          <p:cNvPr id="31" name="Text 29"/>
          <p:cNvSpPr/>
          <p:nvPr/>
        </p:nvSpPr>
        <p:spPr>
          <a:xfrm>
            <a:off x="685800" y="5102352"/>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6</a:t>
            </a:r>
            <a:endParaRPr lang="en-US" sz="1800" dirty="0"/>
          </a:p>
        </p:txBody>
      </p:sp>
      <p:sp>
        <p:nvSpPr>
          <p:cNvPr id="32" name="Text 30"/>
          <p:cNvSpPr/>
          <p:nvPr/>
        </p:nvSpPr>
        <p:spPr>
          <a:xfrm>
            <a:off x="1371600" y="5029200"/>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Detección del vacío + párrafo</a:t>
            </a:r>
            <a:endParaRPr lang="en-US" sz="1600" dirty="0"/>
          </a:p>
        </p:txBody>
      </p:sp>
      <p:sp>
        <p:nvSpPr>
          <p:cNvPr id="33" name="Text 31"/>
          <p:cNvSpPr/>
          <p:nvPr/>
        </p:nvSpPr>
        <p:spPr>
          <a:xfrm>
            <a:off x="9692640" y="5029200"/>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12 min</a:t>
            </a:r>
            <a:endParaRPr lang="en-US" sz="1500" dirty="0"/>
          </a:p>
        </p:txBody>
      </p:sp>
      <p:sp>
        <p:nvSpPr>
          <p:cNvPr id="34" name="Shape 32"/>
          <p:cNvSpPr/>
          <p:nvPr/>
        </p:nvSpPr>
        <p:spPr>
          <a:xfrm>
            <a:off x="548640" y="5687568"/>
            <a:ext cx="10972800" cy="603504"/>
          </a:xfrm>
          <a:prstGeom prst="roundRect">
            <a:avLst>
              <a:gd name="adj" fmla="val 13636"/>
            </a:avLst>
          </a:prstGeom>
          <a:solidFill>
            <a:srgbClr val="EDEFF2"/>
          </a:solidFill>
          <a:ln/>
        </p:spPr>
      </p:sp>
      <p:sp>
        <p:nvSpPr>
          <p:cNvPr id="35" name="Shape 33"/>
          <p:cNvSpPr/>
          <p:nvPr/>
        </p:nvSpPr>
        <p:spPr>
          <a:xfrm>
            <a:off x="685800" y="5760720"/>
            <a:ext cx="457200" cy="457200"/>
          </a:xfrm>
          <a:prstGeom prst="roundRect">
            <a:avLst>
              <a:gd name="adj" fmla="val 20000"/>
            </a:avLst>
          </a:prstGeom>
          <a:solidFill>
            <a:srgbClr val="13294B"/>
          </a:solidFill>
          <a:ln/>
        </p:spPr>
      </p:sp>
      <p:sp>
        <p:nvSpPr>
          <p:cNvPr id="36" name="Text 34"/>
          <p:cNvSpPr/>
          <p:nvPr/>
        </p:nvSpPr>
        <p:spPr>
          <a:xfrm>
            <a:off x="685800" y="5760720"/>
            <a:ext cx="45720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7</a:t>
            </a:r>
            <a:endParaRPr lang="en-US" sz="1800" dirty="0"/>
          </a:p>
        </p:txBody>
      </p:sp>
      <p:sp>
        <p:nvSpPr>
          <p:cNvPr id="37" name="Text 35"/>
          <p:cNvSpPr/>
          <p:nvPr/>
        </p:nvSpPr>
        <p:spPr>
          <a:xfrm>
            <a:off x="1371600" y="5687568"/>
            <a:ext cx="8229600" cy="603504"/>
          </a:xfrm>
          <a:prstGeom prst="rect">
            <a:avLst/>
          </a:prstGeom>
          <a:noFill/>
          <a:ln/>
        </p:spPr>
        <p:txBody>
          <a:bodyPr wrap="square" lIns="0" tIns="0" rIns="0" bIns="0" rtlCol="0" anchor="ctr"/>
          <a:lstStyle/>
          <a:p>
            <a:pPr indent="0" marL="0">
              <a:buNone/>
            </a:pPr>
            <a:r>
              <a:rPr lang="en-US" sz="1600" b="1" dirty="0">
                <a:solidFill>
                  <a:srgbClr val="1F2733"/>
                </a:solidFill>
                <a:latin typeface="Arial" pitchFamily="34" charset="0"/>
                <a:ea typeface="Arial" pitchFamily="34" charset="-122"/>
                <a:cs typeface="Arial" pitchFamily="34" charset="-120"/>
              </a:rPr>
              <a:t>Calidad, integridad y evaluación</a:t>
            </a:r>
            <a:endParaRPr lang="en-US" sz="1600" dirty="0"/>
          </a:p>
        </p:txBody>
      </p:sp>
      <p:sp>
        <p:nvSpPr>
          <p:cNvPr id="38" name="Text 36"/>
          <p:cNvSpPr/>
          <p:nvPr/>
        </p:nvSpPr>
        <p:spPr>
          <a:xfrm>
            <a:off x="9692640" y="5687568"/>
            <a:ext cx="1737360" cy="603504"/>
          </a:xfrm>
          <a:prstGeom prst="rect">
            <a:avLst/>
          </a:prstGeom>
          <a:noFill/>
          <a:ln/>
        </p:spPr>
        <p:txBody>
          <a:bodyPr wrap="square" lIns="0" tIns="0" rIns="0" bIns="0" rtlCol="0" anchor="ctr"/>
          <a:lstStyle/>
          <a:p>
            <a:pPr algn="r" indent="0" marL="0">
              <a:buNone/>
            </a:pPr>
            <a:r>
              <a:rPr lang="en-US" sz="1500" b="1" dirty="0">
                <a:solidFill>
                  <a:srgbClr val="7A1420"/>
                </a:solidFill>
                <a:latin typeface="Arial" pitchFamily="34" charset="0"/>
                <a:ea typeface="Arial" pitchFamily="34" charset="-122"/>
                <a:cs typeface="Arial" pitchFamily="34" charset="-120"/>
              </a:rPr>
              <a:t>8 min</a:t>
            </a:r>
            <a:endParaRPr lang="en-US" sz="1500" dirty="0"/>
          </a:p>
        </p:txBody>
      </p:sp>
      <p:sp>
        <p:nvSpPr>
          <p:cNvPr id="39" name="Text 37"/>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40" name="Text 38"/>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1 · 12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 tema a pregunta (PICOC + keywords)</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12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Convertir tu tema de tesis en una pregunta investigable y descomponerla en conceptos y palabras clave.</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Escribe tu tema en una frase.</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Reformúlalo como pregunta acotada.</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Descompón con PICOC (Población, Intervención, Comparación, Outcome, Contexto).</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Lista keywords, sinónimos, siglas y su versión en inglés.</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Ficha PICOC + tabla de conceptos y palabras clave (ES/EN).</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Quedarse en un ‘tema’ amplio; olvidar los términos en inglés.</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2 · 18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Cadena de búsqueda booleana</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18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Construir una cadena reproducible con operadores booleanos y ejecutarla en bases académicas.</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Une sinónimos de cada concepto con OR entre paréntesis.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Combina los conceptos con AND; usa comillas y truncamiento (*).</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Ejecuta la cadena en Scopus o WoS (y/o IEEE, Scholar).</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Anota el número de resultados y ajusta (más AND/OR) según convenga.</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Exporta los resultados (.ris/.bib) a Zotero.</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Cadena de búsqueda final + n.º de resultados por base + exportación a Zotero.</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Cadena sin paréntesis (mezcla AND/OR) o sin sinónimos: trae ruido o pierde papers.</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3 · 18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Descubrimiento con IA</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18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Ampliar el corpus con IA de descubrimiento y ubicar los papers seminales, verificando cada uno.</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Pega tu pregunta o un paper clave en Elicit o Consensus.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Usa Connected Papers / Research Rabbit para el grafo de citaciones.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Identifica 3–5 papers seminales o muy citados que te faltaban.</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Verifica cada uno en Scopus/WoS y su DOI antes de aceptarlo.</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Añádelos a tu biblioteca de Zotero.</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3–5 fuentes nuevas verificadas (con DOI) añadidas al corpus + captura del grafo de citaciones.</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Aceptar papers que sugiere la IA sin verificarlos en la base indexada.</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30</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4 · 20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Cribado con PRISMA</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20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Filtrar tus resultados con criterios explícitos y documentar el proceso en un diagrama PRISMA.</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Define tus criterios de inclusión y exclusión (desde tu PICOC).</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Deduplica en Zotero (Duplicate Items).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Criba por título y resumen; marca incluido/excluido y el motivo.</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Revisa a texto completo los que pasaron.</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Completa el diagrama PRISMA con tus números (n en cada fase).</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Criterios escritos + biblioteca depurada + diagrama PRISMA con números reales.</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Cribar sin criterios previos (sesgo) o no registrar el motivo de exclusión.</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5 · 20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Matriz de literatura (estado del arte)</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20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Convertir los estudios incluidos en una matriz comparable, base del estado del arte.</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Abre la plantilla de matriz de literatura.</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Por fila: Autor/Año · Fuente(cuartil) · Objetivo · Método · Hallazgo · Limitación/vacío · Relación con tu tesis.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Pide a tu agente (U1) un borrador de cada fila desde el corpus.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Verifica cada celda contra el documento (cita textual).</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Lee la matriz por COLUMNAS: tendencias, contradicciones, vacíos.</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Matriz de literatura con 8–15 filas verificadas y la columna de vacío completa.</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Copiar el borrador del agente sin verificar; llenar solo por filas y no comparar.</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6 · 12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Detección del vacío + párrafo</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12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Identificar el vacío con evidencia y redactar un primer párrafo de estado del arte trazable.</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Analiza la columna ‘limitación/vacío’ de tu matriz.</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Nombra el tipo de vacío (ausencia, contradicción, limitación repetida, método nuevo).</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Pide al agente un párrafo de estado del arte citando tus fuentes.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Verifica cada cita (DOI, cita textual) y ajusta la redacción.</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Cierra con la fórmula de justificación: ‘a diferencia de…, esta tesis…’.</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Párrafo de estado del arte con citas verificadas + enunciado del vacío/justificación.</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Enunciar un vacío que la matriz no respalda; dejar citas sin verificar en el párrafo.</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686800" cy="274320"/>
          </a:xfrm>
          <a:prstGeom prst="rect">
            <a:avLst/>
          </a:prstGeom>
          <a:noFill/>
          <a:ln/>
        </p:spPr>
        <p:txBody>
          <a:bodyPr wrap="square" lIns="0" tIns="0" rIns="0" bIns="0" rtlCol="0" anchor="ctr"/>
          <a:lstStyle/>
          <a:p>
            <a:pPr indent="0" marL="0">
              <a:buNone/>
            </a:pPr>
            <a:r>
              <a:rPr lang="en-US" sz="1200" b="1" spc="200" kern="0" dirty="0">
                <a:solidFill>
                  <a:srgbClr val="7A1420"/>
                </a:solidFill>
                <a:latin typeface="Arial" pitchFamily="34" charset="0"/>
                <a:ea typeface="Arial" pitchFamily="34" charset="-122"/>
                <a:cs typeface="Arial" pitchFamily="34" charset="-120"/>
              </a:rPr>
              <a:t>LABORATORIO 7 · 8 MIN</a:t>
            </a:r>
            <a:endParaRPr lang="en-US" sz="1200" dirty="0"/>
          </a:p>
        </p:txBody>
      </p:sp>
      <p:sp>
        <p:nvSpPr>
          <p:cNvPr id="3" name="Text 1"/>
          <p:cNvSpPr/>
          <p:nvPr/>
        </p:nvSpPr>
        <p:spPr>
          <a:xfrm>
            <a:off x="530352" y="658368"/>
            <a:ext cx="9326880" cy="822960"/>
          </a:xfrm>
          <a:prstGeom prst="rect">
            <a:avLst/>
          </a:prstGeom>
          <a:noFill/>
          <a:ln/>
        </p:spPr>
        <p:txBody>
          <a:bodyPr wrap="square" lIns="0" tIns="0" rIns="0" bIns="0" rtlCol="0" anchor="ctr"/>
          <a:lstStyle/>
          <a:p>
            <a:pPr indent="0" marL="0">
              <a:buNone/>
            </a:pPr>
            <a:r>
              <a:rPr lang="en-US" sz="3000" b="1" dirty="0">
                <a:solidFill>
                  <a:srgbClr val="13294B"/>
                </a:solidFill>
                <a:latin typeface="Arial" pitchFamily="34" charset="0"/>
                <a:ea typeface="Arial" pitchFamily="34" charset="-122"/>
                <a:cs typeface="Arial" pitchFamily="34" charset="-120"/>
              </a:rPr>
              <a:t>Calidad, integridad y evaluación</a:t>
            </a:r>
            <a:endParaRPr lang="en-US" sz="3000" dirty="0"/>
          </a:p>
        </p:txBody>
      </p:sp>
      <p:sp>
        <p:nvSpPr>
          <p:cNvPr id="4" name="Shape 2"/>
          <p:cNvSpPr/>
          <p:nvPr/>
        </p:nvSpPr>
        <p:spPr>
          <a:xfrm>
            <a:off x="10378440" y="420624"/>
            <a:ext cx="1280160" cy="457200"/>
          </a:xfrm>
          <a:prstGeom prst="roundRect">
            <a:avLst>
              <a:gd name="adj" fmla="val 16000"/>
            </a:avLst>
          </a:prstGeom>
          <a:solidFill>
            <a:srgbClr val="EDEFF2"/>
          </a:solidFill>
          <a:ln w="12700">
            <a:solidFill>
              <a:srgbClr val="DDE2E8"/>
            </a:solidFill>
            <a:prstDash val="solid"/>
          </a:ln>
        </p:spPr>
      </p:sp>
      <p:sp>
        <p:nvSpPr>
          <p:cNvPr id="5" name="Text 3"/>
          <p:cNvSpPr/>
          <p:nvPr/>
        </p:nvSpPr>
        <p:spPr>
          <a:xfrm>
            <a:off x="10378440" y="420624"/>
            <a:ext cx="1280160" cy="457200"/>
          </a:xfrm>
          <a:prstGeom prst="rect">
            <a:avLst/>
          </a:prstGeom>
          <a:noFill/>
          <a:ln/>
        </p:spPr>
        <p:txBody>
          <a:bodyPr wrap="square" lIns="0" tIns="0" rIns="0" bIns="0" rtlCol="0" anchor="ctr"/>
          <a:lstStyle/>
          <a:p>
            <a:pPr algn="ctr" indent="0" marL="0">
              <a:buNone/>
            </a:pPr>
            <a:r>
              <a:rPr lang="en-US" sz="1200" b="1" dirty="0">
                <a:solidFill>
                  <a:srgbClr val="13294B"/>
                </a:solidFill>
                <a:latin typeface="Arial" pitchFamily="34" charset="0"/>
                <a:ea typeface="Arial" pitchFamily="34" charset="-122"/>
                <a:cs typeface="Arial" pitchFamily="34" charset="-120"/>
              </a:rPr>
              <a:t>8 min</a:t>
            </a:r>
            <a:endParaRPr lang="en-US" sz="1200" dirty="0"/>
          </a:p>
        </p:txBody>
      </p:sp>
      <p:sp>
        <p:nvSpPr>
          <p:cNvPr id="6" name="Shape 4"/>
          <p:cNvSpPr/>
          <p:nvPr/>
        </p:nvSpPr>
        <p:spPr>
          <a:xfrm>
            <a:off x="548640" y="1783080"/>
            <a:ext cx="6766560" cy="4617720"/>
          </a:xfrm>
          <a:prstGeom prst="roundRect">
            <a:avLst>
              <a:gd name="adj" fmla="val 1782"/>
            </a:avLst>
          </a:prstGeom>
          <a:solidFill>
            <a:srgbClr val="EDEFF2"/>
          </a:solidFill>
          <a:ln/>
          <a:effectLst>
            <a:outerShdw sx="100000" sy="100000" kx="0" ky="0" algn="bl" rotWithShape="0" blurRad="76200" dist="25400" dir="5400000">
              <a:srgbClr val="9AA0A6">
                <a:alpha val="35000"/>
              </a:srgbClr>
            </a:outerShdw>
          </a:effectLst>
        </p:spPr>
      </p:sp>
      <p:sp>
        <p:nvSpPr>
          <p:cNvPr id="7" name="Text 5"/>
          <p:cNvSpPr/>
          <p:nvPr/>
        </p:nvSpPr>
        <p:spPr>
          <a:xfrm>
            <a:off x="822960" y="196596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Objetivo</a:t>
            </a:r>
            <a:endParaRPr lang="en-US" sz="1500" dirty="0"/>
          </a:p>
        </p:txBody>
      </p:sp>
      <p:sp>
        <p:nvSpPr>
          <p:cNvPr id="8" name="Text 6"/>
          <p:cNvSpPr/>
          <p:nvPr/>
        </p:nvSpPr>
        <p:spPr>
          <a:xfrm>
            <a:off x="822960" y="2331720"/>
            <a:ext cx="6309360" cy="822960"/>
          </a:xfrm>
          <a:prstGeom prst="rect">
            <a:avLst/>
          </a:prstGeom>
          <a:noFill/>
          <a:ln/>
        </p:spPr>
        <p:txBody>
          <a:bodyPr wrap="square" lIns="0" tIns="0" rIns="0" bIns="0" rtlCol="0" anchor="ctr"/>
          <a:lstStyle/>
          <a:p>
            <a:pPr indent="0" marL="0">
              <a:lnSpc>
                <a:spcPct val="110000"/>
              </a:lnSpc>
              <a:buNone/>
            </a:pPr>
            <a:r>
              <a:rPr lang="en-US" sz="1450" dirty="0">
                <a:solidFill>
                  <a:srgbClr val="1F2733"/>
                </a:solidFill>
                <a:latin typeface="Arial" pitchFamily="34" charset="0"/>
                <a:ea typeface="Arial" pitchFamily="34" charset="-122"/>
                <a:cs typeface="Arial" pitchFamily="34" charset="-120"/>
              </a:rPr>
              <a:t>Auditar la calidad de las fuentes y demostrar dominio del método de revisión.</a:t>
            </a:r>
            <a:endParaRPr lang="en-US" sz="1450" dirty="0"/>
          </a:p>
        </p:txBody>
      </p:sp>
      <p:sp>
        <p:nvSpPr>
          <p:cNvPr id="9" name="Text 7"/>
          <p:cNvSpPr/>
          <p:nvPr/>
        </p:nvSpPr>
        <p:spPr>
          <a:xfrm>
            <a:off x="822960" y="3246120"/>
            <a:ext cx="6309360" cy="365760"/>
          </a:xfrm>
          <a:prstGeom prst="rect">
            <a:avLst/>
          </a:prstGeom>
          <a:noFill/>
          <a:ln/>
        </p:spPr>
        <p:txBody>
          <a:bodyPr wrap="square" lIns="0" tIns="0" rIns="0" bIns="0" rtlCol="0" anchor="ctr"/>
          <a:lstStyle/>
          <a:p>
            <a:pPr indent="0" marL="0">
              <a:buNone/>
            </a:pPr>
            <a:r>
              <a:rPr lang="en-US" sz="1500" b="1" dirty="0">
                <a:solidFill>
                  <a:srgbClr val="7A1420"/>
                </a:solidFill>
                <a:latin typeface="Arial" pitchFamily="34" charset="0"/>
                <a:ea typeface="Arial" pitchFamily="34" charset="-122"/>
                <a:cs typeface="Arial" pitchFamily="34" charset="-120"/>
              </a:rPr>
              <a:t>Pasos</a:t>
            </a:r>
            <a:endParaRPr lang="en-US" sz="1500" dirty="0"/>
          </a:p>
        </p:txBody>
      </p:sp>
      <p:sp>
        <p:nvSpPr>
          <p:cNvPr id="10" name="Text 8"/>
          <p:cNvSpPr/>
          <p:nvPr/>
        </p:nvSpPr>
        <p:spPr>
          <a:xfrm>
            <a:off x="822960" y="3657600"/>
            <a:ext cx="6309360" cy="2651760"/>
          </a:xfrm>
          <a:prstGeom prst="rect">
            <a:avLst/>
          </a:prstGeom>
          <a:noFill/>
          <a:ln/>
        </p:spPr>
        <p:txBody>
          <a:bodyPr wrap="square" lIns="0" tIns="0" rIns="0" bIns="0" rtlCol="0" anchor="ctr"/>
          <a:lstStyle/>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Verifica el cuartil (Scimago) de tus 3 fuentes principales.</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Confirma que ningún paper esté retractado (Retraction Watch) ni sea de revista depredadora.</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Revisa que toda cita del párrafo tenga DOI que resuelve.</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Responde las 5 preguntas de la rúbrica.</a:t>
            </a:r>
            <a:endParaRPr lang="en-US" sz="1400" dirty="0"/>
          </a:p>
          <a:p>
            <a:pPr marL="279400" indent="-279400">
              <a:spcAft>
                <a:spcPts val="700"/>
              </a:spcAft>
              <a:buSzPct val="100000"/>
              <a:buFont typeface="+mj-lt"/>
              <a:buAutoNum type="arabicPeriod" startAt="1"/>
            </a:pPr>
            <a:r>
              <a:rPr lang="en-US" sz="1400" dirty="0">
                <a:solidFill>
                  <a:srgbClr val="1F2733"/>
                </a:solidFill>
                <a:latin typeface="Arial" pitchFamily="34" charset="0"/>
                <a:ea typeface="Arial" pitchFamily="34" charset="-122"/>
                <a:cs typeface="Arial" pitchFamily="34" charset="-120"/>
              </a:rPr>
              <a:t>Entrega tu paquete: PICOC, cadena, PRISMA, matriz y párrafo.</a:t>
            </a:r>
            <a:endParaRPr lang="en-US" sz="1400" dirty="0"/>
          </a:p>
        </p:txBody>
      </p:sp>
      <p:sp>
        <p:nvSpPr>
          <p:cNvPr id="11" name="Shape 9"/>
          <p:cNvSpPr/>
          <p:nvPr/>
        </p:nvSpPr>
        <p:spPr>
          <a:xfrm>
            <a:off x="7498080" y="1783080"/>
            <a:ext cx="4023360" cy="2377440"/>
          </a:xfrm>
          <a:prstGeom prst="roundRect">
            <a:avLst>
              <a:gd name="adj" fmla="val 3462"/>
            </a:avLst>
          </a:prstGeom>
          <a:solidFill>
            <a:srgbClr val="E7F0E9"/>
          </a:solidFill>
          <a:ln/>
          <a:effectLst>
            <a:outerShdw sx="100000" sy="100000" kx="0" ky="0" algn="bl" rotWithShape="0" blurRad="76200" dist="25400" dir="5400000">
              <a:srgbClr val="9AA0A6">
                <a:alpha val="35000"/>
              </a:srgbClr>
            </a:outerShdw>
          </a:effectLst>
        </p:spPr>
      </p:sp>
      <p:sp>
        <p:nvSpPr>
          <p:cNvPr id="12" name="Text 10"/>
          <p:cNvSpPr/>
          <p:nvPr/>
        </p:nvSpPr>
        <p:spPr>
          <a:xfrm>
            <a:off x="7772400" y="1965960"/>
            <a:ext cx="3474720" cy="365760"/>
          </a:xfrm>
          <a:prstGeom prst="rect">
            <a:avLst/>
          </a:prstGeom>
          <a:noFill/>
          <a:ln/>
        </p:spPr>
        <p:txBody>
          <a:bodyPr wrap="square" lIns="0" tIns="0" rIns="0" bIns="0" rtlCol="0" anchor="ctr"/>
          <a:lstStyle/>
          <a:p>
            <a:pPr indent="0" marL="0">
              <a:buNone/>
            </a:pPr>
            <a:r>
              <a:rPr lang="en-US" sz="1500" b="1" dirty="0">
                <a:solidFill>
                  <a:srgbClr val="2E7D32"/>
                </a:solidFill>
                <a:latin typeface="Arial" pitchFamily="34" charset="0"/>
                <a:ea typeface="Arial" pitchFamily="34" charset="-122"/>
                <a:cs typeface="Arial" pitchFamily="34" charset="-120"/>
              </a:rPr>
              <a:t>Entregable</a:t>
            </a:r>
            <a:endParaRPr lang="en-US" sz="1500" dirty="0"/>
          </a:p>
        </p:txBody>
      </p:sp>
      <p:sp>
        <p:nvSpPr>
          <p:cNvPr id="13" name="Text 11"/>
          <p:cNvSpPr/>
          <p:nvPr/>
        </p:nvSpPr>
        <p:spPr>
          <a:xfrm>
            <a:off x="7772400" y="2331720"/>
            <a:ext cx="3520440" cy="173736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Checklist de calidad + autoevaluación + paquete completo de la Revisión de Literatura v1.</a:t>
            </a:r>
            <a:endParaRPr lang="en-US" sz="1400" dirty="0"/>
          </a:p>
        </p:txBody>
      </p:sp>
      <p:sp>
        <p:nvSpPr>
          <p:cNvPr id="14" name="Shape 12"/>
          <p:cNvSpPr/>
          <p:nvPr/>
        </p:nvSpPr>
        <p:spPr>
          <a:xfrm>
            <a:off x="7498080" y="4343400"/>
            <a:ext cx="4023360" cy="2057400"/>
          </a:xfrm>
          <a:prstGeom prst="roundRect">
            <a:avLst>
              <a:gd name="adj" fmla="val 4000"/>
            </a:avLst>
          </a:prstGeom>
          <a:solidFill>
            <a:srgbClr val="F7E4E3"/>
          </a:solidFill>
          <a:ln/>
          <a:effectLst>
            <a:outerShdw sx="100000" sy="100000" kx="0" ky="0" algn="bl" rotWithShape="0" blurRad="76200" dist="25400" dir="5400000">
              <a:srgbClr val="9AA0A6">
                <a:alpha val="35000"/>
              </a:srgbClr>
            </a:outerShdw>
          </a:effectLst>
        </p:spPr>
      </p:sp>
      <p:sp>
        <p:nvSpPr>
          <p:cNvPr id="15" name="Text 13"/>
          <p:cNvSpPr/>
          <p:nvPr/>
        </p:nvSpPr>
        <p:spPr>
          <a:xfrm>
            <a:off x="7772400" y="4526280"/>
            <a:ext cx="3474720" cy="365760"/>
          </a:xfrm>
          <a:prstGeom prst="rect">
            <a:avLst/>
          </a:prstGeom>
          <a:noFill/>
          <a:ln/>
        </p:spPr>
        <p:txBody>
          <a:bodyPr wrap="square" lIns="0" tIns="0" rIns="0" bIns="0" rtlCol="0" anchor="ctr"/>
          <a:lstStyle/>
          <a:p>
            <a:pPr indent="0" marL="0">
              <a:buNone/>
            </a:pPr>
            <a:r>
              <a:rPr lang="en-US" sz="1500" b="1" dirty="0">
                <a:solidFill>
                  <a:srgbClr val="B3261E"/>
                </a:solidFill>
                <a:latin typeface="Arial" pitchFamily="34" charset="0"/>
                <a:ea typeface="Arial" pitchFamily="34" charset="-122"/>
                <a:cs typeface="Arial" pitchFamily="34" charset="-120"/>
              </a:rPr>
              <a:t>Error común</a:t>
            </a:r>
            <a:endParaRPr lang="en-US" sz="1500" dirty="0"/>
          </a:p>
        </p:txBody>
      </p:sp>
      <p:sp>
        <p:nvSpPr>
          <p:cNvPr id="16" name="Text 14"/>
          <p:cNvSpPr/>
          <p:nvPr/>
        </p:nvSpPr>
        <p:spPr>
          <a:xfrm>
            <a:off x="7772400" y="4892040"/>
            <a:ext cx="3520440" cy="1371600"/>
          </a:xfrm>
          <a:prstGeom prst="rect">
            <a:avLst/>
          </a:prstGeom>
          <a:noFill/>
          <a:ln/>
        </p:spPr>
        <p:txBody>
          <a:bodyPr wrap="square" lIns="0" tIns="0" rIns="0" bIns="0" rtlCol="0" anchor="ctr"/>
          <a:lstStyle/>
          <a:p>
            <a:pPr indent="0" marL="0">
              <a:lnSpc>
                <a:spcPct val="115000"/>
              </a:lnSpc>
              <a:buNone/>
            </a:pPr>
            <a:r>
              <a:rPr lang="en-US" sz="1400" dirty="0">
                <a:solidFill>
                  <a:srgbClr val="1F2733"/>
                </a:solidFill>
                <a:latin typeface="Arial" pitchFamily="34" charset="0"/>
                <a:ea typeface="Arial" pitchFamily="34" charset="-122"/>
                <a:cs typeface="Arial" pitchFamily="34" charset="-120"/>
              </a:rPr>
              <a:t>Presentar la revisión sin verificar cuartiles ni estado de retractación.</a:t>
            </a:r>
            <a:endParaRPr lang="en-US" sz="1400" dirty="0"/>
          </a:p>
        </p:txBody>
      </p:sp>
      <p:sp>
        <p:nvSpPr>
          <p:cNvPr id="17" name="Text 15"/>
          <p:cNvSpPr/>
          <p:nvPr/>
        </p:nvSpPr>
        <p:spPr>
          <a:xfrm>
            <a:off x="457200" y="6446520"/>
            <a:ext cx="7315200" cy="274320"/>
          </a:xfrm>
          <a:prstGeom prst="rect">
            <a:avLst/>
          </a:prstGeom>
          <a:noFill/>
          <a:ln/>
        </p:spPr>
        <p:txBody>
          <a:bodyPr wrap="square" lIns="0" tIns="0" rIns="0" bIns="0" rtlCol="0" anchor="ctr"/>
          <a:lstStyle/>
          <a:p>
            <a:pPr algn="l" indent="0" marL="0">
              <a:buNone/>
            </a:pPr>
            <a:r>
              <a:rPr lang="en-US" sz="900" dirty="0">
                <a:solidFill>
                  <a:srgbClr val="6B7280"/>
                </a:solidFill>
                <a:latin typeface="Arial" pitchFamily="34" charset="0"/>
                <a:ea typeface="Arial" pitchFamily="34" charset="-122"/>
                <a:cs typeface="Arial" pitchFamily="34" charset="-120"/>
              </a:rPr>
              <a:t>UNIDAD 2 · Revisión de literatura y estado del arte</a:t>
            </a:r>
            <a:endParaRPr lang="en-US" sz="900" dirty="0"/>
          </a:p>
        </p:txBody>
      </p:sp>
      <p:sp>
        <p:nvSpPr>
          <p:cNvPr id="18" name="Text 16"/>
          <p:cNvSpPr/>
          <p:nvPr/>
        </p:nvSpPr>
        <p:spPr>
          <a:xfrm>
            <a:off x="11338560" y="6446520"/>
            <a:ext cx="457200" cy="274320"/>
          </a:xfrm>
          <a:prstGeom prst="rect">
            <a:avLst/>
          </a:prstGeom>
          <a:noFill/>
          <a:ln/>
        </p:spPr>
        <p:txBody>
          <a:bodyPr wrap="square" lIns="0" tIns="0" rIns="0" bIns="0" rtlCol="0" anchor="ctr"/>
          <a:lstStyle/>
          <a:p>
            <a:pPr algn="r" indent="0" marL="0">
              <a:buNone/>
            </a:pPr>
            <a:r>
              <a:rPr lang="en-US" sz="900" dirty="0">
                <a:solidFill>
                  <a:srgbClr val="6B7280"/>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7A1420"/>
        </a:solidFill>
      </p:bgPr>
    </p:bg>
    <p:spTree>
      <p:nvGrpSpPr>
        <p:cNvPr id="1" name=""/>
        <p:cNvGrpSpPr/>
        <p:nvPr/>
      </p:nvGrpSpPr>
      <p:grpSpPr>
        <a:xfrm>
          <a:off x="0" y="0"/>
          <a:ext cx="0" cy="0"/>
          <a:chOff x="0" y="0"/>
          <a:chExt cx="0" cy="0"/>
        </a:xfrm>
      </p:grpSpPr>
      <p:sp>
        <p:nvSpPr>
          <p:cNvPr id="2" name="Shape 0"/>
          <p:cNvSpPr/>
          <p:nvPr/>
        </p:nvSpPr>
        <p:spPr>
          <a:xfrm>
            <a:off x="0" y="5989320"/>
            <a:ext cx="12188952" cy="868680"/>
          </a:xfrm>
          <a:prstGeom prst="rect">
            <a:avLst/>
          </a:prstGeom>
          <a:solidFill>
            <a:srgbClr val="13294B"/>
          </a:solidFill>
          <a:ln/>
        </p:spPr>
      </p:sp>
      <p:pic>
        <p:nvPicPr>
          <p:cNvPr id="3" name="Image 0" descr="img/uni_fim.png">    </p:cNvPr>
          <p:cNvPicPr>
            <a:picLocks noChangeAspect="1"/>
          </p:cNvPicPr>
          <p:nvPr/>
        </p:nvPicPr>
        <p:blipFill>
          <a:blip r:embed="rId1"/>
          <a:stretch>
            <a:fillRect/>
          </a:stretch>
        </p:blipFill>
        <p:spPr>
          <a:xfrm>
            <a:off x="10287000" y="457200"/>
            <a:ext cx="1371600" cy="1737360"/>
          </a:xfrm>
          <a:prstGeom prst="rect">
            <a:avLst/>
          </a:prstGeom>
        </p:spPr>
      </p:pic>
      <p:sp>
        <p:nvSpPr>
          <p:cNvPr id="4" name="Text 1"/>
          <p:cNvSpPr/>
          <p:nvPr/>
        </p:nvSpPr>
        <p:spPr>
          <a:xfrm>
            <a:off x="640080" y="1371600"/>
            <a:ext cx="9326880" cy="1463040"/>
          </a:xfrm>
          <a:prstGeom prst="rect">
            <a:avLst/>
          </a:prstGeom>
          <a:noFill/>
          <a:ln/>
        </p:spPr>
        <p:txBody>
          <a:bodyPr wrap="square" lIns="0" tIns="0" rIns="0" bIns="0" rtlCol="0" anchor="ctr"/>
          <a:lstStyle/>
          <a:p>
            <a:pPr indent="0" marL="0">
              <a:lnSpc>
                <a:spcPct val="100000"/>
              </a:lnSpc>
              <a:buNone/>
            </a:pPr>
            <a:r>
              <a:rPr lang="en-US" sz="3400" b="1" dirty="0">
                <a:solidFill>
                  <a:srgbClr val="FFFFFF"/>
                </a:solidFill>
                <a:latin typeface="Arial" pitchFamily="34" charset="0"/>
                <a:ea typeface="Arial" pitchFamily="34" charset="-122"/>
                <a:cs typeface="Arial" pitchFamily="34" charset="-120"/>
              </a:rPr>
              <a:t>“Hoy construí el estado del arte de mi tesis.”</a:t>
            </a:r>
            <a:endParaRPr lang="en-US" sz="3400" dirty="0"/>
          </a:p>
        </p:txBody>
      </p:sp>
      <p:sp>
        <p:nvSpPr>
          <p:cNvPr id="5" name="Text 2"/>
          <p:cNvSpPr/>
          <p:nvPr/>
        </p:nvSpPr>
        <p:spPr>
          <a:xfrm>
            <a:off x="658368" y="2880360"/>
            <a:ext cx="9052560" cy="914400"/>
          </a:xfrm>
          <a:prstGeom prst="rect">
            <a:avLst/>
          </a:prstGeom>
          <a:noFill/>
          <a:ln/>
        </p:spPr>
        <p:txBody>
          <a:bodyPr wrap="square" lIns="0" tIns="0" rIns="0" bIns="0" rtlCol="0" anchor="ctr"/>
          <a:lstStyle/>
          <a:p>
            <a:pPr indent="0" marL="0">
              <a:lnSpc>
                <a:spcPct val="115000"/>
              </a:lnSpc>
              <a:buNone/>
            </a:pPr>
            <a:r>
              <a:rPr lang="en-US" sz="1600" dirty="0">
                <a:solidFill>
                  <a:srgbClr val="F3D6DA"/>
                </a:solidFill>
                <a:latin typeface="Arial" pitchFamily="34" charset="0"/>
                <a:ea typeface="Arial" pitchFamily="34" charset="-122"/>
                <a:cs typeface="Arial" pitchFamily="34" charset="-120"/>
              </a:rPr>
              <a:t>Te llevas: tu cadena de búsqueda, tu diagrama PRISMA, tu matriz de literatura y tu párrafo con el vacío — el corazón de tus Capítulos I y II.</a:t>
            </a:r>
            <a:endParaRPr lang="en-US" sz="1600" dirty="0"/>
          </a:p>
        </p:txBody>
      </p:sp>
      <p:sp>
        <p:nvSpPr>
          <p:cNvPr id="6" name="Text 3"/>
          <p:cNvSpPr/>
          <p:nvPr/>
        </p:nvSpPr>
        <p:spPr>
          <a:xfrm>
            <a:off x="658368" y="4069080"/>
            <a:ext cx="10058400" cy="548640"/>
          </a:xfrm>
          <a:prstGeom prst="rect">
            <a:avLst/>
          </a:prstGeom>
          <a:noFill/>
          <a:ln/>
        </p:spPr>
        <p:txBody>
          <a:bodyPr wrap="square" lIns="0" tIns="0" rIns="0" bIns="0" rtlCol="0" anchor="ctr"/>
          <a:lstStyle/>
          <a:p>
            <a:pPr indent="0" marL="0">
              <a:buNone/>
            </a:pPr>
            <a:r>
              <a:rPr lang="en-US" sz="1900" dirty="0">
                <a:solidFill>
                  <a:srgbClr val="F0C9CE"/>
                </a:solidFill>
                <a:latin typeface="Arial" pitchFamily="34" charset="0"/>
                <a:ea typeface="Arial" pitchFamily="34" charset="-122"/>
                <a:cs typeface="Arial" pitchFamily="34" charset="-120"/>
              </a:rPr>
              <a:t>Una revisión es un argumento con evidencia.  </a:t>
            </a:r>
            <a:pPr indent="0" marL="0">
              <a:buNone/>
            </a:pPr>
            <a:r>
              <a:rPr lang="en-US" sz="1900" b="1" dirty="0">
                <a:solidFill>
                  <a:srgbClr val="FFFFFF"/>
                </a:solidFill>
                <a:latin typeface="Arial" pitchFamily="34" charset="0"/>
                <a:ea typeface="Arial" pitchFamily="34" charset="-122"/>
                <a:cs typeface="Arial" pitchFamily="34" charset="-120"/>
              </a:rPr>
              <a:t>El vacío justifica tu tesis.</a:t>
            </a:r>
            <a:endParaRPr lang="en-US" sz="1900" dirty="0"/>
          </a:p>
        </p:txBody>
      </p:sp>
      <p:pic>
        <p:nvPicPr>
          <p:cNvPr id="7" name="Image 1" descr="img/qr_linkedin.png">    </p:cNvPr>
          <p:cNvPicPr>
            <a:picLocks noChangeAspect="1"/>
          </p:cNvPicPr>
          <p:nvPr/>
        </p:nvPicPr>
        <p:blipFill>
          <a:blip r:embed="rId2"/>
          <a:stretch>
            <a:fillRect/>
          </a:stretch>
        </p:blipFill>
        <p:spPr>
          <a:xfrm>
            <a:off x="658368" y="4754880"/>
            <a:ext cx="1051560" cy="1051560"/>
          </a:xfrm>
          <a:prstGeom prst="rect">
            <a:avLst/>
          </a:prstGeom>
        </p:spPr>
      </p:pic>
      <p:sp>
        <p:nvSpPr>
          <p:cNvPr id="8" name="Text 4"/>
          <p:cNvSpPr/>
          <p:nvPr/>
        </p:nvSpPr>
        <p:spPr>
          <a:xfrm>
            <a:off x="1874520" y="4800600"/>
            <a:ext cx="5486400" cy="1005840"/>
          </a:xfrm>
          <a:prstGeom prst="rect">
            <a:avLst/>
          </a:prstGeom>
          <a:noFill/>
          <a:ln/>
        </p:spPr>
        <p:txBody>
          <a:bodyPr wrap="square" lIns="0" tIns="0" rIns="0" bIns="0" rtlCol="0" anchor="ctr"/>
          <a:lstStyle/>
          <a:p>
            <a:pPr indent="0" marL="0">
              <a:buNone/>
            </a:pPr>
            <a:r>
              <a:rPr lang="en-US" sz="1600" b="1" dirty="0">
                <a:solidFill>
                  <a:srgbClr val="FFFFFF"/>
                </a:solidFill>
                <a:latin typeface="Arial" pitchFamily="34" charset="0"/>
                <a:ea typeface="Arial" pitchFamily="34" charset="-122"/>
                <a:cs typeface="Arial" pitchFamily="34" charset="-120"/>
              </a:rPr>
              <a:t>Corina Lazo Arroyo
</a:t>
            </a:r>
            <a:pPr indent="0" marL="0">
              <a:buNone/>
            </a:pPr>
            <a:r>
              <a:rPr lang="en-US" sz="1400" dirty="0">
                <a:solidFill>
                  <a:srgbClr val="F3D6DA"/>
                </a:solidFill>
                <a:latin typeface="Arial" pitchFamily="34" charset="0"/>
                <a:ea typeface="Arial" pitchFamily="34" charset="-122"/>
                <a:cs typeface="Arial" pitchFamily="34" charset="-120"/>
              </a:rPr>
              <a:t>linkedin.com/in/corina-lazo-arroyo
</a:t>
            </a:r>
            <a:pPr indent="0" marL="0">
              <a:buNone/>
            </a:pPr>
            <a:r>
              <a:rPr lang="en-US" sz="1400" dirty="0">
                <a:solidFill>
                  <a:srgbClr val="F3D6DA"/>
                </a:solidFill>
                <a:latin typeface="Arial" pitchFamily="34" charset="0"/>
                <a:ea typeface="Arial" pitchFamily="34" charset="-122"/>
                <a:cs typeface="Arial" pitchFamily="34" charset="-120"/>
              </a:rPr>
              <a:t>github.com/920052859</a:t>
            </a:r>
            <a:endParaRPr lang="en-US" sz="1600" dirty="0"/>
          </a:p>
        </p:txBody>
      </p:sp>
      <p:sp>
        <p:nvSpPr>
          <p:cNvPr id="9" name="Text 5"/>
          <p:cNvSpPr/>
          <p:nvPr/>
        </p:nvSpPr>
        <p:spPr>
          <a:xfrm>
            <a:off x="658368" y="6144768"/>
            <a:ext cx="10972800" cy="548640"/>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¡Gracias! Conéctate conmigo — escanea el QR.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2026-08-19T03:14:25Z</dcterms:created>
  <dcterms:modified xsi:type="dcterms:W3CDTF">2026-08-19T03:14:25Z</dcterms:modified>
</cp:coreProperties>
</file>