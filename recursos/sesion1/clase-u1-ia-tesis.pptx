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Bienvenida (30–60 s). Enmarca la sesión: hoy no es una clase 'sobre chatbots'; es una clase de método de investigación asistida por IA aplicada directamente a su Trabajo de Suficiencia Profesional (TSP). Al final se llevan un agente que trabaja con SUS documentos. Anuncia el ritmo: poco slide, mucho laboratorio.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Preséntate en ~90 s. Conecta tu trayectoria con la promesa de la clase: llevas años decidiendo qué dato es confiable en contextos de alto riesgo (ferroviario, energético) — ahí es donde la IA ayuda pero NO decide. Invita a que escaneen el QR para conectar en LinkedIn. Recalca la filosofía: el foco es el aprendizaje transferible a su tesis.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Fija el contrato pedagógico (2 min). Lee los tres principios en voz alta y pide que los anoten: serán el criterio con el que evaluaremos cada respuesta de IA hoy. El principio 1 es la frase-ancla de toda la sesión. Anticipa: al final ellos mismos construirán una IA que respeta estos principios (responde solo con fuentes).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empieces definiendo IA. Muestra la afirmación y deja que la lean en silencio 20 s. Es plausible: cifra concreta, autores, journal, DOI con formato real. Pide votación abierta a mano alzada y cuenta cuántos la usarían. No corrijas todavía. Ejemplo aplicado: 'Imaginen que están escribiendo el Capítulo I de su TSP, sección Antecedentes, y necesitan un dato de impacto como este.' Deja tensión.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giro (2 min). Revela que inventaste la cita (o que la generó una IA). Pregunta a quienes votaron 'la usaría': ¿qué los convenció? Normalmente: el DOI y el formato. Ese es el punto: nuestro cerebro confunde forma con verdad, y los LLM son máquinas de producir forma perfecta. Introduce el término: PLAUSIBILIDAD ≠ VERDAD. Esta es la herida que la clase entera va a curar con método.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 el mapa en 1 min. Enfatiza la proporción: se habla poco, se hace mucho. El laboratorio es la clase; la teoría solo carga la munición conceptual. Señala el producto final y promete: 'se van con algo que sirve el lunes para su TSP'.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Núcleo conceptual (4–5 min). Dibuja mentalmente los conjuntos anidados: toda IA generativa es ML, pero no todo ML es generativo. Ejemplo de ingeniería: un Random Forest que predice pre-fallas en señales SCADA es ML clásico, NO generativo — no 'inventa', clasifica. Un LLM que te redacta el estado del arte sí es generativo. Aclara el malentendido más común del posgrado: 'IA' no es sinónimo de 'ChatGPT'.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Recorre la tabla rápido (3 min). El objetivo pedagógico: que puedan colocar cualquier herramienta en su capa. Pregunta de sondeo: '¿Zotero es IA?' (no, es gestión). '¿NotebookLM?' (LLM + RAG). Deja claro que esta clase usa sobre todo la última fila — LLM — pero disciplinados con evidencia.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2–3 min. Ejemplo tomado de mi experiencia en PI System/SCADA (Red de Energía del Perú, Hitachi Rail): las pre-fallas se detectan con ML clásico sobre señales. Contrasta con el siguiente slide: aquí la salida es un número que se puede validar contra fallas reales — hay verdad de terreno (ground truth). Guarda esa idea: en investigación también buscamos ground truth = la fuente.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2–3 min. Este es exactamente el flujo del agente que construiremos hoy. La diferencia clave con el Ejemplo 1: no hay verificación automática; el investigador es el ground truth. Por eso todo el laboratorio gira en torno a controlar la entrada (corpus confiable) y auditar la salida (trazabilidad). Transición: '¿cómo hace un LLM esto por dentro? Por qué a veces miente con seguridad?'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min. Enmarca de forma madura: la IA es un multiplicador de productividad, no un sustituto del investigador. Pregunta al aula: '¿en qué parte de su TSP creen que ganarían más tiempo?' Recoge 2–3 respuestas. Transición al Bloque C: para usarla bien hay que entender su talón de Aquiles.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3–4 min. Explica sin matemáticas: el texto se parte en tokens (~fragmentos de palabra), el modelo aprende qué token suele seguir a cuál, y genera prediciendo el siguiente más probable dado el contexto. Analogía: un autocompletado extraordinariamente sofisticado. Idea clave para investigadores: su objetivo nativo es la fluidez, no la verdad. La verdad hay que inyectarla (grounding/RAG, Bloque 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min. Define alucinación con el ejemplo del slide 4 ya vivido por ellos. Aterriza a ingeniería: si citas un '47% de reducción' inventado en tu TSP y el jurado te pide la fuente, tu credibilidad cae. La alucinación no es un bug raro: es una consecuencia del diseño. La estrategia no es 'confiar más' sino 'verificar siempre'.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 + microactividad. Pide que abran doi.org en el celular y peguen el DOI: no resuelve. Enséñales el reflejo profesional: verificar DOI, buscar el journal en el índice, buscar a los autores. Este hábito es el germen del LAB 1 (Detective de evidencia) y del LAB 6 (detección de alucinaciones). Transición: 'ya vimos el riesgo; ahora, ¿qué es investigar de verdad?'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min. Contrasta visualmente los dos procesos. El Modelo 1 es lo que la mayoría hace por defecto con un chatbot. El Modelo 2 es lo que exige una tesis. Pregunta directa (siguiente slide). Aterriza: 'la IA puede AYUDAR en varios pasos del Modelo 2 (búsqueda, síntesis), pero no reemplaza el proceso'.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1–2 min. Pregunta abierta, deja que respondan: 'el 2'. Refuerza el segundo gran principio: IA ≠ fuente científica. La IA es un instrumento dentro del proceso, nunca la autoridad final. Transición: '¿cómo obligamos a la IA a trabajar con fuentes reales? Eso se llama grounding'.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min. Grounding = 'anclar' la respuesta a evidencia. Compara las dos versiones de la misma afirmación. La segunda es la única admisible en un TSP porque el jurado puede ir a la fuente. Enlaza con la operacionalización de variables de su estructura de tesis: cada indicador necesita respaldo. Transición: la técnica que hace grounding automático se llama RAG.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3–4 min. Este es el diagrama más importante del día: es literalmente lo que hace NotebookLM y lo que configuraremos en Claude. Recorre el flujo de arriba abajo. Insiste: el orden importa — recuperar ANTES de generar es lo que ancla la respuesta. Enlaza directamente: 'en el laboratorio ustedes serán el corpus que alimenta este flujo'.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2–3 min. Tabla decisiva. En su TSP, el Capítulo IV (Resultados) y la contrastación de hipótesis SOLO admiten la columna derecha. Un dato de IA sin fuente vive, como máximo, en la columna 'información': es hipótesis, no prueba. Pregunta: '¿dónde han metido información creyendo que era evidencia?' Transición al Bloque F: cómo pasar de una IA que solo responde a una que investiga.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2–3 min. El salto conceptual del día: un chatbot reacciona a un prompt; un agente persigue un objetivo, descompone la tarea, busca, usa herramientas y itera hasta lograrlo. En 40 min ustedes van a configurar un agente con un objetivo fijo: responder solo con SUS fuentes. Prepáralos psicológicamente: 'no es programar; es diseñar el comportamiento y las reglas'.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min. Ubica a las herramientas conocidas en esta línea evolutiva: ChatGPT 'a secas' = Gen 1; NotebookLM y Claude con tus documentos = Gen 2; un flujo con instrucciones de sistema, comparación e iteración = Gen 3. Transición al Bloque G: antes de construir, necesitamos las reglas del juego: fuentes, trazabilidad y ética.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min. Sube por la pirámide: mientras más cerca de la fuente original, más peso en la tesis. La IA sin fuentes está en la base: es apoyo para pensar, jamás para citar. La IA fundamentada (RAG) sube un escalón porque devuelve la fuente, pero igual hay que ir al original. Enlaza con Antecedentes del TSP: los 3–5 antecedentes deben venir de la cima, no de un chatbot.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min. Compara ambos y deja que elijan según su ecosistema (recomiendo Zotero por ser abierto y estándar). Demo mental: instalar el conector, capturar un paper con un clic, arrastrar el DOI. Enfatiza el flujo TSP: el agente sugiere antecedentes → verificas DOI → guardas en Zotero/Mendeley → citas en Word. El gestor es la memoria bibliográfica de tu tesis.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min. Este semáforo es la regla ética operativa de la clase. VERDE: úsala libremente. AMARILLO: permitido pero con verificación obligatoria — aquí vive el 80% del trabajo de tesis. ROJO: fabricar cualquier cosa es mala conducta académica y puede anular la titulación. Pide ejemplos de cada color aplicados a su TSP.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2–3 min. Cierre ético del bloque teórico. La IA no diluye la responsabilidad: la concentra. El jurado no le pregunta a la IA; te pregunta a ti. Trazabilidad + citación correcta + declaración de uso = integridad. Recuerda la estructura del TSP: Referencias y Anexos deben poder defenderse línea por línea.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Momento de energía (30–60 s). Cierra la teoría con esta frase-bisagra. Pide que abran laptop, tengan a mano 3–10 documentos confiables de su tema y accesos a NotebookLM y Claude. A partir de aquí, tú te vuelves facilitador: circula, no expongas.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min. Da el mapa del laboratorio y las reglas: trabajo individual con apoyo entre pares; cada estación deja una evidencia concreta que se pega en la hoja de laboratorio. Anuncia que el LAB 3 es el corazón y el que más tiempo toma. Marca el reloj visible.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 min. Calienta el músculo verificador antes de tocar el agente. Reparte la ficha (4 citas, 2 reales / 2 fabricadas, una de ellas la del slide 4). Circula preguntando '¿qué te hizo dudar?'. Cierra en 2 min poniendo en común: el DOI que no resuelve y la revista ausente en el índice son las señales más fuertes. Conecta: 'este es el control de calidad que tu agente debe respetar'.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 min. Sin corpus confiable no hay agente confiable ('garbage in, garbage out'). Ayuda a quienes no tengan documentos a mano: pueden usar 3–5 papers de su asesor o de Scopus. Insiste en la nomenclatura Autor_Año y en registrar el DOI. Esta carpeta es la base del LAB 3 y alimenta directamente los Antecedentes del Capítulo I del TSP.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25 min — corazón de la sesión. Explica el reparto: NotebookLM da RAG estricto con citación al fragmento exacto (ideal para 'no inventar'); Claude Projects da razonamiento potente para comparar, contrastar y armar tablas. Proyecta las 'Instrucciones del Agente' de la hoja y guíalos a pegarlas en Claude. Verifica que cada estudiante logre al menos una respuesta con fuente antes de avanzar. Es normal que tome tiempo: prioriza que TODOS terminen este 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18 min. Aquí el estudiante experimenta el valor real: el agente lee SU corpus y responde con trazabilidad. Modela una buena pregunta ('¿qué métodos usan los antecedentes para medir X?') vs una vaga. Insiste en la etiqueta triple EVIDENCIA/INTERPRETACIÓN/NO ENCONTRADO: es lo que separa investigación de charla. Las coincidencias/contradicciones alimentan la Discusión de Resultados del TSP.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 min. La matriz es el entregable más transferible: es, básicamente, la Matriz de Consistencia / tabla de antecedentes del TSP. Recalca la última columna (EVIDENCIA vs INFERENCIA): el estudiante debe poder decir de cada celda 'esto salió del documento' o 'esto lo infirió la IA y debo comprobarlo'. Esa distinción es el objetivo pedagógico central del día.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13 min. Enséñales a desconfiar productivamente de su propia creación. La prueba clave: preguntar algo ausente del corpus; un buen agente debe decir 'no hay evidencia suficiente', no inventar. Si inventa, ajustan las instrucciones (añaden 'si no está en las fuentes, dilo'). Cierra el círculo con el LAB 1: la misma vigilancia, ahora sobre su herramienta.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min. Evaluación centrada en aprendizaje, no en nota. Aplica el checklist de la rúbrica (hoja de laboratorio). Lo esencial: que cada estudiante pueda señalar, con seguridad, qué información salió de una fuente y qué infirió la IA. Cierra reconociendo el avance real en su TSP antes del slide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(1–2 min). Refuerza el logro: no solo aprendieron sobre IA — construyeron una y avanzaron su tesis. Repite la frase-ancla. Invita a conectar por LinkedIn/GitHub para seguir compartiendo recursos. Recuerda entregar el paquete de evidencias del laboratorio.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A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A14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89320"/>
            <a:ext cx="12188952" cy="868680"/>
          </a:xfrm>
          <a:prstGeom prst="rect">
            <a:avLst/>
          </a:prstGeom>
          <a:solidFill>
            <a:srgbClr val="13294B"/>
          </a:solidFill>
          <a:ln/>
        </p:spPr>
      </p:sp>
      <p:pic>
        <p:nvPicPr>
          <p:cNvPr id="4" name="Image 0" descr="img/uni_f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411480"/>
            <a:ext cx="1463040" cy="1874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68580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0C9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NACIONAL DE INGENIERÍA  ·  FACULTAD DE INGENIERÍA MECÁNICA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E4A9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TITULACIÓN PROFESIONAL 2026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196596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Herramientas Digitales e Inteligencia Artificial aplicadas al desarrollo de tesis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658368" y="39776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 1 — </a:t>
            </a:r>
            <a:pPr indent="0" marL="0">
              <a:buNone/>
            </a:pPr>
            <a:r>
              <a:rPr lang="en-US" sz="2000" dirty="0">
                <a:solidFill>
                  <a:srgbClr val="F3D6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Fundamentos de IA y ecosistema de herramientas digitales para la investigación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58368" y="614476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 minutos  ·  40% teoría  +  60% laboratorio  ·  Producto final: “Mi Agente de Investigación v1”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6400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FB4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DOCENTE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Corina Lazo Arroyo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205740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DCE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Ing. Mecatrónica — UNI
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CE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Doctoranda en Ciencia de Datos — UNSA
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CE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MSc. Gerencia de Proyectos — ESAN
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CE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Summer School (MIT · Harvard · DeepMind)</a:t>
            </a:r>
            <a:endParaRPr lang="en-US" sz="1350" dirty="0"/>
          </a:p>
        </p:txBody>
      </p:sp>
      <p:pic>
        <p:nvPicPr>
          <p:cNvPr id="6" name="Image 0" descr="img/qr_linked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4160520"/>
            <a:ext cx="1737360" cy="1737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58978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FD0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Escanéame → LinkedIn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709160" y="77724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A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 apasiona innovar y programar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709160" y="1417320"/>
            <a:ext cx="6903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Trabajo Machine Learning e IA aplicada a datos y señales industriales: modelos predictivos, automatización y BI en sistemas energéticos y ferroviarios (Hitachi Rail, Siemens, Red de Energía del Perú, EY). Primera mujer en graduarse de Mecatrónica UNI en 4 años. Hoy comparto con ustedes el método con el que investigo.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709160" y="3200400"/>
            <a:ext cx="6903720" cy="868680"/>
          </a:xfrm>
          <a:prstGeom prst="roundRect">
            <a:avLst>
              <a:gd name="adj" fmla="val 9474"/>
            </a:avLst>
          </a:prstGeom>
          <a:solidFill>
            <a:srgbClr val="EDEFF2"/>
          </a:solidFill>
          <a:ln/>
          <a:effectLst>
            <a:outerShdw sx="100000" sy="100000" kx="0" ky="0" algn="bl" rotWithShape="0" blurRad="76200" dist="25400" dir="5400000">
              <a:srgbClr val="9AA0A6">
                <a:alpha val="3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983480" y="320040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
</a:t>
            </a:r>
            <a:pPr indent="0" marL="0">
              <a:buNone/>
            </a:pPr>
            <a:r>
              <a:rPr lang="en-US" sz="14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linkedin.com/in/corina-lazo-arroyo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709160" y="4206240"/>
            <a:ext cx="6903720" cy="868680"/>
          </a:xfrm>
          <a:prstGeom prst="roundRect">
            <a:avLst>
              <a:gd name="adj" fmla="val 9474"/>
            </a:avLst>
          </a:prstGeom>
          <a:solidFill>
            <a:srgbClr val="EDEFF2"/>
          </a:solidFill>
          <a:ln/>
          <a:effectLst>
            <a:outerShdw sx="100000" sy="100000" kx="0" ky="0" algn="bl" rotWithShape="0" blurRad="76200" dist="25400" dir="5400000">
              <a:srgbClr val="9AA0A6">
                <a:alpha val="3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983480" y="420624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
</a:t>
            </a:r>
            <a:pPr indent="0" marL="0">
              <a:buNone/>
            </a:pPr>
            <a:r>
              <a:rPr lang="en-US" sz="14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github.com/920052859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709160" y="5212080"/>
            <a:ext cx="6903720" cy="960120"/>
          </a:xfrm>
          <a:prstGeom prst="roundRect">
            <a:avLst>
              <a:gd name="adj" fmla="val 8571"/>
            </a:avLst>
          </a:prstGeom>
          <a:solidFill>
            <a:srgbClr val="F3E1E4"/>
          </a:solidFill>
          <a:ln/>
        </p:spPr>
      </p:sp>
      <p:sp>
        <p:nvSpPr>
          <p:cNvPr id="15" name="Text 12"/>
          <p:cNvSpPr/>
          <p:nvPr/>
        </p:nvSpPr>
        <p:spPr>
          <a:xfrm>
            <a:off x="4983480" y="5212080"/>
            <a:ext cx="6400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7A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“Hoy quiero que aprendan más — no que se preocupen por la nota. La nota es consecuencia del método.”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 1 · Fundamentos de IA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29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FB4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TRABAJAREMOS HOY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principios que no negociamos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66160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0A6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94560"/>
            <a:ext cx="777240" cy="777240"/>
          </a:xfrm>
          <a:prstGeom prst="roundRect">
            <a:avLst>
              <a:gd name="adj" fmla="val 14118"/>
            </a:avLst>
          </a:prstGeom>
          <a:solidFill>
            <a:srgbClr val="7A142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945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22960" y="315468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IA genera respuestas.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investigación exige evidencia.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15968" y="1920240"/>
            <a:ext cx="3566160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0A6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90288" y="2194560"/>
            <a:ext cx="777240" cy="777240"/>
          </a:xfrm>
          <a:prstGeom prst="roundRect">
            <a:avLst>
              <a:gd name="adj" fmla="val 14118"/>
            </a:avLst>
          </a:prstGeom>
          <a:solidFill>
            <a:srgbClr val="9B2233"/>
          </a:solidFill>
          <a:ln/>
        </p:spPr>
      </p:sp>
      <p:sp>
        <p:nvSpPr>
          <p:cNvPr id="10" name="Text 8"/>
          <p:cNvSpPr/>
          <p:nvPr/>
        </p:nvSpPr>
        <p:spPr>
          <a:xfrm>
            <a:off x="4590288" y="21945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590288" y="315468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Buscar → verificar →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organizar → analizar → citar.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083296" y="1920240"/>
            <a:ext cx="3566160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0A6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57616" y="2194560"/>
            <a:ext cx="777240" cy="777240"/>
          </a:xfrm>
          <a:prstGeom prst="roundRect">
            <a:avLst>
              <a:gd name="adj" fmla="val 14118"/>
            </a:avLst>
          </a:prstGeom>
          <a:solidFill>
            <a:srgbClr val="1F4068"/>
          </a:solidFill>
          <a:ln/>
        </p:spPr>
      </p:sp>
      <p:sp>
        <p:nvSpPr>
          <p:cNvPr id="14" name="Text 12"/>
          <p:cNvSpPr/>
          <p:nvPr/>
        </p:nvSpPr>
        <p:spPr>
          <a:xfrm>
            <a:off x="8357616" y="21945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8357616" y="315468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≠ fuente científica.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48640" y="4892040"/>
            <a:ext cx="10917936" cy="1234440"/>
          </a:xfrm>
          <a:prstGeom prst="roundRect">
            <a:avLst>
              <a:gd name="adj" fmla="val 6667"/>
            </a:avLst>
          </a:prstGeom>
          <a:solidFill>
            <a:srgbClr val="7A1420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892040"/>
            <a:ext cx="10149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D6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de hoy:  </a:t>
            </a:r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memorizas herramientas — 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avanzas tu tesis.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 1 · Fundamentos de IA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A · IMPACTO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¿Usarías esta afirmación en tu tesis?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378440" y="420624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EDEFF2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78440" y="420624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0–8 min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0972800" cy="2651760"/>
          </a:xfrm>
          <a:prstGeom prst="roundRect">
            <a:avLst>
              <a:gd name="adj" fmla="val 3103"/>
            </a:avLst>
          </a:prstGeom>
          <a:solidFill>
            <a:srgbClr val="EDEFF2"/>
          </a:solidFill>
          <a:ln/>
          <a:effectLst>
            <a:outerShdw sx="100000" sy="100000" kx="0" ky="0" algn="bl" rotWithShape="0" blurRad="76200" dist="25400" dir="5400000">
              <a:srgbClr val="9AA0A6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965960"/>
            <a:ext cx="10241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i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“El mantenimiento predictivo basado en deep learning reduce las fallas no planificadas en un 47 % en sistemas ferroviarios (Zhang &amp; Roberts, 2021). Journal of Rail Maintenance Engineering, 18(3), 210–229. DOI: 10.1016/j.jrme.2021.03.014.”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47091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Vota levantando la mano:   </a:t>
            </a:r>
            <a:pPr algn="ctr" indent="0" marL="0">
              <a:buNone/>
            </a:pPr>
            <a:r>
              <a:rPr lang="en-US" sz="20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✋ la usaría        </a:t>
            </a:r>
            <a:pPr algn="ctr" indent="0" marL="0">
              <a:buNone/>
            </a:pPr>
            <a:r>
              <a:rPr lang="en-US" sz="200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✋ no la usaría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55778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Guárdala. Volveremos a ella en 60 segundos.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 1 · Fundamentos de IA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7A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55448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Plausibilidad ≠ verdad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58368" y="292608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6DD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Esa referencia no existe. El journal, el DOI y los autores fueron inventados.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4023360"/>
            <a:ext cx="10881360" cy="1463040"/>
          </a:xfrm>
          <a:prstGeom prst="roundRect">
            <a:avLst>
              <a:gd name="adj" fmla="val 5625"/>
            </a:avLst>
          </a:prstGeom>
          <a:solidFill>
            <a:srgbClr val="13294B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4023360"/>
            <a:ext cx="10149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Sonó perfecta — por eso es peligrosa. Una afirmación convincente no es, por sí sola, evidencia.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 1 · Fundamentos de IA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RUTA DE LA SESIÓN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mapa de hoy — 180 minutos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3977640"/>
          </a:xfrm>
          <a:prstGeom prst="roundRect">
            <a:avLst>
              <a:gd name="adj" fmla="val 2069"/>
            </a:avLst>
          </a:prstGeom>
          <a:solidFill>
            <a:srgbClr val="EDEFF2"/>
          </a:solidFill>
          <a:ln/>
          <a:effectLst>
            <a:outerShdw sx="100000" sy="100000" kx="0" ky="0" algn="bl" rotWithShape="0" blurRad="76200" dist="25400" dir="5400000">
              <a:srgbClr val="9AA0A6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202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TEORÍA · 72 min (40%)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4892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35000"/>
              </a:lnSpc>
              <a:buSzPct val="100000"/>
              <a:buChar char="–"/>
            </a:pPr>
            <a:r>
              <a:rPr lang="en-US" sz="14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· Impacto: plausibilidad ≠ verdad
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· IA, ML, Deep Learning, LLM, IA generativa
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· Cómo funciona un LLM · alucinaciones
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· Responder vs. investigar
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· Grounding y RAG
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 · Del chatbot al agente
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 · Fuentes, trazabilidad y ética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26480" y="1691640"/>
            <a:ext cx="5394960" cy="3977640"/>
          </a:xfrm>
          <a:prstGeom prst="roundRect">
            <a:avLst>
              <a:gd name="adj" fmla="val 2069"/>
            </a:avLst>
          </a:prstGeom>
          <a:solidFill>
            <a:srgbClr val="F3E1E4"/>
          </a:solidFill>
          <a:ln/>
          <a:effectLst>
            <a:outerShdw sx="100000" sy="100000" kx="0" ky="0" algn="bl" rotWithShape="0" blurRad="76200" dist="25400" dir="5400000">
              <a:srgbClr val="9AA0A6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0" y="19202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LABORATORIO · 108 min (60%)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2377440"/>
            <a:ext cx="4892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35000"/>
              </a:lnSpc>
              <a:buSzPct val="100000"/>
              <a:buChar char="–"/>
            </a:pPr>
            <a:r>
              <a:rPr lang="en-US" sz="14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Detective de evidencia
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Corpus de investigación
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Construcción del Agente (NotebookLM + Claude)
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Interrogación científica del agente
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Matriz de evidencia
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· Verificación cruzada y alucinaciones
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· Mini evaluación final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5806440"/>
            <a:ext cx="10972800" cy="685800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580644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FB4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 final:  </a:t>
            </a:r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“Mi Agente de Investigación v1”, especializado en tu tema de tesis y alimentado con 3–10 documentos confiables.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 1 · Fundamentos de IA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B · FUNDAMENTOS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universo de la IA, en capas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378440" y="420624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EDEFF2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78440" y="420624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8–25 min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6766560" cy="4160520"/>
          </a:xfrm>
          <a:prstGeom prst="roundRect">
            <a:avLst>
              <a:gd name="adj" fmla="val 1319"/>
            </a:avLst>
          </a:prstGeom>
          <a:solidFill>
            <a:srgbClr val="F0EBE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87452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INTELIGENCIA ARTIFICIAL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68680" y="2148840"/>
            <a:ext cx="6126480" cy="3429000"/>
          </a:xfrm>
          <a:prstGeom prst="roundRect">
            <a:avLst>
              <a:gd name="adj" fmla="val 1600"/>
            </a:avLst>
          </a:prstGeom>
          <a:solidFill>
            <a:srgbClr val="E7DDE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24028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188720" y="2514600"/>
            <a:ext cx="5486400" cy="2697480"/>
          </a:xfrm>
          <a:prstGeom prst="roundRect">
            <a:avLst>
              <a:gd name="adj" fmla="val 2034"/>
            </a:avLst>
          </a:prstGeom>
          <a:solidFill>
            <a:srgbClr val="D9C2C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25880" y="26060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508760" y="2880360"/>
            <a:ext cx="4846320" cy="1965960"/>
          </a:xfrm>
          <a:prstGeom prst="roundRect">
            <a:avLst>
              <a:gd name="adj" fmla="val 2791"/>
            </a:avLst>
          </a:prstGeom>
          <a:solidFill>
            <a:srgbClr val="C99BA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45920" y="2971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 FUNDACIONALES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828800" y="3246120"/>
            <a:ext cx="4206240" cy="1234440"/>
          </a:xfrm>
          <a:prstGeom prst="roundRect">
            <a:avLst>
              <a:gd name="adj" fmla="val 4444"/>
            </a:avLst>
          </a:prstGeom>
          <a:solidFill>
            <a:srgbClr val="7A142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65960" y="33375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828800" y="370332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generativa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635240" y="1783080"/>
            <a:ext cx="4023360" cy="4160520"/>
          </a:xfrm>
          <a:prstGeom prst="roundRect">
            <a:avLst>
              <a:gd name="adj" fmla="val 2045"/>
            </a:avLst>
          </a:prstGeom>
          <a:solidFill>
            <a:srgbClr val="EDEFF2"/>
          </a:solidFill>
          <a:ln/>
          <a:effectLst>
            <a:outerShdw sx="100000" sy="100000" kx="0" ky="0" algn="bl" rotWithShape="0" blurRad="76200" dist="25400" dir="5400000">
              <a:srgbClr val="9AA0A6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909560" y="20116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leer el diagrama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909560" y="2423160"/>
            <a:ext cx="3520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7A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capa es un subconjunto de la anterior.
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IA generativa (crear texto/imágenes) vive dentro de los LLM, que son Deep Learning entrenado a gran escala.
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ChatGPT, Claude y Gemini son LLM. No son 'la IA' entera: son una esquina de un campo mucho más amplio.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 1 · Fundamentos de IA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B · FUNDAMENTOS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Cinco términos que no son sinónimos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206240"/>
                <a:gridCol w="4507992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Término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hace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Ejemplo en ingeniería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7A1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Sistemas que imitan tareas cognitivas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 adaptativo de un proceso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7A1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Machine Learning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Aprende patrones a partir de datos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Predice la demanda eléctrica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7A1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Deep Learning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Redes neuronales profundas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Detecta grietas en una imagen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7A1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IA generativa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Crea contenido nuevo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Redacta un borrador de estado del arte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7A1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Modelo de lenguaje a gran escala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ChatGPT · Claude · Gemini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 1 · Fundamentos de IA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B · EJEMPLO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Learning: de la señal a la decisión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2514600" cy="1828800"/>
          </a:xfrm>
          <a:prstGeom prst="roundRect">
            <a:avLst>
              <a:gd name="adj" fmla="val 4500"/>
            </a:avLst>
          </a:prstGeom>
          <a:solidFill>
            <a:srgbClr val="EDEFF2"/>
          </a:solidFill>
          <a:ln/>
          <a:effectLst>
            <a:outerShdw sx="100000" sy="100000" kx="0" ky="0" algn="bl" rotWithShape="0" blurRad="76200" dist="25400" dir="5400000">
              <a:srgbClr val="9AA0A6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60604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3294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32004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A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Sensores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8680" y="361188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Vibración, temperatura, corriente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136392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A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3657600" y="2377440"/>
            <a:ext cx="2514600" cy="1828800"/>
          </a:xfrm>
          <a:prstGeom prst="roundRect">
            <a:avLst>
              <a:gd name="adj" fmla="val 4500"/>
            </a:avLst>
          </a:prstGeom>
          <a:solidFill>
            <a:srgbClr val="EDEFF2"/>
          </a:solidFill>
          <a:ln/>
          <a:effectLst>
            <a:outerShdw sx="100000" sy="100000" kx="0" ky="0" algn="bl" rotWithShape="0" blurRad="76200" dist="25400" dir="5400000">
              <a:srgbClr val="9AA0A6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886200" y="260604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3294B"/>
          </a:solidFill>
          <a:ln/>
        </p:spPr>
      </p:sp>
      <p:sp>
        <p:nvSpPr>
          <p:cNvPr id="12" name="Text 10"/>
          <p:cNvSpPr/>
          <p:nvPr/>
        </p:nvSpPr>
        <p:spPr>
          <a:xfrm>
            <a:off x="388620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886200" y="32004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A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3886200" y="361188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 de tiempo etiquetadas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53912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A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6675120" y="2377440"/>
            <a:ext cx="2514600" cy="1828800"/>
          </a:xfrm>
          <a:prstGeom prst="roundRect">
            <a:avLst>
              <a:gd name="adj" fmla="val 4500"/>
            </a:avLst>
          </a:prstGeom>
          <a:solidFill>
            <a:srgbClr val="EDEFF2"/>
          </a:solidFill>
          <a:ln/>
          <a:effectLst>
            <a:outerShdw sx="100000" sy="100000" kx="0" ky="0" algn="bl" rotWithShape="0" blurRad="76200" dist="25400" dir="5400000">
              <a:srgbClr val="9AA0A6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903720" y="260604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3294B"/>
          </a:solidFill>
          <a:ln/>
        </p:spPr>
      </p:sp>
      <p:sp>
        <p:nvSpPr>
          <p:cNvPr id="18" name="Text 16"/>
          <p:cNvSpPr/>
          <p:nvPr/>
        </p:nvSpPr>
        <p:spPr>
          <a:xfrm>
            <a:off x="690372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903720" y="32004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A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Algoritmo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903720" y="361188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/ red neuronal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171432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A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22" name="Shape 20"/>
          <p:cNvSpPr/>
          <p:nvPr/>
        </p:nvSpPr>
        <p:spPr>
          <a:xfrm>
            <a:off x="9692640" y="2377440"/>
            <a:ext cx="2514600" cy="1828800"/>
          </a:xfrm>
          <a:prstGeom prst="roundRect">
            <a:avLst>
              <a:gd name="adj" fmla="val 4500"/>
            </a:avLst>
          </a:prstGeom>
          <a:solidFill>
            <a:srgbClr val="EDEFF2"/>
          </a:solidFill>
          <a:ln/>
          <a:effectLst>
            <a:outerShdw sx="100000" sy="100000" kx="0" ky="0" algn="bl" rotWithShape="0" blurRad="76200" dist="25400" dir="5400000">
              <a:srgbClr val="9AA0A6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921240" y="260604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3294B"/>
          </a:solidFill>
          <a:ln/>
        </p:spPr>
      </p:sp>
      <p:sp>
        <p:nvSpPr>
          <p:cNvPr id="24" name="Text 22"/>
          <p:cNvSpPr/>
          <p:nvPr/>
        </p:nvSpPr>
        <p:spPr>
          <a:xfrm>
            <a:off x="992124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921240" y="32004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A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Predicción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9921240" y="361188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Probabilidad de falla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40080" y="4709160"/>
            <a:ext cx="10881360" cy="1097280"/>
          </a:xfrm>
          <a:prstGeom prst="roundRect">
            <a:avLst>
              <a:gd name="adj" fmla="val 7500"/>
            </a:avLst>
          </a:prstGeom>
          <a:solidFill>
            <a:srgbClr val="F3E1E4"/>
          </a:solidFill>
          <a:ln/>
        </p:spPr>
      </p:sp>
      <p:sp>
        <p:nvSpPr>
          <p:cNvPr id="28" name="Text 26"/>
          <p:cNvSpPr/>
          <p:nvPr/>
        </p:nvSpPr>
        <p:spPr>
          <a:xfrm>
            <a:off x="1005840" y="4709160"/>
            <a:ext cx="10149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Aquí la IA no 'inventa' texto: aprende de datos reales y emite una probabilidad verificable contra el historial. Es el modelo mental correcto de confiabilidad.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 1 · Fundamentos de IA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B · EJEMPLO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generativa: de papers a síntesis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2514600" cy="1828800"/>
          </a:xfrm>
          <a:prstGeom prst="roundRect">
            <a:avLst>
              <a:gd name="adj" fmla="val 4500"/>
            </a:avLst>
          </a:prstGeom>
          <a:solidFill>
            <a:srgbClr val="EDEFF2"/>
          </a:solidFill>
          <a:ln/>
          <a:effectLst>
            <a:outerShdw sx="100000" sy="100000" kx="0" ky="0" algn="bl" rotWithShape="0" blurRad="76200" dist="25400" dir="5400000">
              <a:srgbClr val="9AA0A6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4231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7A142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30175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Papers + datos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342900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Tus fuentes confiables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136392" y="2788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A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3657600" y="2194560"/>
            <a:ext cx="2514600" cy="1828800"/>
          </a:xfrm>
          <a:prstGeom prst="roundRect">
            <a:avLst>
              <a:gd name="adj" fmla="val 4500"/>
            </a:avLst>
          </a:prstGeom>
          <a:solidFill>
            <a:srgbClr val="EDEFF2"/>
          </a:solidFill>
          <a:ln/>
          <a:effectLst>
            <a:outerShdw sx="100000" sy="100000" kx="0" ky="0" algn="bl" rotWithShape="0" blurRad="76200" dist="25400" dir="5400000">
              <a:srgbClr val="9AA0A6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886200" y="24231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7A1420"/>
          </a:solidFill>
          <a:ln/>
        </p:spPr>
      </p:sp>
      <p:sp>
        <p:nvSpPr>
          <p:cNvPr id="12" name="Text 10"/>
          <p:cNvSpPr/>
          <p:nvPr/>
        </p:nvSpPr>
        <p:spPr>
          <a:xfrm>
            <a:off x="388620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886200" y="30175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Instrucciones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886200" y="342900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comparar y cómo citar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53912" y="2788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A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6675120" y="2194560"/>
            <a:ext cx="2514600" cy="1828800"/>
          </a:xfrm>
          <a:prstGeom prst="roundRect">
            <a:avLst>
              <a:gd name="adj" fmla="val 4500"/>
            </a:avLst>
          </a:prstGeom>
          <a:solidFill>
            <a:srgbClr val="EDEFF2"/>
          </a:solidFill>
          <a:ln/>
          <a:effectLst>
            <a:outerShdw sx="100000" sy="100000" kx="0" ky="0" algn="bl" rotWithShape="0" blurRad="76200" dist="25400" dir="5400000">
              <a:srgbClr val="9AA0A6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903720" y="24231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7A1420"/>
          </a:solidFill>
          <a:ln/>
        </p:spPr>
      </p:sp>
      <p:sp>
        <p:nvSpPr>
          <p:cNvPr id="18" name="Text 16"/>
          <p:cNvSpPr/>
          <p:nvPr/>
        </p:nvSpPr>
        <p:spPr>
          <a:xfrm>
            <a:off x="690372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903720" y="30175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903720" y="342900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Sintetiza y redacta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171432" y="2788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A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22" name="Shape 20"/>
          <p:cNvSpPr/>
          <p:nvPr/>
        </p:nvSpPr>
        <p:spPr>
          <a:xfrm>
            <a:off x="9692640" y="2194560"/>
            <a:ext cx="2514600" cy="1828800"/>
          </a:xfrm>
          <a:prstGeom prst="roundRect">
            <a:avLst>
              <a:gd name="adj" fmla="val 4500"/>
            </a:avLst>
          </a:prstGeom>
          <a:solidFill>
            <a:srgbClr val="EDEFF2"/>
          </a:solidFill>
          <a:ln/>
          <a:effectLst>
            <a:outerShdw sx="100000" sy="100000" kx="0" ky="0" algn="bl" rotWithShape="0" blurRad="76200" dist="25400" dir="5400000">
              <a:srgbClr val="9AA0A6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921240" y="24231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7A1420"/>
          </a:solidFill>
          <a:ln/>
        </p:spPr>
      </p:sp>
      <p:sp>
        <p:nvSpPr>
          <p:cNvPr id="24" name="Text 22"/>
          <p:cNvSpPr/>
          <p:nvPr/>
        </p:nvSpPr>
        <p:spPr>
          <a:xfrm>
            <a:off x="992124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921240" y="30175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Síntesis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921240" y="342900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Borrador estructurado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40080" y="452628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13294B"/>
          </a:solidFill>
          <a:ln/>
        </p:spPr>
      </p:sp>
      <p:sp>
        <p:nvSpPr>
          <p:cNvPr id="28" name="Text 26"/>
          <p:cNvSpPr/>
          <p:nvPr/>
        </p:nvSpPr>
        <p:spPr>
          <a:xfrm>
            <a:off x="1005840" y="4526280"/>
            <a:ext cx="10149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FB4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Ojo: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síntesis se parece a la del Ejemplo 1, pero NO tiene ground truth automático. La calidad depende de tus fuentes y de que verifiques cada afirmación. Es potente y, sin control, riesgosa.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 1 · Fundamentos de IA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B · IMPACTO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cambia (y qué no) en tu tesis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4114800"/>
          </a:xfrm>
          <a:prstGeom prst="roundRect">
            <a:avLst>
              <a:gd name="adj" fmla="val 2000"/>
            </a:avLst>
          </a:prstGeom>
          <a:solidFill>
            <a:srgbClr val="E7F0E9"/>
          </a:solidFill>
          <a:ln/>
          <a:effectLst>
            <a:outerShdw sx="100000" sy="100000" kx="0" ky="0" algn="bl" rotWithShape="0" blurRad="76200" dist="25400" dir="5400000">
              <a:srgbClr val="9AA0A6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0116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IA ACELERA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514600"/>
            <a:ext cx="4937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50000"/>
              </a:lnSpc>
              <a:buSzPct val="100000"/>
              <a:buChar char="✓"/>
            </a:pPr>
            <a:r>
              <a:rPr lang="en-US" sz="15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Rastrear literatura y antecedentes
</a:t>
            </a:r>
            <a:pPr indent="0" marL="0">
              <a:lnSpc>
                <a:spcPct val="150000"/>
              </a:lnSpc>
              <a:buNone/>
            </a:pPr>
            <a:r>
              <a:rPr lang="en-US" sz="15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Resumir y comparar papers
</a:t>
            </a:r>
            <a:pPr indent="0" marL="0">
              <a:lnSpc>
                <a:spcPct val="150000"/>
              </a:lnSpc>
              <a:buNone/>
            </a:pPr>
            <a:r>
              <a:rPr lang="en-US" sz="15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Ordenar referencias y citas
</a:t>
            </a:r>
            <a:pPr indent="0" marL="0">
              <a:lnSpc>
                <a:spcPct val="150000"/>
              </a:lnSpc>
              <a:buNone/>
            </a:pPr>
            <a:r>
              <a:rPr lang="en-US" sz="15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Redactar borradores y traducir
</a:t>
            </a:r>
            <a:pPr indent="0" marL="0">
              <a:lnSpc>
                <a:spcPct val="150000"/>
              </a:lnSpc>
              <a:buNone/>
            </a:pPr>
            <a:r>
              <a:rPr lang="en-US" sz="15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Detectar vacíos y preguntas nuevas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172200" y="1783080"/>
            <a:ext cx="5440680" cy="4114800"/>
          </a:xfrm>
          <a:prstGeom prst="roundRect">
            <a:avLst>
              <a:gd name="adj" fmla="val 2000"/>
            </a:avLst>
          </a:prstGeom>
          <a:solidFill>
            <a:srgbClr val="F3E1E4"/>
          </a:solidFill>
          <a:ln/>
          <a:effectLst>
            <a:outerShdw sx="100000" sy="100000" kx="0" ky="0" algn="bl" rotWithShape="0" blurRad="76200" dist="25400" dir="5400000">
              <a:srgbClr val="9AA0A6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20116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IA NO SUSTITUYE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92240" y="2514600"/>
            <a:ext cx="4937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50000"/>
              </a:lnSpc>
              <a:buSzPct val="100000"/>
              <a:buChar char="✗"/>
            </a:pPr>
            <a:r>
              <a:rPr lang="en-US" sz="15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criterio y marco teórico
</a:t>
            </a:r>
            <a:pPr indent="0" marL="0">
              <a:lnSpc>
                <a:spcPct val="150000"/>
              </a:lnSpc>
              <a:buNone/>
            </a:pPr>
            <a:r>
              <a:rPr lang="en-US" sz="15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evidencia y sus fuentes
</a:t>
            </a:r>
            <a:pPr indent="0" marL="0">
              <a:lnSpc>
                <a:spcPct val="150000"/>
              </a:lnSpc>
              <a:buNone/>
            </a:pPr>
            <a:r>
              <a:rPr lang="en-US" sz="15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verificación de cada dato
</a:t>
            </a:r>
            <a:pPr indent="0" marL="0">
              <a:lnSpc>
                <a:spcPct val="150000"/>
              </a:lnSpc>
              <a:buNone/>
            </a:pPr>
            <a:r>
              <a:rPr lang="en-US" sz="15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responsabilidad autoral
</a:t>
            </a:r>
            <a:pPr indent="0" marL="0">
              <a:lnSpc>
                <a:spcPct val="150000"/>
              </a:lnSpc>
              <a:buNone/>
            </a:pPr>
            <a:r>
              <a:rPr lang="en-US" sz="15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integridad académica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 1 · Fundamentos de IA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329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B4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C · CÓMO FUNCIONA UN LLM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hace realmente un LLM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378440" y="548640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7A1420"/>
          </a:solidFill>
          <a:ln/>
        </p:spPr>
      </p:sp>
      <p:sp>
        <p:nvSpPr>
          <p:cNvPr id="5" name="Text 3"/>
          <p:cNvSpPr/>
          <p:nvPr/>
        </p:nvSpPr>
        <p:spPr>
          <a:xfrm>
            <a:off x="10378440" y="5486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25–35 min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192024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0A6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103120"/>
            <a:ext cx="1920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51460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0C9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2944368" y="2103120"/>
            <a:ext cx="192024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0A6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944368" y="2103120"/>
            <a:ext cx="1920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818888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0C9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5248656" y="2103120"/>
            <a:ext cx="192024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0A6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248656" y="2103120"/>
            <a:ext cx="1920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Patrones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123176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0C9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7552944" y="2103120"/>
            <a:ext cx="192024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0A6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552944" y="2103120"/>
            <a:ext cx="1920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Predicción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427464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0C9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9857232" y="2103120"/>
            <a:ext cx="192024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0A6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857232" y="2103120"/>
            <a:ext cx="1920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Respuesta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40080" y="3886200"/>
            <a:ext cx="10881360" cy="2057400"/>
          </a:xfrm>
          <a:prstGeom prst="roundRect">
            <a:avLst>
              <a:gd name="adj" fmla="val 4000"/>
            </a:avLst>
          </a:prstGeom>
          <a:solidFill>
            <a:srgbClr val="7A1420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11480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LLM predice la siguiente palabra más probable.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005840" y="4800600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F6DD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consulta una base de la verdad; completa patrones del lenguaje. Por eso puede sonar experto sin serlo — y por eso necesita que le demos fuentes.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 1 · Fundamentos de IA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C · CONFIABILIDAD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Perfecto en forma, falso en fondo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0972800" cy="1371600"/>
          </a:xfrm>
          <a:prstGeom prst="roundRect">
            <a:avLst>
              <a:gd name="adj" fmla="val 6000"/>
            </a:avLst>
          </a:prstGeom>
          <a:solidFill>
            <a:srgbClr val="13294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783080"/>
            <a:ext cx="1024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“Un modelo puede producir una respuesta lingüísticamente perfecta y científicamente falsa.”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34290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A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Alucinación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3886200"/>
            <a:ext cx="5394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modelo genera información que suena correcta pero no está respaldada por ninguna fuente real: cifras, citas, autores o DOIs inventados.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217920" y="34290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A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ocurre?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217920" y="388620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40000"/>
              </a:lnSpc>
              <a:buSzPct val="100000"/>
              <a:buChar char="–"/>
            </a:pPr>
            <a:r>
              <a:rPr lang="en-US" sz="15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 fluidez, no veracidad
</a:t>
            </a:r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Rellena vacíos con lo más probable
</a:t>
            </a:r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sabe lo que no sabe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5532120"/>
            <a:ext cx="10972800" cy="777240"/>
          </a:xfrm>
          <a:prstGeom prst="roundRect">
            <a:avLst>
              <a:gd name="adj" fmla="val 10588"/>
            </a:avLst>
          </a:prstGeom>
          <a:solidFill>
            <a:srgbClr val="F3E1E4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553212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 de oro: si una afirmación no puede rastrearse a una fuente, no entra en tu tesis.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 1 · Fundamentos de IA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C · MICROACTIVIDAD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Anatomía de una cita inventada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0972800" cy="1234440"/>
          </a:xfrm>
          <a:prstGeom prst="roundRect">
            <a:avLst>
              <a:gd name="adj" fmla="val 6667"/>
            </a:avLst>
          </a:prstGeom>
          <a:solidFill>
            <a:srgbClr val="EDEFF2"/>
          </a:solidFill>
          <a:ln/>
          <a:effectLst>
            <a:outerShdw sx="100000" sy="100000" kx="0" ky="0" algn="bl" rotWithShape="0" blurRad="76200" dist="25400" dir="5400000">
              <a:srgbClr val="9AA0A6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737360"/>
            <a:ext cx="10241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Zhang &amp; Roberts (2021). Journal of Rail Maintenance Engineering, 18(3), 210–229. DOI: 10.1016/j.jrme.2021.03.014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3246120"/>
            <a:ext cx="356616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0A6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3429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Autores plausibles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388620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Nombres verosímiles, sin existencia verificable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251960" y="3246120"/>
            <a:ext cx="356616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0A6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480560" y="3429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Journal inexistente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480560" y="388620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aparece en Scopus / Web of Science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955280" y="3246120"/>
            <a:ext cx="356616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0A6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183880" y="3429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 que no resuelve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183880" y="388620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doi.org no lo encuentra: señal de fabricación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5166360"/>
            <a:ext cx="10972800" cy="1051560"/>
          </a:xfrm>
          <a:prstGeom prst="roundRect">
            <a:avLst>
              <a:gd name="adj" fmla="val 7826"/>
            </a:avLst>
          </a:prstGeom>
          <a:solidFill>
            <a:srgbClr val="13294B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166360"/>
            <a:ext cx="10241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FB4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 ahora (60 s):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copia el DOI en doi.org. Si no resuelve, la cita no existe. Repite el hábito con TODA cita que te dé una IA.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 1 · Fundamentos de IA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D · RESPONDER VS. INVESTIGAR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Responder no es investigar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378440" y="420624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EDEFF2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78440" y="420624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35–45 min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074920" cy="4114800"/>
          </a:xfrm>
          <a:prstGeom prst="roundRect">
            <a:avLst>
              <a:gd name="adj" fmla="val 2000"/>
            </a:avLst>
          </a:prstGeom>
          <a:solidFill>
            <a:srgbClr val="EDEFF2"/>
          </a:solidFill>
          <a:ln/>
          <a:effectLst>
            <a:outerShdw sx="100000" sy="100000" kx="0" ky="0" algn="bl" rotWithShape="0" blurRad="76200" dist="25400" dir="5400000">
              <a:srgbClr val="9AA0A6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0116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1 — Respuesta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280160" y="2606040"/>
            <a:ext cx="35661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80160" y="260604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788920" y="32918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1280160" y="3566160"/>
            <a:ext cx="35661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80160" y="356616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Chatbot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788920" y="42519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1280160" y="4526280"/>
            <a:ext cx="35661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80160" y="452628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Respuesta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" y="5486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Rápido. Cómodo. Sin trazabilidad.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852160" y="1783080"/>
            <a:ext cx="5669280" cy="4114800"/>
          </a:xfrm>
          <a:prstGeom prst="roundRect">
            <a:avLst>
              <a:gd name="adj" fmla="val 2000"/>
            </a:avLst>
          </a:prstGeom>
          <a:solidFill>
            <a:srgbClr val="F3E1E4"/>
          </a:solidFill>
          <a:ln/>
          <a:effectLst>
            <a:outerShdw sx="100000" sy="100000" kx="0" ky="0" algn="bl" rotWithShape="0" blurRad="76200" dist="25400" dir="5400000">
              <a:srgbClr val="9AA0A6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126480" y="201168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2 — Investigación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26480" y="2560320"/>
            <a:ext cx="16002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7A14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256032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A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Pregunta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09560" y="2560320"/>
            <a:ext cx="16002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7A14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09560" y="256032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A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Búsqueda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9692640" y="2560320"/>
            <a:ext cx="16002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7A14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92640" y="256032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A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Fuentes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126480" y="3611880"/>
            <a:ext cx="16002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7A142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0" y="361188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A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Selección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7909560" y="3611880"/>
            <a:ext cx="16002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7A142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909560" y="361188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A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Lectura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9692640" y="3611880"/>
            <a:ext cx="16002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7A142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92640" y="361188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A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Contraste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126480" y="4663440"/>
            <a:ext cx="16002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7A142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26480" y="466344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A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Síntesis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7909560" y="4663440"/>
            <a:ext cx="16002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7A142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909560" y="466344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A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Verificación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9692640" y="4663440"/>
            <a:ext cx="16002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7A142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692640" y="466344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A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Conclusión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6126480" y="54864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A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Lento. Riguroso. Defendible ante el jurado.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 1 · Fundamentos de IA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7A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¿Cuál de los dos representa investigación?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3931920"/>
            <a:ext cx="10881360" cy="1463040"/>
          </a:xfrm>
          <a:prstGeom prst="roundRect">
            <a:avLst>
              <a:gd name="adj" fmla="val 5625"/>
            </a:avLst>
          </a:prstGeom>
          <a:solidFill>
            <a:srgbClr val="13294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931920"/>
            <a:ext cx="10881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≠ fuente científica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 1 · Fundamentos de IA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E · GROUNDING Y RAG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Grounding: respuestas con raíz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378440" y="420624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EDEFF2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78440" y="420624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45–55 min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10972800" cy="1463040"/>
          </a:xfrm>
          <a:prstGeom prst="roundRect">
            <a:avLst>
              <a:gd name="adj" fmla="val 5625"/>
            </a:avLst>
          </a:prstGeom>
          <a:solidFill>
            <a:srgbClr val="F3E1E4"/>
          </a:solidFill>
          <a:ln/>
          <a:effectLst>
            <a:outerShdw sx="100000" sy="100000" kx="0" ky="0" algn="bl" rotWithShape="0" blurRad="76200" dist="25400" dir="5400000">
              <a:srgbClr val="9AA0A6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920240"/>
            <a:ext cx="10241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A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Grounding  =  </a:t>
            </a:r>
            <a:pPr indent="0" marL="0">
              <a:buNone/>
            </a:pPr>
            <a:r>
              <a:rPr lang="en-US" sz="22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fundamentar cada afirmación en evidencia identificable y verificable.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3657600"/>
            <a:ext cx="5440680" cy="2377440"/>
          </a:xfrm>
          <a:prstGeom prst="roundRect">
            <a:avLst>
              <a:gd name="adj" fmla="val 3462"/>
            </a:avLst>
          </a:prstGeom>
          <a:solidFill>
            <a:srgbClr val="EDEFF2"/>
          </a:solidFill>
          <a:ln/>
          <a:effectLst>
            <a:outerShdw sx="100000" sy="100000" kx="0" ky="0" algn="bl" rotWithShape="0" blurRad="76200" dist="25400" dir="5400000">
              <a:srgbClr val="9AA0A6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38862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grounding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429768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“La fatiga reduce la vida útil en un 30 %.”</a:t>
            </a:r>
            <a:endParaRPr lang="en-US" sz="1450" dirty="0"/>
          </a:p>
          <a:p>
            <a:pPr indent="0" marL="0">
              <a:lnSpc>
                <a:spcPct val="110000"/>
              </a:lnSpc>
              <a:buNone/>
            </a:pPr>
            <a:endParaRPr lang="en-US" sz="14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¿Según quién? ¿Dónde? No se puede verificar → no sirve para la tesis.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080760" y="3657600"/>
            <a:ext cx="5440680" cy="2377440"/>
          </a:xfrm>
          <a:prstGeom prst="roundRect">
            <a:avLst>
              <a:gd name="adj" fmla="val 3462"/>
            </a:avLst>
          </a:prstGeom>
          <a:solidFill>
            <a:srgbClr val="E7F0E9"/>
          </a:solidFill>
          <a:ln/>
          <a:effectLst>
            <a:outerShdw sx="100000" sy="100000" kx="0" ky="0" algn="bl" rotWithShape="0" blurRad="76200" dist="25400" dir="5400000">
              <a:srgbClr val="9AA0A6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0" y="38862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grounding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0" y="429768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“La fatiga reduce la vida útil ~30 % (Norma X, 2020, Tabla 4, p. 12).”</a:t>
            </a:r>
            <a:endParaRPr lang="en-US" sz="1450" dirty="0"/>
          </a:p>
          <a:p>
            <a:pPr indent="0" marL="0">
              <a:lnSpc>
                <a:spcPct val="110000"/>
              </a:lnSpc>
              <a:buNone/>
            </a:pPr>
            <a:endParaRPr lang="en-US" sz="14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Rastreable → verificable → citable.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 1 · Fundamentos de IA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E · GROUNDING Y RAG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RAG: recuperar antes de generar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103120" y="1783080"/>
            <a:ext cx="4846320" cy="658368"/>
          </a:xfrm>
          <a:prstGeom prst="roundRect">
            <a:avLst>
              <a:gd name="adj" fmla="val 11111"/>
            </a:avLst>
          </a:prstGeom>
          <a:solidFill>
            <a:srgbClr val="13294B"/>
          </a:solidFill>
          <a:ln/>
        </p:spPr>
      </p:sp>
      <p:sp>
        <p:nvSpPr>
          <p:cNvPr id="5" name="Text 3"/>
          <p:cNvSpPr/>
          <p:nvPr/>
        </p:nvSpPr>
        <p:spPr>
          <a:xfrm>
            <a:off x="2103120" y="1783080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206240" y="240487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103120" y="2752344"/>
            <a:ext cx="4846320" cy="658368"/>
          </a:xfrm>
          <a:prstGeom prst="roundRect">
            <a:avLst>
              <a:gd name="adj" fmla="val 11111"/>
            </a:avLst>
          </a:prstGeom>
          <a:solidFill>
            <a:srgbClr val="7A1420"/>
          </a:solidFill>
          <a:ln/>
        </p:spPr>
      </p:sp>
      <p:sp>
        <p:nvSpPr>
          <p:cNvPr id="8" name="Text 6"/>
          <p:cNvSpPr/>
          <p:nvPr/>
        </p:nvSpPr>
        <p:spPr>
          <a:xfrm>
            <a:off x="2103120" y="2752344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Documentos (tu corpus)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206240" y="3374136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103120" y="3721608"/>
            <a:ext cx="4846320" cy="658368"/>
          </a:xfrm>
          <a:prstGeom prst="roundRect">
            <a:avLst>
              <a:gd name="adj" fmla="val 11111"/>
            </a:avLst>
          </a:prstGeom>
          <a:solidFill>
            <a:srgbClr val="7A1420"/>
          </a:solidFill>
          <a:ln/>
        </p:spPr>
      </p:sp>
      <p:sp>
        <p:nvSpPr>
          <p:cNvPr id="11" name="Text 9"/>
          <p:cNvSpPr/>
          <p:nvPr/>
        </p:nvSpPr>
        <p:spPr>
          <a:xfrm>
            <a:off x="2103120" y="3721608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Recuperación de fragmentos relevantes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206240" y="43434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2103120" y="4690872"/>
            <a:ext cx="4846320" cy="658368"/>
          </a:xfrm>
          <a:prstGeom prst="roundRect">
            <a:avLst>
              <a:gd name="adj" fmla="val 11111"/>
            </a:avLst>
          </a:prstGeom>
          <a:solidFill>
            <a:srgbClr val="13294B"/>
          </a:solidFill>
          <a:ln/>
        </p:spPr>
      </p:sp>
      <p:sp>
        <p:nvSpPr>
          <p:cNvPr id="14" name="Text 12"/>
          <p:cNvSpPr/>
          <p:nvPr/>
        </p:nvSpPr>
        <p:spPr>
          <a:xfrm>
            <a:off x="2103120" y="4690872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206240" y="5312664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2103120" y="5660136"/>
            <a:ext cx="4846320" cy="658368"/>
          </a:xfrm>
          <a:prstGeom prst="roundRect">
            <a:avLst>
              <a:gd name="adj" fmla="val 11111"/>
            </a:avLst>
          </a:prstGeom>
          <a:solidFill>
            <a:srgbClr val="2E7D32"/>
          </a:solidFill>
          <a:ln/>
        </p:spPr>
      </p:sp>
      <p:sp>
        <p:nvSpPr>
          <p:cNvPr id="17" name="Text 15"/>
          <p:cNvSpPr/>
          <p:nvPr/>
        </p:nvSpPr>
        <p:spPr>
          <a:xfrm>
            <a:off x="2103120" y="5660136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Respuesta + fuente citada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406640" y="1783080"/>
            <a:ext cx="4114800" cy="4663440"/>
          </a:xfrm>
          <a:prstGeom prst="roundRect">
            <a:avLst>
              <a:gd name="adj" fmla="val 2000"/>
            </a:avLst>
          </a:prstGeom>
          <a:solidFill>
            <a:srgbClr val="EDEFF2"/>
          </a:solidFill>
          <a:ln/>
          <a:effectLst>
            <a:outerShdw sx="100000" sy="100000" kx="0" ky="0" algn="bl" rotWithShape="0" blurRad="76200" dist="25400" dir="5400000">
              <a:srgbClr val="9AA0A6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680960" y="20116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importa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680960" y="2468880"/>
            <a:ext cx="36118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(Retrieval-Augmented Generation) busca PRIMERO en tus documentos y recién después redacta.
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modelo ya no 'recuerda de memoria': lee tu corpus y responde con la fuente.
</a:t>
            </a:r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7A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la base de tu Agente de Investigación: reduce alucinaciones y da trazabilidad.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 1 · Fundamentos de IA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E · DISTINCIÓN CLAVE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Información no es evidencia</a:t>
            </a:r>
            <a:endParaRPr lang="en-US" sz="3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480560"/>
                <a:gridCol w="4507992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INFORMACIÓN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28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EVIDENCIA CIENTÍFICA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329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Origen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Afirmación suelta, sin fuente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Dato con fuente identificable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329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Método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se conoce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Explícito y replicable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329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Verificable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necesariamente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Sí, hasta la fuente original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329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Uso en tesis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Solo como idea a comprobar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Sostiene resultados y conclusiones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 1 · Fundamentos de IA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F · DEL CHATBOT AL AGENTE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chatbot al agente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378440" y="420624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EDEFF2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78440" y="420624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55–62 min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074920" cy="3931920"/>
          </a:xfrm>
          <a:prstGeom prst="roundRect">
            <a:avLst>
              <a:gd name="adj" fmla="val 2093"/>
            </a:avLst>
          </a:prstGeom>
          <a:solidFill>
            <a:srgbClr val="EDEFF2"/>
          </a:solidFill>
          <a:ln/>
          <a:effectLst>
            <a:outerShdw sx="100000" sy="100000" kx="0" ky="0" algn="bl" rotWithShape="0" blurRad="76200" dist="25400" dir="5400000">
              <a:srgbClr val="9AA0A6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0574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CHATBOT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463040" y="2926080"/>
            <a:ext cx="32004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29260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788920" y="3749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1463040" y="4114800"/>
            <a:ext cx="32004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63040" y="411480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Respuesta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22960" y="5349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Reacciona.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852160" y="1828800"/>
            <a:ext cx="5669280" cy="3931920"/>
          </a:xfrm>
          <a:prstGeom prst="roundRect">
            <a:avLst>
              <a:gd name="adj" fmla="val 2093"/>
            </a:avLst>
          </a:prstGeom>
          <a:solidFill>
            <a:srgbClr val="F3E1E4"/>
          </a:solidFill>
          <a:ln/>
          <a:effectLst>
            <a:outerShdw sx="100000" sy="100000" kx="0" ky="0" algn="bl" rotWithShape="0" blurRad="76200" dist="25400" dir="5400000">
              <a:srgbClr val="9AA0A6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0" y="20574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72200" y="2606040"/>
            <a:ext cx="25146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7A14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260604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7A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Objetivo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869680" y="2606040"/>
            <a:ext cx="25146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7A14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69680" y="260604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7A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Analizar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172200" y="3319272"/>
            <a:ext cx="25146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7A14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72200" y="3319272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7A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Buscar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8869680" y="3319272"/>
            <a:ext cx="25146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7A14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69680" y="3319272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7A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Usar herramientas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172200" y="4032504"/>
            <a:ext cx="25146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7A14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72200" y="4032504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7A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Evaluar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8869680" y="4032504"/>
            <a:ext cx="25146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7A142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869680" y="4032504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7A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Iterar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172200" y="4745736"/>
            <a:ext cx="51206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7A142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72200" y="4745736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7A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Resultado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6126480" y="54406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A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Persigue un objetivo, con pasos y herramientas.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 1 · Fundamentos de IA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F · EVOLUCIÓN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generaciones de asistentes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566160" cy="3291840"/>
          </a:xfrm>
          <a:prstGeom prst="roundRect">
            <a:avLst>
              <a:gd name="adj" fmla="val 2500"/>
            </a:avLst>
          </a:prstGeom>
          <a:solidFill>
            <a:srgbClr val="EDEFF2"/>
          </a:solidFill>
          <a:ln/>
          <a:effectLst>
            <a:outerShdw sx="100000" sy="100000" kx="0" ky="0" algn="bl" rotWithShape="0" blurRad="76200" dist="25400" dir="5400000">
              <a:srgbClr val="9AA0A6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286000"/>
            <a:ext cx="822960" cy="822960"/>
          </a:xfrm>
          <a:prstGeom prst="roundRect">
            <a:avLst>
              <a:gd name="adj" fmla="val 13333"/>
            </a:avLst>
          </a:prstGeom>
          <a:solidFill>
            <a:srgbClr val="6B728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286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22960" y="32918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Chatbot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11480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de memoria.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Rápido pero sin fuentes.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069080" y="34747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A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4297680" y="2011680"/>
            <a:ext cx="3566160" cy="3291840"/>
          </a:xfrm>
          <a:prstGeom prst="roundRect">
            <a:avLst>
              <a:gd name="adj" fmla="val 2500"/>
            </a:avLst>
          </a:prstGeom>
          <a:solidFill>
            <a:srgbClr val="EDEFF2"/>
          </a:solidFill>
          <a:ln/>
          <a:effectLst>
            <a:outerShdw sx="100000" sy="100000" kx="0" ky="0" algn="bl" rotWithShape="0" blurRad="76200" dist="25400" dir="5400000">
              <a:srgbClr val="9AA0A6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2286000"/>
            <a:ext cx="822960" cy="822960"/>
          </a:xfrm>
          <a:prstGeom prst="roundRect">
            <a:avLst>
              <a:gd name="adj" fmla="val 13333"/>
            </a:avLst>
          </a:prstGeom>
          <a:solidFill>
            <a:srgbClr val="13294B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2286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4572000" y="32918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basada en fuentes (RAG)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0" y="411480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desde documentos y cita.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Grounding real.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818120" y="34747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A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8046720" y="2011680"/>
            <a:ext cx="3566160" cy="3291840"/>
          </a:xfrm>
          <a:prstGeom prst="roundRect">
            <a:avLst>
              <a:gd name="adj" fmla="val 2500"/>
            </a:avLst>
          </a:prstGeom>
          <a:solidFill>
            <a:srgbClr val="F3E1E4"/>
          </a:solidFill>
          <a:ln/>
          <a:effectLst>
            <a:outerShdw sx="100000" sy="100000" kx="0" ky="0" algn="bl" rotWithShape="0" blurRad="76200" dist="25400" dir="5400000">
              <a:srgbClr val="9AA0A6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21040" y="2286000"/>
            <a:ext cx="822960" cy="822960"/>
          </a:xfrm>
          <a:prstGeom prst="roundRect">
            <a:avLst>
              <a:gd name="adj" fmla="val 13333"/>
            </a:avLst>
          </a:prstGeom>
          <a:solidFill>
            <a:srgbClr val="7A1420"/>
          </a:solidFill>
          <a:ln/>
        </p:spPr>
      </p:sp>
      <p:sp>
        <p:nvSpPr>
          <p:cNvPr id="18" name="Text 16"/>
          <p:cNvSpPr/>
          <p:nvPr/>
        </p:nvSpPr>
        <p:spPr>
          <a:xfrm>
            <a:off x="8321040" y="2286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8321040" y="32918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 de investigación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321040" y="411480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Planifica, busca, compara,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 e itera hacia un objetivo.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5486400"/>
            <a:ext cx="10972800" cy="777240"/>
          </a:xfrm>
          <a:prstGeom prst="roundRect">
            <a:avLst>
              <a:gd name="adj" fmla="val 10588"/>
            </a:avLst>
          </a:prstGeom>
          <a:solidFill>
            <a:srgbClr val="13294B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54864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Hoy construyes la Generación 2 y 3: un agente que investiga con TU corpus.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 1 · Fundamentos de IA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G · FUENTES Y ÉTICA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todas las fuentes pesan igual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378440" y="420624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EDEFF2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78440" y="420624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62–72 min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985516" y="1828800"/>
            <a:ext cx="4206240" cy="749808"/>
          </a:xfrm>
          <a:prstGeom prst="roundRect">
            <a:avLst>
              <a:gd name="adj" fmla="val 7317"/>
            </a:avLst>
          </a:prstGeom>
          <a:solidFill>
            <a:srgbClr val="7A1420"/>
          </a:solidFill>
          <a:ln/>
        </p:spPr>
      </p:sp>
      <p:sp>
        <p:nvSpPr>
          <p:cNvPr id="7" name="Text 5"/>
          <p:cNvSpPr/>
          <p:nvPr/>
        </p:nvSpPr>
        <p:spPr>
          <a:xfrm>
            <a:off x="2985516" y="1828800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 original — paper, norma, dataset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2345436" y="2697480"/>
            <a:ext cx="5486400" cy="749808"/>
          </a:xfrm>
          <a:prstGeom prst="roundRect">
            <a:avLst>
              <a:gd name="adj" fmla="val 7317"/>
            </a:avLst>
          </a:prstGeom>
          <a:solidFill>
            <a:srgbClr val="9B2233"/>
          </a:solidFill>
          <a:ln/>
        </p:spPr>
      </p:sp>
      <p:sp>
        <p:nvSpPr>
          <p:cNvPr id="9" name="Text 7"/>
          <p:cNvSpPr/>
          <p:nvPr/>
        </p:nvSpPr>
        <p:spPr>
          <a:xfrm>
            <a:off x="2345436" y="2697480"/>
            <a:ext cx="5486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académica — Scopus, Web of Science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1705356" y="3566160"/>
            <a:ext cx="6766560" cy="749808"/>
          </a:xfrm>
          <a:prstGeom prst="roundRect">
            <a:avLst>
              <a:gd name="adj" fmla="val 7317"/>
            </a:avLst>
          </a:prstGeom>
          <a:solidFill>
            <a:srgbClr val="13294B"/>
          </a:solidFill>
          <a:ln/>
        </p:spPr>
      </p:sp>
      <p:sp>
        <p:nvSpPr>
          <p:cNvPr id="11" name="Text 9"/>
          <p:cNvSpPr/>
          <p:nvPr/>
        </p:nvSpPr>
        <p:spPr>
          <a:xfrm>
            <a:off x="1705356" y="3566160"/>
            <a:ext cx="6766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Herramienta de descubrimiento — buscadores académicos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1065276" y="4434840"/>
            <a:ext cx="8046720" cy="749808"/>
          </a:xfrm>
          <a:prstGeom prst="roundRect">
            <a:avLst>
              <a:gd name="adj" fmla="val 7317"/>
            </a:avLst>
          </a:prstGeom>
          <a:solidFill>
            <a:srgbClr val="1F4068"/>
          </a:solidFill>
          <a:ln/>
        </p:spPr>
      </p:sp>
      <p:sp>
        <p:nvSpPr>
          <p:cNvPr id="13" name="Text 11"/>
          <p:cNvSpPr/>
          <p:nvPr/>
        </p:nvSpPr>
        <p:spPr>
          <a:xfrm>
            <a:off x="1065276" y="4434840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fundamentada (RAG) — responde con tus fuentes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" y="5303520"/>
            <a:ext cx="9326880" cy="749808"/>
          </a:xfrm>
          <a:prstGeom prst="roundRect">
            <a:avLst>
              <a:gd name="adj" fmla="val 7317"/>
            </a:avLst>
          </a:prstGeom>
          <a:solidFill>
            <a:srgbClr val="6B7280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5303520"/>
            <a:ext cx="9326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sin fuentes — solo apoyo, nunca cita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0241280" y="18745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confiable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241280" y="58064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 confiable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 1 · Fundamentos de IA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G · ORGANIZACIÓN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 y verifica: Zotero y Mendeley</a:t>
            </a:r>
            <a:endParaRPr lang="en-US" sz="30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1672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389120"/>
                <a:gridCol w="441655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ZOTERO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MENDELEY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7A1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Costo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Libre y de código abierto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Gratuito (Elsevier)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7A1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Captura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Conector de navegador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 Importer + escritorio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7A1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Ideal para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Estándar académico abierto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Ecosistema Scopus/Elsevier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7A1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Citas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Word/Google Docs, miles de estilos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Word, estilos comunes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7A1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DOI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Agrega metadatos por DOI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Agrega metadatos por DOI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532120"/>
            <a:ext cx="10972800" cy="777240"/>
          </a:xfrm>
          <a:prstGeom prst="roundRect">
            <a:avLst>
              <a:gd name="adj" fmla="val 10588"/>
            </a:avLst>
          </a:prstGeom>
          <a:solidFill>
            <a:srgbClr val="F3E1E4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553212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7A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Verificación por DOI:  </a:t>
            </a:r>
            <a:pPr indent="0" marL="0">
              <a:buNone/>
            </a:pPr>
            <a:r>
              <a:rPr lang="en-US" sz="14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pega el DOI real y el gestor completa autor, año y revista. Si el DOI no resuelve, la cita no existe.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 1 · Fundamentos de IA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G · USO RESPONSABLE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Semáforo del uso de IA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66160" cy="4114800"/>
          </a:xfrm>
          <a:prstGeom prst="roundRect">
            <a:avLst>
              <a:gd name="adj" fmla="val 2308"/>
            </a:avLst>
          </a:prstGeom>
          <a:solidFill>
            <a:srgbClr val="E7F0E9"/>
          </a:solidFill>
          <a:ln/>
          <a:effectLst>
            <a:outerShdw sx="100000" sy="100000" kx="0" ky="0" algn="bl" rotWithShape="0" blurRad="76200" dist="25400" dir="5400000">
              <a:srgbClr val="9AA0A6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20240" y="2057400"/>
            <a:ext cx="822960" cy="82296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9718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34290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Apoyo de bajo riesgo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93192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Reformular, resumir, traducir, ordenar ideas, generar preguntas.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51960" y="1783080"/>
            <a:ext cx="3566160" cy="4114800"/>
          </a:xfrm>
          <a:prstGeom prst="roundRect">
            <a:avLst>
              <a:gd name="adj" fmla="val 2308"/>
            </a:avLst>
          </a:prstGeom>
          <a:solidFill>
            <a:srgbClr val="FBF3E0"/>
          </a:solidFill>
          <a:ln/>
          <a:effectLst>
            <a:outerShdw sx="100000" sy="100000" kx="0" ky="0" algn="bl" rotWithShape="0" blurRad="76200" dist="25400" dir="5400000">
              <a:srgbClr val="9AA0A6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623560" y="2057400"/>
            <a:ext cx="822960" cy="822960"/>
          </a:xfrm>
          <a:prstGeom prst="ellipse">
            <a:avLst/>
          </a:prstGeom>
          <a:solidFill>
            <a:srgbClr val="C88A00"/>
          </a:solidFill>
          <a:ln/>
        </p:spPr>
      </p:sp>
      <p:sp>
        <p:nvSpPr>
          <p:cNvPr id="11" name="Text 9"/>
          <p:cNvSpPr/>
          <p:nvPr/>
        </p:nvSpPr>
        <p:spPr>
          <a:xfrm>
            <a:off x="4251960" y="29718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AMARILLO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251960" y="34290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Requiere revisión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26280" y="393192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Sugerir antecedentes, redactar borradores, proponer datos: verifica TODO contra la fuente.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955280" y="1783080"/>
            <a:ext cx="3566160" cy="4114800"/>
          </a:xfrm>
          <a:prstGeom prst="roundRect">
            <a:avLst>
              <a:gd name="adj" fmla="val 2308"/>
            </a:avLst>
          </a:prstGeom>
          <a:solidFill>
            <a:srgbClr val="F7E4E3"/>
          </a:solidFill>
          <a:ln/>
          <a:effectLst>
            <a:outerShdw sx="100000" sy="100000" kx="0" ky="0" algn="bl" rotWithShape="0" blurRad="76200" dist="25400" dir="5400000">
              <a:srgbClr val="9AA0A6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326880" y="2057400"/>
            <a:ext cx="822960" cy="822960"/>
          </a:xfrm>
          <a:prstGeom prst="ellipse">
            <a:avLst/>
          </a:prstGeom>
          <a:solidFill>
            <a:srgbClr val="B3261E"/>
          </a:solidFill>
          <a:ln/>
        </p:spPr>
      </p:sp>
      <p:sp>
        <p:nvSpPr>
          <p:cNvPr id="16" name="Text 14"/>
          <p:cNvSpPr/>
          <p:nvPr/>
        </p:nvSpPr>
        <p:spPr>
          <a:xfrm>
            <a:off x="7955280" y="29718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ROJO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955280" y="34290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Prohibido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0" y="393192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Fabricar datos, referencias, experimentos o resultados. Es falta de integridad.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 1 · Fundamentos de IA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329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B4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TRAZABILIDAD Y CITACIÓN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investigador sigue siendo responsable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468880"/>
            <a:ext cx="534924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63347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Trazabilidad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3035808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 afirmación se rastrea hasta su fuente original.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26480" y="2468880"/>
            <a:ext cx="534924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263347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Citación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0" y="3035808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 la fuente real, no la IA. Usa un estilo (APA/IEEE) coherente.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160520"/>
            <a:ext cx="534924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32511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Declaración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22960" y="4727448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Declara cómo usaste IA, según la norma de tu facultad.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26480" y="4160520"/>
            <a:ext cx="534924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432511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Autoría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00800" y="4727448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Tú firmas la tesis: tú respondes por cada dato.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 1 · Fundamentos de IA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7A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3774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6DD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Ahora dejamos de hablar de IA.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38328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Vamos a construirla.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49808" y="48463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3D6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tu laptop. En 108 minutos tendrás tu Agente de Investigación v1.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 1 · Fundamentos de IA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LABORATORIO · 108 MINUTOS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Siete estaciones, un agente propio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0972800" cy="603504"/>
          </a:xfrm>
          <a:prstGeom prst="roundRect">
            <a:avLst>
              <a:gd name="adj" fmla="val 13636"/>
            </a:avLst>
          </a:prstGeom>
          <a:solidFill>
            <a:srgbClr val="EDEFF2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81051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3294B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1737360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Detective de evidencia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92640" y="1737360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7A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min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395728"/>
            <a:ext cx="10972800" cy="603504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24688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3294B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71600" y="2395728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Corpus de investigación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92640" y="2395728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7A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min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3054096"/>
            <a:ext cx="10972800" cy="603504"/>
          </a:xfrm>
          <a:prstGeom prst="roundRect">
            <a:avLst>
              <a:gd name="adj" fmla="val 13636"/>
            </a:avLst>
          </a:prstGeom>
          <a:solidFill>
            <a:srgbClr val="EDEFF2"/>
          </a:solidFill>
          <a:ln/>
        </p:spPr>
      </p:sp>
      <p:sp>
        <p:nvSpPr>
          <p:cNvPr id="15" name="Shape 13"/>
          <p:cNvSpPr/>
          <p:nvPr/>
        </p:nvSpPr>
        <p:spPr>
          <a:xfrm>
            <a:off x="685800" y="312724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7A1420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127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71600" y="3054096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Construcción del Agente — NotebookLM + Claude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92640" y="3054096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7A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min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3712464"/>
            <a:ext cx="10972800" cy="603504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" y="378561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3294B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785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71600" y="3712464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Interrogación científica del agente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692640" y="3712464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7A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min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48640" y="4370832"/>
            <a:ext cx="10972800" cy="603504"/>
          </a:xfrm>
          <a:prstGeom prst="roundRect">
            <a:avLst>
              <a:gd name="adj" fmla="val 13636"/>
            </a:avLst>
          </a:prstGeom>
          <a:solidFill>
            <a:srgbClr val="EDEFF2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" y="4443984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3294B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4443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371600" y="4370832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Matriz de evidencia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692640" y="4370832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7A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min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48640" y="5029200"/>
            <a:ext cx="10972800" cy="603504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685800" y="510235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3294B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" y="5102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371600" y="5029200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Verificación cruzada y alucinaciones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692640" y="5029200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7A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min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548640" y="5687568"/>
            <a:ext cx="10972800" cy="603504"/>
          </a:xfrm>
          <a:prstGeom prst="roundRect">
            <a:avLst>
              <a:gd name="adj" fmla="val 13636"/>
            </a:avLst>
          </a:prstGeom>
          <a:solidFill>
            <a:srgbClr val="EDEFF2"/>
          </a:solidFill>
          <a:ln/>
        </p:spPr>
      </p:sp>
      <p:sp>
        <p:nvSpPr>
          <p:cNvPr id="35" name="Shape 33"/>
          <p:cNvSpPr/>
          <p:nvPr/>
        </p:nvSpPr>
        <p:spPr>
          <a:xfrm>
            <a:off x="685800" y="57607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3294B"/>
          </a:solidFill>
          <a:ln/>
        </p:spPr>
      </p:sp>
      <p:sp>
        <p:nvSpPr>
          <p:cNvPr id="36" name="Text 34"/>
          <p:cNvSpPr/>
          <p:nvPr/>
        </p:nvSpPr>
        <p:spPr>
          <a:xfrm>
            <a:off x="685800" y="5760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371600" y="5687568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 evaluación final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692640" y="5687568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7A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 1 · Fundamentos de IA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LABORATORIO 1 · 12 MIN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Detective de evidencia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378440" y="420624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EDEFF2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78440" y="420624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min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6766560" cy="4617720"/>
          </a:xfrm>
          <a:prstGeom prst="roundRect">
            <a:avLst>
              <a:gd name="adj" fmla="val 1782"/>
            </a:avLst>
          </a:prstGeom>
          <a:solidFill>
            <a:srgbClr val="EDEFF2"/>
          </a:solidFill>
          <a:ln/>
          <a:effectLst>
            <a:outerShdw sx="100000" sy="100000" kx="0" ky="0" algn="bl" rotWithShape="0" blurRad="76200" dist="25400" dir="5400000">
              <a:srgbClr val="9AA0A6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96596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33172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Distinguir una afirmación con respaldo de una fabricada, verificando DOI, revista y autores.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22960" y="324612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36576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79400" indent="-2794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Recibes 4 afirmaciones con cita (algunas falsas).</a:t>
            </a:r>
            <a:endParaRPr lang="en-US" sz="1400" dirty="0"/>
          </a:p>
          <a:p>
            <a:pPr marL="279400" indent="-2794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Pega cada DOI en doi.org.</a:t>
            </a:r>
            <a:endParaRPr lang="en-US" sz="1400" dirty="0"/>
          </a:p>
          <a:p>
            <a:pPr marL="279400" indent="-2794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 la revista en Scopus/WoS y a los autores.</a:t>
            </a:r>
            <a:endParaRPr lang="en-US" sz="1400" dirty="0"/>
          </a:p>
          <a:p>
            <a:pPr marL="279400" indent="-2794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Clasifica: REAL / DUDOSA / FABRICADA y explica por qué.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498080" y="1783080"/>
            <a:ext cx="4023360" cy="2377440"/>
          </a:xfrm>
          <a:prstGeom prst="roundRect">
            <a:avLst>
              <a:gd name="adj" fmla="val 3462"/>
            </a:avLst>
          </a:prstGeom>
          <a:solidFill>
            <a:srgbClr val="E7F0E9"/>
          </a:solidFill>
          <a:ln/>
          <a:effectLst>
            <a:outerShdw sx="100000" sy="100000" kx="0" ky="0" algn="bl" rotWithShape="0" blurRad="76200" dist="25400" dir="5400000">
              <a:srgbClr val="9AA0A6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72400" y="1965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Entregable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772400" y="2331720"/>
            <a:ext cx="3520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Ficha de veredicto con 4 afirmaciones clasificadas y la señal que las delató.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498080" y="4343400"/>
            <a:ext cx="4023360" cy="2057400"/>
          </a:xfrm>
          <a:prstGeom prst="roundRect">
            <a:avLst>
              <a:gd name="adj" fmla="val 4000"/>
            </a:avLst>
          </a:prstGeom>
          <a:solidFill>
            <a:srgbClr val="F7E4E3"/>
          </a:solidFill>
          <a:ln/>
          <a:effectLst>
            <a:outerShdw sx="100000" sy="100000" kx="0" ky="0" algn="bl" rotWithShape="0" blurRad="76200" dist="25400" dir="5400000">
              <a:srgbClr val="9AA0A6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772400" y="45262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común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772400" y="4892040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Aceptar una cita por su formato perfecto sin resolver el DOI.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 1 · Fundamentos de IA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LABORATORIO 2 · 15 MIN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Corpus de investigación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378440" y="420624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EDEFF2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78440" y="420624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6766560" cy="4617720"/>
          </a:xfrm>
          <a:prstGeom prst="roundRect">
            <a:avLst>
              <a:gd name="adj" fmla="val 1782"/>
            </a:avLst>
          </a:prstGeom>
          <a:solidFill>
            <a:srgbClr val="EDEFF2"/>
          </a:solidFill>
          <a:ln/>
          <a:effectLst>
            <a:outerShdw sx="100000" sy="100000" kx="0" ky="0" algn="bl" rotWithShape="0" blurRad="76200" dist="25400" dir="5400000">
              <a:srgbClr val="9AA0A6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96596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33172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Reunir y depurar 3–10 documentos confiables sobre tu tema de tesis: el 'combustible' del agente.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22960" y="324612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36576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79400" indent="-2794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 tu pregunta/tema de TSP en una frase.</a:t>
            </a:r>
            <a:endParaRPr lang="en-US" sz="1400" dirty="0"/>
          </a:p>
          <a:p>
            <a:pPr marL="279400" indent="-2794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Reúne 3–10 fuentes de la cima de la pirámide (papers, normas, datasets).</a:t>
            </a:r>
            <a:endParaRPr lang="en-US" sz="1400" dirty="0"/>
          </a:p>
          <a:p>
            <a:pPr marL="279400" indent="-2794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 cada DOI y guarda el PDF con nombre claro (Autor_Año).</a:t>
            </a:r>
            <a:endParaRPr lang="en-US" sz="1400" dirty="0"/>
          </a:p>
          <a:p>
            <a:pPr marL="279400" indent="-2794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Regístralas en Zotero o Mendeley.</a:t>
            </a:r>
            <a:endParaRPr lang="en-US" sz="1400" dirty="0"/>
          </a:p>
          <a:p>
            <a:pPr marL="279400" indent="-2794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Descarta lo que no puedas verificar.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498080" y="1783080"/>
            <a:ext cx="4023360" cy="2377440"/>
          </a:xfrm>
          <a:prstGeom prst="roundRect">
            <a:avLst>
              <a:gd name="adj" fmla="val 3462"/>
            </a:avLst>
          </a:prstGeom>
          <a:solidFill>
            <a:srgbClr val="E7F0E9"/>
          </a:solidFill>
          <a:ln/>
          <a:effectLst>
            <a:outerShdw sx="100000" sy="100000" kx="0" ky="0" algn="bl" rotWithShape="0" blurRad="76200" dist="25400" dir="5400000">
              <a:srgbClr val="9AA0A6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72400" y="1965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Entregable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772400" y="2331720"/>
            <a:ext cx="3520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Carpeta con 3–10 PDFs verificados + biblioteca en Zotero/Mendeley con sus DOIs.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498080" y="4343400"/>
            <a:ext cx="4023360" cy="2057400"/>
          </a:xfrm>
          <a:prstGeom prst="roundRect">
            <a:avLst>
              <a:gd name="adj" fmla="val 4000"/>
            </a:avLst>
          </a:prstGeom>
          <a:solidFill>
            <a:srgbClr val="F7E4E3"/>
          </a:solidFill>
          <a:ln/>
          <a:effectLst>
            <a:outerShdw sx="100000" sy="100000" kx="0" ky="0" algn="bl" rotWithShape="0" blurRad="76200" dist="25400" dir="5400000">
              <a:srgbClr val="9AA0A6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772400" y="45262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común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772400" y="4892040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Meter blogs, notas de IA sin fuente o PDFs no verificados: contaminan todo el corpus.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 1 · Fundamentos de IA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LABORATORIO 3 · 25 MIN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Construye tu Agente (NotebookLM + Claude)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378440" y="420624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EDEFF2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78440" y="420624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min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6766560" cy="4617720"/>
          </a:xfrm>
          <a:prstGeom prst="roundRect">
            <a:avLst>
              <a:gd name="adj" fmla="val 1782"/>
            </a:avLst>
          </a:prstGeom>
          <a:solidFill>
            <a:srgbClr val="EDEFF2"/>
          </a:solidFill>
          <a:ln/>
          <a:effectLst>
            <a:outerShdw sx="100000" sy="100000" kx="0" ky="0" algn="bl" rotWithShape="0" blurRad="76200" dist="25400" dir="5400000">
              <a:srgbClr val="9AA0A6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96596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33172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Crear tu Agente de Investigación v1 que responde SOLO con tus fuentes e identifica el documento usado.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22960" y="324612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36576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79400" indent="-2794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NotebookLM: crea un cuaderno y sube tu corpus (RAG con citas).</a:t>
            </a:r>
            <a:endParaRPr lang="en-US" sz="1400" dirty="0"/>
          </a:p>
          <a:p>
            <a:pPr marL="279400" indent="-2794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Claude: crea un Proyecto y sube los mismos documentos.</a:t>
            </a:r>
            <a:endParaRPr lang="en-US" sz="1400" dirty="0"/>
          </a:p>
          <a:p>
            <a:pPr marL="279400" indent="-2794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Pega las Instrucciones del Agente (ver hoja de laboratorio).</a:t>
            </a:r>
            <a:endParaRPr lang="en-US" sz="1400" dirty="0"/>
          </a:p>
          <a:p>
            <a:pPr marL="279400" indent="-2794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Haz una pregunta de prueba y exige la cita del documento.</a:t>
            </a:r>
            <a:endParaRPr lang="en-US" sz="1400" dirty="0"/>
          </a:p>
          <a:p>
            <a:pPr marL="279400" indent="-2794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Guarda el nombre y la configuración de tu agente.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498080" y="1783080"/>
            <a:ext cx="4023360" cy="2377440"/>
          </a:xfrm>
          <a:prstGeom prst="roundRect">
            <a:avLst>
              <a:gd name="adj" fmla="val 3462"/>
            </a:avLst>
          </a:prstGeom>
          <a:solidFill>
            <a:srgbClr val="E7F0E9"/>
          </a:solidFill>
          <a:ln/>
          <a:effectLst>
            <a:outerShdw sx="100000" sy="100000" kx="0" ky="0" algn="bl" rotWithShape="0" blurRad="76200" dist="25400" dir="5400000">
              <a:srgbClr val="9AA0A6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72400" y="1965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Entregable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772400" y="2331720"/>
            <a:ext cx="3520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 configurado en ambas plataformas + captura de una respuesta con su fuente citada.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498080" y="4343400"/>
            <a:ext cx="4023360" cy="2057400"/>
          </a:xfrm>
          <a:prstGeom prst="roundRect">
            <a:avLst>
              <a:gd name="adj" fmla="val 4000"/>
            </a:avLst>
          </a:prstGeom>
          <a:solidFill>
            <a:srgbClr val="F7E4E3"/>
          </a:solidFill>
          <a:ln/>
          <a:effectLst>
            <a:outerShdw sx="100000" sy="100000" kx="0" ky="0" algn="bl" rotWithShape="0" blurRad="76200" dist="25400" dir="5400000">
              <a:srgbClr val="9AA0A6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772400" y="45262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común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772400" y="4892040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fijar las reglas del sistema: el agente 'se suelta', responde de memoria e inventa.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 1 · Fundamentos de IA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LABORATORIO 4 · 18 MIN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Interrogación científica del agente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378440" y="420624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EDEFF2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78440" y="420624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min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6766560" cy="4617720"/>
          </a:xfrm>
          <a:prstGeom prst="roundRect">
            <a:avLst>
              <a:gd name="adj" fmla="val 1782"/>
            </a:avLst>
          </a:prstGeom>
          <a:solidFill>
            <a:srgbClr val="EDEFF2"/>
          </a:solidFill>
          <a:ln/>
          <a:effectLst>
            <a:outerShdw sx="100000" sy="100000" kx="0" ky="0" algn="bl" rotWithShape="0" blurRad="76200" dist="25400" dir="5400000">
              <a:srgbClr val="9AA0A6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96596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33172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Consultar tu corpus con preguntas de investigación y obligar al agente a distinguir evidencia, interpretación y vacío.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22960" y="324612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36576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79400" indent="-2794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Haz 5 preguntas reales de tu TSP al agente.</a:t>
            </a:r>
            <a:endParaRPr lang="en-US" sz="1400" dirty="0"/>
          </a:p>
          <a:p>
            <a:pPr marL="279400" indent="-2794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Exige: respuesta + documento + cita textual.</a:t>
            </a:r>
            <a:endParaRPr lang="en-US" sz="1400" dirty="0"/>
          </a:p>
          <a:p>
            <a:pPr marL="279400" indent="-2794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Pide que marque 'EVIDENCIA', 'INTERPRETACIÓN' o 'NO ENCONTRADO'.</a:t>
            </a:r>
            <a:endParaRPr lang="en-US" sz="1400" dirty="0"/>
          </a:p>
          <a:p>
            <a:pPr marL="279400" indent="-2794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Pide comparar 2 documentos y detectar coincidencias/contradicciones.</a:t>
            </a:r>
            <a:endParaRPr lang="en-US" sz="1400" dirty="0"/>
          </a:p>
          <a:p>
            <a:pPr marL="279400" indent="-2794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Pide 3 preguntas de investigación y vacíos detectados.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498080" y="1783080"/>
            <a:ext cx="4023360" cy="2377440"/>
          </a:xfrm>
          <a:prstGeom prst="roundRect">
            <a:avLst>
              <a:gd name="adj" fmla="val 3462"/>
            </a:avLst>
          </a:prstGeom>
          <a:solidFill>
            <a:srgbClr val="E7F0E9"/>
          </a:solidFill>
          <a:ln/>
          <a:effectLst>
            <a:outerShdw sx="100000" sy="100000" kx="0" ky="0" algn="bl" rotWithShape="0" blurRad="76200" dist="25400" dir="5400000">
              <a:srgbClr val="9AA0A6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72400" y="1965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Entregable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772400" y="2331720"/>
            <a:ext cx="3520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de 5 respuestas etiquetadas + lista de coincidencias, contradicciones y vacíos.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498080" y="4343400"/>
            <a:ext cx="4023360" cy="2057400"/>
          </a:xfrm>
          <a:prstGeom prst="roundRect">
            <a:avLst>
              <a:gd name="adj" fmla="val 4000"/>
            </a:avLst>
          </a:prstGeom>
          <a:solidFill>
            <a:srgbClr val="F7E4E3"/>
          </a:solidFill>
          <a:ln/>
          <a:effectLst>
            <a:outerShdw sx="100000" sy="100000" kx="0" ky="0" algn="bl" rotWithShape="0" blurRad="76200" dist="25400" dir="5400000">
              <a:srgbClr val="9AA0A6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772400" y="45262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común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772400" y="4892040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Conformarse con respuestas sin fuente; no exigir la cita textual del documento.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 1 · Fundamentos de IA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LABORATORIO 5 · 15 MIN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Matriz de evidencia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378440" y="420624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EDEFF2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78440" y="420624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6766560" cy="4617720"/>
          </a:xfrm>
          <a:prstGeom prst="roundRect">
            <a:avLst>
              <a:gd name="adj" fmla="val 1782"/>
            </a:avLst>
          </a:prstGeom>
          <a:solidFill>
            <a:srgbClr val="EDEFF2"/>
          </a:solidFill>
          <a:ln/>
          <a:effectLst>
            <a:outerShdw sx="100000" sy="100000" kx="0" ky="0" algn="bl" rotWithShape="0" blurRad="76200" dist="25400" dir="5400000">
              <a:srgbClr val="9AA0A6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96596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33172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Convertir las respuestas del agente en una matriz de antecedentes lista para el Capítulo I y II del TSP.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22960" y="324612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36576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79400" indent="-2794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la plantilla de matriz (hoja de laboratorio / hoja de cálculo).</a:t>
            </a:r>
            <a:endParaRPr lang="en-US" sz="1400" dirty="0"/>
          </a:p>
          <a:p>
            <a:pPr marL="279400" indent="-2794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fila: Documento · Hallazgo · Cita/pág · Método · EVIDENCIA/INFERENCIA.</a:t>
            </a:r>
            <a:endParaRPr lang="en-US" sz="1400" dirty="0"/>
          </a:p>
          <a:p>
            <a:pPr marL="279400" indent="-2794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Pide al agente que llene un borrador; TÚ verificas cada celda.</a:t>
            </a:r>
            <a:endParaRPr lang="en-US" sz="1400" dirty="0"/>
          </a:p>
          <a:p>
            <a:pPr marL="279400" indent="-2794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Marca en color lo que aún no tiene fuente.</a:t>
            </a:r>
            <a:endParaRPr lang="en-US" sz="1400" dirty="0"/>
          </a:p>
          <a:p>
            <a:pPr marL="279400" indent="-2794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Añade una columna 'vacío / pregunta abierta'.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498080" y="1783080"/>
            <a:ext cx="4023360" cy="2377440"/>
          </a:xfrm>
          <a:prstGeom prst="roundRect">
            <a:avLst>
              <a:gd name="adj" fmla="val 3462"/>
            </a:avLst>
          </a:prstGeom>
          <a:solidFill>
            <a:srgbClr val="E7F0E9"/>
          </a:solidFill>
          <a:ln/>
          <a:effectLst>
            <a:outerShdw sx="100000" sy="100000" kx="0" ky="0" algn="bl" rotWithShape="0" blurRad="76200" dist="25400" dir="5400000">
              <a:srgbClr val="9AA0A6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72400" y="1965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Entregable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772400" y="2331720"/>
            <a:ext cx="3520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Matriz de evidencia con 5+ filas verificadas y fuentes identificadas.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498080" y="4343400"/>
            <a:ext cx="4023360" cy="2057400"/>
          </a:xfrm>
          <a:prstGeom prst="roundRect">
            <a:avLst>
              <a:gd name="adj" fmla="val 4000"/>
            </a:avLst>
          </a:prstGeom>
          <a:solidFill>
            <a:srgbClr val="F7E4E3"/>
          </a:solidFill>
          <a:ln/>
          <a:effectLst>
            <a:outerShdw sx="100000" sy="100000" kx="0" ky="0" algn="bl" rotWithShape="0" blurRad="76200" dist="25400" dir="5400000">
              <a:srgbClr val="9AA0A6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772400" y="45262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común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772400" y="4892040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Copiar la tabla del agente sin verificar: puede mezclar evidencia con inferencia.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 1 · Fundamentos de IA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LABORATORIO 6 · 13 MIN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Verificación cruzada y alucinaciones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378440" y="420624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EDEFF2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78440" y="420624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min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6766560" cy="4617720"/>
          </a:xfrm>
          <a:prstGeom prst="roundRect">
            <a:avLst>
              <a:gd name="adj" fmla="val 1782"/>
            </a:avLst>
          </a:prstGeom>
          <a:solidFill>
            <a:srgbClr val="EDEFF2"/>
          </a:solidFill>
          <a:ln/>
          <a:effectLst>
            <a:outerShdw sx="100000" sy="100000" kx="0" ky="0" algn="bl" rotWithShape="0" blurRad="76200" dist="25400" dir="5400000">
              <a:srgbClr val="9AA0A6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96596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33172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Auditar tu propio agente: cazar afirmaciones sin respaldo y forzar el 'no tengo evidencia suficiente'.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22960" y="324612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36576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79400" indent="-2794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Pide al agente un dato que NO esté en tu corpus.</a:t>
            </a:r>
            <a:endParaRPr lang="en-US" sz="1400" dirty="0"/>
          </a:p>
          <a:p>
            <a:pPr marL="279400" indent="-2794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 si lo inventa o si responde 'no encontrado'.</a:t>
            </a:r>
            <a:endParaRPr lang="en-US" sz="1400" dirty="0"/>
          </a:p>
          <a:p>
            <a:pPr marL="279400" indent="-2794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Cruza una afirmación contra el documento original (cita textual).</a:t>
            </a:r>
            <a:endParaRPr lang="en-US" sz="1400" dirty="0"/>
          </a:p>
          <a:p>
            <a:pPr marL="279400" indent="-2794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Corrige las instrucciones para que nunca invente referencias.</a:t>
            </a:r>
            <a:endParaRPr lang="en-US" sz="1400" dirty="0"/>
          </a:p>
          <a:p>
            <a:pPr marL="279400" indent="-2794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 1 alucinación detectada y cómo la frenaste.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498080" y="1783080"/>
            <a:ext cx="4023360" cy="2377440"/>
          </a:xfrm>
          <a:prstGeom prst="roundRect">
            <a:avLst>
              <a:gd name="adj" fmla="val 3462"/>
            </a:avLst>
          </a:prstGeom>
          <a:solidFill>
            <a:srgbClr val="E7F0E9"/>
          </a:solidFill>
          <a:ln/>
          <a:effectLst>
            <a:outerShdw sx="100000" sy="100000" kx="0" ky="0" algn="bl" rotWithShape="0" blurRad="76200" dist="25400" dir="5400000">
              <a:srgbClr val="9AA0A6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72400" y="1965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Entregable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772400" y="2331720"/>
            <a:ext cx="3520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 breve: 1 intento de alucinación, evidencia del cruce y la regla que la evitó.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498080" y="4343400"/>
            <a:ext cx="4023360" cy="2057400"/>
          </a:xfrm>
          <a:prstGeom prst="roundRect">
            <a:avLst>
              <a:gd name="adj" fmla="val 4000"/>
            </a:avLst>
          </a:prstGeom>
          <a:solidFill>
            <a:srgbClr val="F7E4E3"/>
          </a:solidFill>
          <a:ln/>
          <a:effectLst>
            <a:outerShdw sx="100000" sy="100000" kx="0" ky="0" algn="bl" rotWithShape="0" blurRad="76200" dist="25400" dir="5400000">
              <a:srgbClr val="9AA0A6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772400" y="45262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común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772400" y="4892040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Creer que el agente 'ya no alucina': siempre hay que auditar con datos fuera del corpus.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 1 · Fundamentos de IA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LABORATORIO 7 · 10 MIN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 evaluación final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378440" y="420624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EDEFF2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78440" y="420624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6766560" cy="4617720"/>
          </a:xfrm>
          <a:prstGeom prst="roundRect">
            <a:avLst>
              <a:gd name="adj" fmla="val 1782"/>
            </a:avLst>
          </a:prstGeom>
          <a:solidFill>
            <a:srgbClr val="EDEFF2"/>
          </a:solidFill>
          <a:ln/>
          <a:effectLst>
            <a:outerShdw sx="100000" sy="100000" kx="0" ky="0" algn="bl" rotWithShape="0" blurRad="76200" dist="25400" dir="5400000">
              <a:srgbClr val="9AA0A6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96596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33172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Demostrar dominio: explicar qué es evidencia, qué infirió la IA y por qué tu agente es confiable.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22960" y="324612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36576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79400" indent="-2794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5 preguntas rápidas (ver rúbrica).</a:t>
            </a:r>
            <a:endParaRPr lang="en-US" sz="1400" dirty="0"/>
          </a:p>
          <a:p>
            <a:pPr marL="279400" indent="-2794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Muestra una respuesta de tu agente con su fuente.</a:t>
            </a:r>
            <a:endParaRPr lang="en-US" sz="1400" dirty="0"/>
          </a:p>
          <a:p>
            <a:pPr marL="279400" indent="-2794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Señala en tu matriz una celda de evidencia y una de inferencia.</a:t>
            </a:r>
            <a:endParaRPr lang="en-US" sz="1400" dirty="0"/>
          </a:p>
          <a:p>
            <a:pPr marL="279400" indent="-2794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Explica en 2 líneas: '¿por qué mi agente no inventa?'.</a:t>
            </a:r>
            <a:endParaRPr lang="en-US" sz="1400" dirty="0"/>
          </a:p>
          <a:p>
            <a:pPr marL="279400" indent="-2794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 tus evidencias del laboratorio.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498080" y="1783080"/>
            <a:ext cx="4023360" cy="2377440"/>
          </a:xfrm>
          <a:prstGeom prst="roundRect">
            <a:avLst>
              <a:gd name="adj" fmla="val 3462"/>
            </a:avLst>
          </a:prstGeom>
          <a:solidFill>
            <a:srgbClr val="E7F0E9"/>
          </a:solidFill>
          <a:ln/>
          <a:effectLst>
            <a:outerShdw sx="100000" sy="100000" kx="0" ky="0" algn="bl" rotWithShape="0" blurRad="76200" dist="25400" dir="5400000">
              <a:srgbClr val="9AA0A6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72400" y="1965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Entregable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772400" y="2331720"/>
            <a:ext cx="3520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Autoevaluación + entrega del paquete (agente, matriz, reportes de verificación).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498080" y="4343400"/>
            <a:ext cx="4023360" cy="2057400"/>
          </a:xfrm>
          <a:prstGeom prst="roundRect">
            <a:avLst>
              <a:gd name="adj" fmla="val 4000"/>
            </a:avLst>
          </a:prstGeom>
          <a:solidFill>
            <a:srgbClr val="F7E4E3"/>
          </a:solidFill>
          <a:ln/>
          <a:effectLst>
            <a:outerShdw sx="100000" sy="100000" kx="0" ky="0" algn="bl" rotWithShape="0" blurRad="76200" dist="25400" dir="5400000">
              <a:srgbClr val="9AA0A6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772400" y="45262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común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772400" y="4892040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Presentar la matriz sin poder señalar qué fue fuente y qué fue inferencia.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 1 · Fundamentos de IA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7A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989320"/>
            <a:ext cx="12188952" cy="868680"/>
          </a:xfrm>
          <a:prstGeom prst="rect">
            <a:avLst/>
          </a:prstGeom>
          <a:solidFill>
            <a:srgbClr val="13294B"/>
          </a:solidFill>
          <a:ln/>
        </p:spPr>
      </p:sp>
      <p:pic>
        <p:nvPicPr>
          <p:cNvPr id="3" name="Image 0" descr="img/uni_f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457200"/>
            <a:ext cx="1371600" cy="1737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371600"/>
            <a:ext cx="9326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“Hoy avancé realmente mi investigación.”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658368" y="2926080"/>
            <a:ext cx="8961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3D6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 llevas: tu Agente de Investigación v1, tu corpus verificado y tu matriz de evidencia — insumos directos para tu TSP.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658368" y="4114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0C9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IA genera respuestas.  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investigación exige evidencia.</a:t>
            </a:r>
            <a:endParaRPr lang="en-US" sz="2000" dirty="0"/>
          </a:p>
        </p:txBody>
      </p:sp>
      <p:pic>
        <p:nvPicPr>
          <p:cNvPr id="7" name="Image 1" descr="img/qr_linked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4800600"/>
            <a:ext cx="1051560" cy="10515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874520" y="484632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Corina Lazo Arroyo
</a:t>
            </a:r>
            <a:pPr indent="0" marL="0">
              <a:buNone/>
            </a:pPr>
            <a:r>
              <a:rPr lang="en-US" sz="1400" dirty="0">
                <a:solidFill>
                  <a:srgbClr val="F3D6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linkedin.com/in/corina-lazo-arroyo
</a:t>
            </a:r>
            <a:pPr indent="0" marL="0">
              <a:buNone/>
            </a:pPr>
            <a:r>
              <a:rPr lang="en-US" sz="1400" dirty="0">
                <a:solidFill>
                  <a:srgbClr val="F3D6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github.com/920052859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58368" y="614476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¡Gracias! Conéctate conmigo — escanea el QR.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2026-08-19T02:28:35Z</dcterms:created>
  <dcterms:modified xsi:type="dcterms:W3CDTF">2026-08-19T02:28:35Z</dcterms:modified>
</cp:coreProperties>
</file>